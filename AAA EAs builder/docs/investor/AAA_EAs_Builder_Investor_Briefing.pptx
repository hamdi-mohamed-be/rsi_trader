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addad33f244f85" /><Relationship Type="http://schemas.openxmlformats.org/officeDocument/2006/relationships/extended-properties" Target="/docProps/app.xml" Id="Rfae6ae729edd4836" /><Relationship Type="http://schemas.openxmlformats.org/officeDocument/2006/relationships/officeDocument" Target="/ppt/presentation.xml" Id="Rbf009aa7b1cc4ddb" /></Relationships>
</file>

<file path=ppt/presentation.xml><?xml version="1.0" encoding="utf-8"?>
<p:presentation xmlns:p="http://schemas.openxmlformats.org/presentationml/2006/main">
  <p:sldMasterIdLst>
    <p:sldMasterId xmlns:r="http://schemas.openxmlformats.org/officeDocument/2006/relationships" id="2147483648" r:id="R1326d767b1de4f98"/>
  </p:sldMasterIdLst>
  <p:notesMasterIdLst>
    <p:notesMasterId xmlns:r="http://schemas.openxmlformats.org/officeDocument/2006/relationships" r:id="R9cf91fbfbf564268"/>
  </p:notesMasterIdLst>
  <p:sldIdLst>
    <p:sldId xmlns:r="http://schemas.openxmlformats.org/officeDocument/2006/relationships" id="256" r:id="R629a5bf3209f4cbd"/>
    <p:sldId xmlns:r="http://schemas.openxmlformats.org/officeDocument/2006/relationships" id="257" r:id="Rd0c0191ced114a34"/>
    <p:sldId xmlns:r="http://schemas.openxmlformats.org/officeDocument/2006/relationships" id="258" r:id="R71ad8fe5a4d84129"/>
    <p:sldId xmlns:r="http://schemas.openxmlformats.org/officeDocument/2006/relationships" id="259" r:id="R3235edb1ade34fb2"/>
    <p:sldId xmlns:r="http://schemas.openxmlformats.org/officeDocument/2006/relationships" id="260" r:id="R3ef395b5390a4887"/>
    <p:sldId xmlns:r="http://schemas.openxmlformats.org/officeDocument/2006/relationships" id="261" r:id="R89e9d6880b774e89"/>
    <p:sldId xmlns:r="http://schemas.openxmlformats.org/officeDocument/2006/relationships" id="262" r:id="R2914230d25ee47fa"/>
    <p:sldId xmlns:r="http://schemas.openxmlformats.org/officeDocument/2006/relationships" id="263" r:id="R4be09b462ca347a5"/>
    <p:sldId xmlns:r="http://schemas.openxmlformats.org/officeDocument/2006/relationships" id="264" r:id="Raea051273da44f17"/>
    <p:sldId xmlns:r="http://schemas.openxmlformats.org/officeDocument/2006/relationships" id="265" r:id="R4e41b48ba0074907"/>
    <p:sldId xmlns:r="http://schemas.openxmlformats.org/officeDocument/2006/relationships" id="266" r:id="R9bf4fbb15e484992"/>
    <p:sldId xmlns:r="http://schemas.openxmlformats.org/officeDocument/2006/relationships" id="267" r:id="R8bf2271773394e3d"/>
    <p:sldId xmlns:r="http://schemas.openxmlformats.org/officeDocument/2006/relationships" id="268" r:id="R882288a836ff4b99"/>
    <p:sldId xmlns:r="http://schemas.openxmlformats.org/officeDocument/2006/relationships" id="269" r:id="R65196c9f609145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ba3ea9295e4795" /><Relationship Type="http://schemas.openxmlformats.org/officeDocument/2006/relationships/slideMaster" Target="/ppt/slideMasters/slideMaster1.xml" Id="R1326d767b1de4f98" /><Relationship Type="http://schemas.openxmlformats.org/officeDocument/2006/relationships/notesMaster" Target="/ppt/notesMasters/notesMaster1.xml" Id="R9cf91fbfbf564268" /><Relationship Type="http://schemas.openxmlformats.org/officeDocument/2006/relationships/presProps" Target="/ppt/presProps.xml" Id="R1660e67c18aa4ab9" /><Relationship Type="http://schemas.openxmlformats.org/officeDocument/2006/relationships/tableStyles" Target="/ppt/tableStyles.xml" Id="Rb8f1747f01b54d96" /><Relationship Type="http://schemas.openxmlformats.org/officeDocument/2006/relationships/slide" Target="/ppt/slides/slide1.xml" Id="R629a5bf3209f4cbd" /><Relationship Type="http://schemas.openxmlformats.org/officeDocument/2006/relationships/slide" Target="/ppt/slides/slide2.xml" Id="Rd0c0191ced114a34" /><Relationship Type="http://schemas.openxmlformats.org/officeDocument/2006/relationships/slide" Target="/ppt/slides/slide3.xml" Id="R71ad8fe5a4d84129" /><Relationship Type="http://schemas.openxmlformats.org/officeDocument/2006/relationships/slide" Target="/ppt/slides/slide4.xml" Id="R3235edb1ade34fb2" /><Relationship Type="http://schemas.openxmlformats.org/officeDocument/2006/relationships/slide" Target="/ppt/slides/slide5.xml" Id="R3ef395b5390a4887" /><Relationship Type="http://schemas.openxmlformats.org/officeDocument/2006/relationships/slide" Target="/ppt/slides/slide6.xml" Id="R89e9d6880b774e89" /><Relationship Type="http://schemas.openxmlformats.org/officeDocument/2006/relationships/slide" Target="/ppt/slides/slide7.xml" Id="R2914230d25ee47fa" /><Relationship Type="http://schemas.openxmlformats.org/officeDocument/2006/relationships/slide" Target="/ppt/slides/slide8.xml" Id="R4be09b462ca347a5" /><Relationship Type="http://schemas.openxmlformats.org/officeDocument/2006/relationships/slide" Target="/ppt/slides/slide9.xml" Id="Raea051273da44f17" /><Relationship Type="http://schemas.openxmlformats.org/officeDocument/2006/relationships/slide" Target="/ppt/slides/slide10.xml" Id="R4e41b48ba0074907" /><Relationship Type="http://schemas.openxmlformats.org/officeDocument/2006/relationships/slide" Target="/ppt/slides/slide11.xml" Id="R9bf4fbb15e484992" /><Relationship Type="http://schemas.openxmlformats.org/officeDocument/2006/relationships/slide" Target="/ppt/slides/slide12.xml" Id="R8bf2271773394e3d" /><Relationship Type="http://schemas.openxmlformats.org/officeDocument/2006/relationships/slide" Target="/ppt/slides/slide13.xml" Id="R882288a836ff4b99" /><Relationship Type="http://schemas.openxmlformats.org/officeDocument/2006/relationships/slide" Target="/ppt/slides/slide14.xml" Id="R65196c9f609145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416ad6557346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286422124643f9" /><Relationship Type="http://schemas.openxmlformats.org/officeDocument/2006/relationships/notesMaster" Target="/ppt/notesMasters/notesMaster1.xml" Id="R1fb2007128134d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3db7af65854571" /><Relationship Type="http://schemas.openxmlformats.org/officeDocument/2006/relationships/notesMaster" Target="/ppt/notesMasters/notesMaster1.xml" Id="Rb9ba04b3a4d04f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e006930a2843d5" /><Relationship Type="http://schemas.openxmlformats.org/officeDocument/2006/relationships/notesMaster" Target="/ppt/notesMasters/notesMaster1.xml" Id="Re0e779c0fb3e4c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41704aa3604271" /><Relationship Type="http://schemas.openxmlformats.org/officeDocument/2006/relationships/notesMaster" Target="/ppt/notesMasters/notesMaster1.xml" Id="Rd61c971ea3d747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da2e9f83e945e1" /><Relationship Type="http://schemas.openxmlformats.org/officeDocument/2006/relationships/notesMaster" Target="/ppt/notesMasters/notesMaster1.xml" Id="R15dd1aff3d9a42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220f66eb434a4f" /><Relationship Type="http://schemas.openxmlformats.org/officeDocument/2006/relationships/notesMaster" Target="/ppt/notesMasters/notesMaster1.xml" Id="R08d42809fffb42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2fbd3b5dfe41d7" /><Relationship Type="http://schemas.openxmlformats.org/officeDocument/2006/relationships/notesMaster" Target="/ppt/notesMasters/notesMaster1.xml" Id="R4e2f9b0f635046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03971771bf4535" /><Relationship Type="http://schemas.openxmlformats.org/officeDocument/2006/relationships/notesMaster" Target="/ppt/notesMasters/notesMaster1.xml" Id="R18c5fa28a3dd4c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2d42a95f5845f1" /><Relationship Type="http://schemas.openxmlformats.org/officeDocument/2006/relationships/notesMaster" Target="/ppt/notesMasters/notesMaster1.xml" Id="R91063bf7125e43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f2ddec93b04dee" /><Relationship Type="http://schemas.openxmlformats.org/officeDocument/2006/relationships/notesMaster" Target="/ppt/notesMasters/notesMaster1.xml" Id="Re607bdeab8d44e8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149c74084d4052" /><Relationship Type="http://schemas.openxmlformats.org/officeDocument/2006/relationships/notesMaster" Target="/ppt/notesMasters/notesMaster1.xml" Id="R7bfa756f238043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636ed99fde44661" /><Relationship Type="http://schemas.openxmlformats.org/officeDocument/2006/relationships/notesMaster" Target="/ppt/notesMasters/notesMaster1.xml" Id="R8d6961afe10c446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1e81c8a8524606" /><Relationship Type="http://schemas.openxmlformats.org/officeDocument/2006/relationships/notesMaster" Target="/ppt/notesMasters/notesMaster1.xml" Id="Re8e2693f385445e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17f0a8fe3f49d0" /><Relationship Type="http://schemas.openxmlformats.org/officeDocument/2006/relationships/notesMaster" Target="/ppt/notesMasters/notesMaster1.xml" Id="Rd637104c113147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core proposition: this is not a generic chatbot. It is a governed product workflow for turning trading logic into inspectable software and, later, distributing validated products.</a:t>
            </a:r>
          </a:p>
          <a:p xmlns:a="http://schemas.openxmlformats.org/drawingml/2006/main">
            <a:r>
              <a:t/>
            </a:r>
          </a:p>
          <a:p xmlns:a="http://schemas.openxmlformats.org/drawingml/2006/main">
            <a:r>
              <a:t>[Sources]</a:t>
            </a:r>
          </a:p>
          <a:p xmlns:a="http://schemas.openxmlformats.org/drawingml/2006/main">
            <a:r>
              <a:t>- Internal: current local homepage capture</a:t>
            </a:r>
          </a:p>
          <a:p xmlns:a="http://schemas.openxmlformats.org/drawingml/2006/main">
            <a:r>
              <a:t>- Internal: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as a workflow and trust gap rather than simply a lack of code generation. The product serves traders, independent developers, and marketplace operators.</a:t>
            </a:r>
          </a:p>
          <a:p xmlns:a="http://schemas.openxmlformats.org/drawingml/2006/main">
            <a:r>
              <a:t/>
            </a:r>
          </a:p>
          <a:p xmlns:a="http://schemas.openxmlformats.org/drawingml/2006/main">
            <a:r>
              <a:t>[Sources]</a:t>
            </a:r>
          </a:p>
          <a:p xmlns:a="http://schemas.openxmlformats.org/drawingml/2006/main">
            <a:r>
              <a:t>- Internal: PROJECT_PLAN.md sections 1, 3, 4, and 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investors through the full customer loop. Distribution includes protected source downloads today and an evidence-first catalog; payments and entitlements are the next commerce milestone.</a:t>
            </a:r>
          </a:p>
          <a:p xmlns:a="http://schemas.openxmlformats.org/drawingml/2006/main">
            <a:r>
              <a:t/>
            </a:r>
          </a:p>
          <a:p xmlns:a="http://schemas.openxmlformats.org/drawingml/2006/main">
            <a:r>
              <a:t>[Sources]</a:t>
            </a:r>
          </a:p>
          <a:p xmlns:a="http://schemas.openxmlformats.org/drawingml/2006/main">
            <a:r>
              <a:t>- Internal: README.md</a:t>
            </a:r>
          </a:p>
          <a:p xmlns:a="http://schemas.openxmlformats.org/drawingml/2006/main">
            <a:r>
              <a:t>- Internal: PROJECT_PLAN.md sections 2, 4, and 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is from the current running application. Emphasize that the visual system and customer navigation are already integrated with the backend workflows.</a:t>
            </a:r>
          </a:p>
          <a:p xmlns:a="http://schemas.openxmlformats.org/drawingml/2006/main">
            <a:r>
              <a:t/>
            </a:r>
          </a:p>
          <a:p xmlns:a="http://schemas.openxmlformats.org/drawingml/2006/main">
            <a:r>
              <a:t>[Sources]</a:t>
            </a:r>
          </a:p>
          <a:p xmlns:a="http://schemas.openxmlformats.org/drawingml/2006/main">
            <a:r>
              <a:t>- Internal: live local homepage capture</a:t>
            </a:r>
          </a:p>
          <a:p xmlns:a="http://schemas.openxmlformats.org/drawingml/2006/main">
            <a:r>
              <a:t>- Internal: templates/core/home.html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published generation graph contains four specialist agents: architect, generator, reviewer, and repairer. Deterministic code performs schema and safety checks. This makes the workflow easier to govern than an open-ended agent swarm.</a:t>
            </a:r>
          </a:p>
          <a:p xmlns:a="http://schemas.openxmlformats.org/drawingml/2006/main">
            <a:r>
              <a:t/>
            </a:r>
          </a:p>
          <a:p xmlns:a="http://schemas.openxmlformats.org/drawingml/2006/main">
            <a:r>
              <a:t>[Sources]</a:t>
            </a:r>
          </a:p>
          <a:p xmlns:a="http://schemas.openxmlformats.org/drawingml/2006/main">
            <a:r>
              <a:t>- Internal: apps/ai_config/services/default_workflow.py</a:t>
            </a:r>
          </a:p>
          <a:p xmlns:a="http://schemas.openxmlformats.org/drawingml/2006/main">
            <a:r>
              <a:t>- Internal: apps/builder/services/runtime.py</a:t>
            </a:r>
          </a:p>
          <a:p xmlns:a="http://schemas.openxmlformats.org/drawingml/2006/main">
            <a:r>
              <a:t>- Internal: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 project-aware copilot is the key continuity feature. It can explain failures, answer questions, and propose full corrected source. It never silently overwrites code: application is explicit and creates a new version that is revalidated.</a:t>
            </a:r>
          </a:p>
          <a:p xmlns:a="http://schemas.openxmlformats.org/drawingml/2006/main">
            <a:r>
              <a:t/>
            </a:r>
          </a:p>
          <a:p xmlns:a="http://schemas.openxmlformats.org/drawingml/2006/main">
            <a:r>
              <a:t>[Sources]</a:t>
            </a:r>
          </a:p>
          <a:p xmlns:a="http://schemas.openxmlformats.org/drawingml/2006/main">
            <a:r>
              <a:t>- Internal: apps/builder/services/chat.py</a:t>
            </a:r>
          </a:p>
          <a:p xmlns:a="http://schemas.openxmlformats.org/drawingml/2006/main">
            <a:r>
              <a:t>- Internal: apps/builder/services/revisions.py</a:t>
            </a:r>
          </a:p>
          <a:p xmlns:a="http://schemas.openxmlformats.org/drawingml/2006/main">
            <a:r>
              <a:t>- Internal: templates/builder/partials/generation_chat.html</a:t>
            </a:r>
          </a:p>
          <a:p xmlns:a="http://schemas.openxmlformats.org/drawingml/2006/main">
            <a:r>
              <a:t>- Internal: docs/design/mockups/builder-workspace-v1.png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Investors should understand that trust comes from explicit evidence levels. MQL5 compilation is available only when a dedicated Windows worker is configured. Automated Pine compilation and full backtesting are not claimed in the current MVP.</a:t>
            </a:r>
          </a:p>
          <a:p xmlns:a="http://schemas.openxmlformats.org/drawingml/2006/main">
            <a:r>
              <a:t/>
            </a:r>
          </a:p>
          <a:p xmlns:a="http://schemas.openxmlformats.org/drawingml/2006/main">
            <a:r>
              <a:t>[Sources]</a:t>
            </a:r>
          </a:p>
          <a:p xmlns:a="http://schemas.openxmlformats.org/drawingml/2006/main">
            <a:r>
              <a:t>- Internal: README.md Optional MQL5 compiler</a:t>
            </a:r>
          </a:p>
          <a:p xmlns:a="http://schemas.openxmlformats.org/drawingml/2006/main">
            <a:r>
              <a:t>- Internal: PROJECT_PLAN.md validation levels and safety boundaries</a:t>
            </a:r>
          </a:p>
          <a:p xmlns:a="http://schemas.openxmlformats.org/drawingml/2006/main">
            <a:r>
              <a:t>- Internal: apps/builder/services/compiler.py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catalog and product evidence experience are implemented. The screenshot uses explicitly fictional demo data. Checkout, orders, entitlements, and license delivery are intentionally deferred to the next milestone.</a:t>
            </a:r>
          </a:p>
          <a:p xmlns:a="http://schemas.openxmlformats.org/drawingml/2006/main">
            <a:r>
              <a:t/>
            </a:r>
          </a:p>
          <a:p xmlns:a="http://schemas.openxmlformats.org/drawingml/2006/main">
            <a:r>
              <a:t>[Sources]</a:t>
            </a:r>
          </a:p>
          <a:p xmlns:a="http://schemas.openxmlformats.org/drawingml/2006/main">
            <a:r>
              <a:t>- Internal: live local marketplace product capture</a:t>
            </a:r>
          </a:p>
          <a:p xmlns:a="http://schemas.openxmlformats.org/drawingml/2006/main">
            <a:r>
              <a:t>- Internal: apps/marketplace/models.py</a:t>
            </a:r>
          </a:p>
          <a:p xmlns:a="http://schemas.openxmlformats.org/drawingml/2006/main">
            <a:r>
              <a:t>- Internal: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where a small operations team can manage the entire system without a separate internal tool. API credentials are encrypted and write-only after entry. Prompts, agents, and workflows are versioned; active generations retain their pinned snapshot.</a:t>
            </a:r>
          </a:p>
          <a:p xmlns:a="http://schemas.openxmlformats.org/drawingml/2006/main">
            <a:r>
              <a:t/>
            </a:r>
          </a:p>
          <a:p xmlns:a="http://schemas.openxmlformats.org/drawingml/2006/main">
            <a:r>
              <a:t>[Sources]</a:t>
            </a:r>
          </a:p>
          <a:p xmlns:a="http://schemas.openxmlformats.org/drawingml/2006/main">
            <a:r>
              <a:t>- Internal: apps/ai_config/admin.py and models.py</a:t>
            </a:r>
          </a:p>
          <a:p xmlns:a="http://schemas.openxmlformats.org/drawingml/2006/main">
            <a:r>
              <a:t>- Internal: apps/builder/admin.py</a:t>
            </a:r>
          </a:p>
          <a:p xmlns:a="http://schemas.openxmlformats.org/drawingml/2006/main">
            <a:r>
              <a:t>- Internal: apps/marketplace/admin.py</a:t>
            </a:r>
          </a:p>
          <a:p xmlns:a="http://schemas.openxmlformats.org/drawingml/2006/main">
            <a:r>
              <a:t>- Internal: apps/accounts/admin.py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chain of custody is a core data advantage. It enables later evaluation by model, prompt, agent version, diagnostic type, product type, and evidence quality without losing provenance.</a:t>
            </a:r>
          </a:p>
          <a:p xmlns:a="http://schemas.openxmlformats.org/drawingml/2006/main">
            <a:r>
              <a:t/>
            </a:r>
          </a:p>
          <a:p xmlns:a="http://schemas.openxmlformats.org/drawingml/2006/main">
            <a:r>
              <a:t>[Sources]</a:t>
            </a:r>
          </a:p>
          <a:p xmlns:a="http://schemas.openxmlformats.org/drawingml/2006/main">
            <a:r>
              <a:t>- Internal: apps/ai_config/models.py</a:t>
            </a:r>
          </a:p>
          <a:p xmlns:a="http://schemas.openxmlformats.org/drawingml/2006/main">
            <a:r>
              <a:t>- Internal: apps/builder/models.py</a:t>
            </a:r>
          </a:p>
          <a:p xmlns:a="http://schemas.openxmlformats.org/drawingml/2006/main">
            <a:r>
              <a:t>- Internal: apps/marketplace/models.py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intentionally avoids an early split into multiple frontends or microservices. The current app runs locally without Docker and includes a containerized path. Production migration replaces SQLite with PostgreSQL and runs background work through Celery and Redis.</a:t>
            </a:r>
          </a:p>
          <a:p xmlns:a="http://schemas.openxmlformats.org/drawingml/2006/main">
            <a:r>
              <a:t/>
            </a:r>
          </a:p>
          <a:p xmlns:a="http://schemas.openxmlformats.org/drawingml/2006/main">
            <a:r>
              <a:t>[Sources]</a:t>
            </a:r>
          </a:p>
          <a:p xmlns:a="http://schemas.openxmlformats.org/drawingml/2006/main">
            <a:r>
              <a:t>- Internal: README.md</a:t>
            </a:r>
          </a:p>
          <a:p xmlns:a="http://schemas.openxmlformats.org/drawingml/2006/main">
            <a:r>
              <a:t>- Internal: docker-compose.yml</a:t>
            </a:r>
          </a:p>
          <a:p xmlns:a="http://schemas.openxmlformats.org/drawingml/2006/main">
            <a:r>
              <a:t>- Internal: dev.bat</a:t>
            </a:r>
          </a:p>
          <a:p xmlns:a="http://schemas.openxmlformats.org/drawingml/2006/main">
            <a:r>
              <a:t>- Internal: Makefile</a:t>
            </a:r>
          </a:p>
          <a:p xmlns:a="http://schemas.openxmlformats.org/drawingml/2006/main">
            <a:r>
              <a:t>- Internal: config/settings/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these are product and engineering proof points, not revenue or customer traction. The live Gemini test created a full proposal and improved the diagnostic count, but still left one issue for another iteration; this is why the product retains validation and human application steps.</a:t>
            </a:r>
          </a:p>
          <a:p xmlns:a="http://schemas.openxmlformats.org/drawingml/2006/main">
            <a:r>
              <a:t/>
            </a:r>
          </a:p>
          <a:p xmlns:a="http://schemas.openxmlformats.org/drawingml/2006/main">
            <a:r>
              <a:t>[Sources]</a:t>
            </a:r>
          </a:p>
          <a:p xmlns:a="http://schemas.openxmlformats.org/drawingml/2006/main">
            <a:r>
              <a:t>- Internal: automated test suite run on 2026-08-10</a:t>
            </a:r>
          </a:p>
          <a:p xmlns:a="http://schemas.openxmlformats.org/drawingml/2006/main">
            <a:r>
              <a:t>- Internal: live Gemini verification performed on 2026-08-10</a:t>
            </a:r>
          </a:p>
          <a:p xmlns:a="http://schemas.openxmlformats.org/drawingml/2006/main">
            <a:r>
              <a:t>- Internal: current local marketplace capture</a:t>
            </a:r>
          </a:p>
          <a:p xmlns:a="http://schemas.openxmlformats.org/drawingml/2006/main">
            <a:r>
              <a:t>- Internal: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a proposed model to test, not a finalized forecast. The sequencing can begin with subscriptions and usage, then add marketplace transactions once checkout and entitlements are complete.</a:t>
            </a:r>
          </a:p>
          <a:p xmlns:a="http://schemas.openxmlformats.org/drawingml/2006/main">
            <a:r>
              <a:t/>
            </a:r>
          </a:p>
          <a:p xmlns:a="http://schemas.openxmlformats.org/drawingml/2006/main">
            <a:r>
              <a:t>[Sources]</a:t>
            </a:r>
          </a:p>
          <a:p xmlns:a="http://schemas.openxmlformats.org/drawingml/2006/main">
            <a:r>
              <a:t>- Internal: PROJECT_PLAN.md product vision and marketplace scope</a:t>
            </a:r>
          </a:p>
          <a:p xmlns:a="http://schemas.openxmlformats.org/drawingml/2006/main">
            <a:r>
              <a:t>- Internal product strategy assumption; not yet validated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asking for feedback and alignment on the next financing milestone. The specific round size and financial projections should be added only after the founder defines the raise, runway, hiring plan, and customer-validation targets.</a:t>
            </a:r>
          </a:p>
          <a:p xmlns:a="http://schemas.openxmlformats.org/drawingml/2006/main">
            <a:r>
              <a:t/>
            </a:r>
          </a:p>
          <a:p xmlns:a="http://schemas.openxmlformats.org/drawingml/2006/main">
            <a:r>
              <a:t>[Sources]</a:t>
            </a:r>
          </a:p>
          <a:p xmlns:a="http://schemas.openxmlformats.org/drawingml/2006/main">
            <a:r>
              <a:t>- Internal: PROJECT_PLAN.md roadmap and deferred scope</a:t>
            </a:r>
          </a:p>
          <a:p xmlns:a="http://schemas.openxmlformats.org/drawingml/2006/main">
            <a:r>
              <a:t>- Internal: README.md current vs deferred capabilities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9555b8956840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c2a2bd8945419a" /><Relationship Type="http://schemas.openxmlformats.org/officeDocument/2006/relationships/slideLayout" Target="/ppt/slideLayouts/slideLayout1.xml" Id="Rd6fb75ae714149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fb75ae714149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951f460ed648f2" /><Relationship Type="http://schemas.openxmlformats.org/officeDocument/2006/relationships/image" Target="/ppt/media/image.jpeg" Id="R8ad345efe8df4244" /><Relationship Type="http://schemas.openxmlformats.org/officeDocument/2006/relationships/notesSlide" Target="/ppt/notesSlides/notesSlide1.xml" Id="R75e3be69678b44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ffa9093843470b" /><Relationship Type="http://schemas.openxmlformats.org/officeDocument/2006/relationships/notesSlide" Target="/ppt/notesSlides/notesSlide2.xml" Id="R8a22f57778a94c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bbf5d36e5b84607" /><Relationship Type="http://schemas.openxmlformats.org/officeDocument/2006/relationships/notesSlide" Target="/ppt/notesSlides/notesSlide3.xml" Id="R0af03e631c1e40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738e33b892463a" /><Relationship Type="http://schemas.openxmlformats.org/officeDocument/2006/relationships/image" Target="/ppt/media/image2.jpeg" Id="R40f9b78dded6498e" /><Relationship Type="http://schemas.openxmlformats.org/officeDocument/2006/relationships/notesSlide" Target="/ppt/notesSlides/notesSlide4.xml" Id="R0b0b4fec78eb40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c15eddd70b493e" /><Relationship Type="http://schemas.openxmlformats.org/officeDocument/2006/relationships/notesSlide" Target="/ppt/notesSlides/notesSlide5.xml" Id="R0aea67899a3a45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a7f490acb940ca" /><Relationship Type="http://schemas.openxmlformats.org/officeDocument/2006/relationships/image" Target="/ppt/media/image.png" Id="Rbfd4124b898f4174" /><Relationship Type="http://schemas.openxmlformats.org/officeDocument/2006/relationships/notesSlide" Target="/ppt/notesSlides/notesSlide6.xml" Id="R52a0986689ae42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2c4caa630e545d4" /><Relationship Type="http://schemas.openxmlformats.org/officeDocument/2006/relationships/notesSlide" Target="/ppt/notesSlides/notesSlide7.xml" Id="R54f9ccc9e7fc4a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411d2e211324a21" /><Relationship Type="http://schemas.openxmlformats.org/officeDocument/2006/relationships/image" Target="/ppt/media/image3.jpeg" Id="Rb7ea8a5d45184c98" /><Relationship Type="http://schemas.openxmlformats.org/officeDocument/2006/relationships/notesSlide" Target="/ppt/notesSlides/notesSlide8.xml" Id="R7bc1a3c0b45646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e389d3a3b6a4250" /><Relationship Type="http://schemas.openxmlformats.org/officeDocument/2006/relationships/notesSlide" Target="/ppt/notesSlides/notesSlide9.xml" Id="R665d1fd23d6946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a5d368fd2694060" /><Relationship Type="http://schemas.openxmlformats.org/officeDocument/2006/relationships/notesSlide" Target="/ppt/notesSlides/notesSlide10.xml" Id="R069ddb37139b4a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43c4dfdb71f4709" /><Relationship Type="http://schemas.openxmlformats.org/officeDocument/2006/relationships/notesSlide" Target="/ppt/notesSlides/notesSlide11.xml" Id="Rd0ba9fbc272348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c311d8b40a34c6e" /><Relationship Type="http://schemas.openxmlformats.org/officeDocument/2006/relationships/image" Target="/ppt/media/image4.jpeg" Id="R93a58a1e4974449c" /><Relationship Type="http://schemas.openxmlformats.org/officeDocument/2006/relationships/notesSlide" Target="/ppt/notesSlides/notesSlide12.xml" Id="R6a0f62a26977479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75d17402a344def" /><Relationship Type="http://schemas.openxmlformats.org/officeDocument/2006/relationships/notesSlide" Target="/ppt/notesSlides/notesSlide13.xml" Id="R4e2778a63d814da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5dde0a4d6814d6c" /><Relationship Type="http://schemas.openxmlformats.org/officeDocument/2006/relationships/notesSlide" Target="/ppt/notesSlides/notesSlide14.xml" Id="R24436e207b8e4b8a" /></Relationships>
</file>

<file path=ppt/slides/slide1.xml><?xml version="1.0" encoding="utf-8"?>
<p:sld xmlns:p="http://schemas.openxmlformats.org/presentationml/2006/main">
  <p:cSld>
    <p:bg>
      <p:bgPr>
        <a:solidFill xmlns:a="http://schemas.openxmlformats.org/drawingml/2006/main">
          <a:srgbClr val="040812"/>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F623A96-8A20-4D35-9A2A-2652F855FD4E}"/>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4F7C86F-8E78-417A-BBCA-FBFF67D6DAA1}"/>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C39264D-6511-4C03-92D9-A60220F73E93}"/>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C2AB7FC-A7DB-48A5-B771-CB89B595EE73}"/>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EF0635D-37DD-4265-99E0-E139AA0B661C}"/>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CF8EA12-BB63-46D0-8B09-0C285C4AC1B2}"/>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1F16BC5-F969-4D1F-868B-A4F0164471C6}"/>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C6188E3-532B-4792-AB03-42A691D1D3B9}"/>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5CA6AEF-F93E-4C0A-A388-A873001E135C}"/>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B929B9D-2499-4166-9DDE-3CCC61F97E61}"/>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90EC8AD-57FC-4A15-8FA3-AF079F23FA07}"/>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3737073-256C-4277-A40E-99213FB9DFAF}"/>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A2F147D-EC82-478A-8233-D2959804526D}"/>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F5D89B4-A15E-4F6F-BD48-E12055EA1AAC}"/>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F8290EA-2C0F-49BF-8642-A26FC9F28A4D}"/>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2F0C9BC-9322-41A8-B81D-79DC01A84648}"/>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B9DAFFA-87EB-49F8-BB83-BAF627C966B1}"/>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80C3AAA-D057-4F47-9CEC-0AA9C52E3753}"/>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F9122CA-775A-4743-9205-D0F79930F628}"/>
              </a:ext>
            </a:extLst>
          </p:cNvPr>
          <p:cNvSpPr>
            <a:spLocks xmlns:a="http://schemas.openxmlformats.org/drawingml/2006/main" noGrp="1"/>
          </p:cNvSpPr>
          <p:nvPr/>
        </p:nvSpPr>
        <p:spPr>
          <a:xfrm xmlns:a="http://schemas.openxmlformats.org/drawingml/2006/main">
            <a:off x="0" y="76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2AB2688-C196-48B5-8507-3EAC60DE232B}"/>
              </a:ext>
            </a:extLst>
          </p:cNvPr>
          <p:cNvSpPr>
            <a:spLocks xmlns:a="http://schemas.openxmlformats.org/drawingml/2006/main" noGrp="1"/>
          </p:cNvSpPr>
          <p:nvPr/>
        </p:nvSpPr>
        <p:spPr>
          <a:xfrm xmlns:a="http://schemas.openxmlformats.org/drawingml/2006/main">
            <a:off x="0" y="152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D87717B-DFF7-447B-9EDF-2832EDC20974}"/>
              </a:ext>
            </a:extLst>
          </p:cNvPr>
          <p:cNvSpPr>
            <a:spLocks xmlns:a="http://schemas.openxmlformats.org/drawingml/2006/main" noGrp="1"/>
          </p:cNvSpPr>
          <p:nvPr/>
        </p:nvSpPr>
        <p:spPr>
          <a:xfrm xmlns:a="http://schemas.openxmlformats.org/drawingml/2006/main">
            <a:off x="0" y="228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D8F6CD2-AAAF-48A7-BDB7-BB5D10C1F1FF}"/>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B6BE6B4-AD1C-4AA7-B70F-32F95F6142C7}"/>
              </a:ext>
            </a:extLst>
          </p:cNvPr>
          <p:cNvSpPr>
            <a:spLocks xmlns:a="http://schemas.openxmlformats.org/drawingml/2006/main" noGrp="1"/>
          </p:cNvSpPr>
          <p:nvPr/>
        </p:nvSpPr>
        <p:spPr>
          <a:xfrm xmlns:a="http://schemas.openxmlformats.org/drawingml/2006/main">
            <a:off x="0" y="3810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320DE77-AB3D-4A64-ABC4-70D28D990478}"/>
              </a:ext>
            </a:extLst>
          </p:cNvPr>
          <p:cNvSpPr>
            <a:spLocks xmlns:a="http://schemas.openxmlformats.org/drawingml/2006/main" noGrp="1"/>
          </p:cNvSpPr>
          <p:nvPr/>
        </p:nvSpPr>
        <p:spPr>
          <a:xfrm xmlns:a="http://schemas.openxmlformats.org/drawingml/2006/main">
            <a:off x="0" y="457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5D73D05-BF84-49E7-8091-09458F8CF356}"/>
              </a:ext>
            </a:extLst>
          </p:cNvPr>
          <p:cNvSpPr>
            <a:spLocks xmlns:a="http://schemas.openxmlformats.org/drawingml/2006/main" noGrp="1"/>
          </p:cNvSpPr>
          <p:nvPr/>
        </p:nvSpPr>
        <p:spPr>
          <a:xfrm xmlns:a="http://schemas.openxmlformats.org/drawingml/2006/main">
            <a:off x="0" y="533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DBD2BF3-9B33-44D2-B423-C2E41033856F}"/>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874F0CD-4EC7-48DA-8889-A9882EA88FFA}"/>
              </a:ext>
            </a:extLst>
          </p:cNvPr>
          <p:cNvSpPr>
            <a:spLocks xmlns:a="http://schemas.openxmlformats.org/drawingml/2006/main" noGrp="1"/>
          </p:cNvSpPr>
          <p:nvPr/>
        </p:nvSpPr>
        <p:spPr>
          <a:xfrm xmlns:a="http://schemas.openxmlformats.org/drawingml/2006/main">
            <a:off x="0" y="685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CD7FFB1-7371-4BF9-B5A5-5AFC357C924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A208215-9F6D-4B28-8AD1-7A822C232F6F}"/>
              </a:ext>
            </a:extLst>
          </p:cNvPr>
          <p:cNvSpPr>
            <a:spLocks xmlns:a="http://schemas.openxmlformats.org/drawingml/2006/main" noGrp="1"/>
          </p:cNvSpPr>
          <p:nvPr/>
        </p:nvSpPr>
        <p:spPr>
          <a:xfrm xmlns:a="http://schemas.openxmlformats.org/drawingml/2006/main">
            <a:off x="666750" y="6667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INVESTOR PRODUCT BRIEFING</a:t>
            </a:r>
          </a:p>
        </p:txBody>
      </p:sp>
      <p:sp>
        <p:nvSpPr>
          <p:cNvPr id="30" name="cover-title">
            <a:extLst xmlns:a="http://schemas.openxmlformats.org/drawingml/2006/main">
              <a:ext uri="{FF2B5EF4-FFF2-40B4-BE49-F238E27FC236}">
                <a16:creationId xmlns:a16="http://schemas.microsoft.com/office/drawing/2014/main" id="{A1DF4349-6362-406F-B0FD-0C3E97BC7FC6}"/>
              </a:ext>
            </a:extLst>
          </p:cNvPr>
          <p:cNvSpPr>
            <a:spLocks xmlns:a="http://schemas.openxmlformats.org/drawingml/2006/main" noGrp="1"/>
          </p:cNvSpPr>
          <p:nvPr/>
        </p:nvSpPr>
        <p:spPr>
          <a:xfrm xmlns:a="http://schemas.openxmlformats.org/drawingml/2006/main">
            <a:off x="666750" y="1238250"/>
            <a:ext cx="4476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4F8FF"/>
                </a:solidFill>
              </a:defRPr>
            </a:pPr>
            <a:r>
              <a:rPr sz="4800" b="1">
                <a:solidFill>
                  <a:srgbClr val="F4F8FF"/>
                </a:solidFill>
              </a:rPr>
              <a:t>AAA EAs</a:t>
            </a:r>
          </a:p>
          <a:p xmlns:a="http://schemas.openxmlformats.org/drawingml/2006/main">
            <a:pPr algn="l">
              <a:defRPr sz="4800" b="1">
                <a:solidFill>
                  <a:srgbClr val="F4F8FF"/>
                </a:solidFill>
              </a:defRPr>
            </a:pPr>
            <a:r>
              <a:rPr sz="4800" b="1">
                <a:solidFill>
                  <a:srgbClr val="F4F8FF"/>
                </a:solidFill>
              </a:rPr>
              <a:t>Builder</a:t>
            </a:r>
          </a:p>
        </p:txBody>
      </p:sp>
      <p:sp>
        <p:nvSpPr>
          <p:cNvPr id="31" name="">
            <a:extLst xmlns:a="http://schemas.openxmlformats.org/drawingml/2006/main">
              <a:ext uri="{FF2B5EF4-FFF2-40B4-BE49-F238E27FC236}">
                <a16:creationId xmlns:a16="http://schemas.microsoft.com/office/drawing/2014/main" id="{EDF22EE8-7336-4222-8669-9F66C049BFD4}"/>
              </a:ext>
            </a:extLst>
          </p:cNvPr>
          <p:cNvSpPr>
            <a:spLocks xmlns:a="http://schemas.openxmlformats.org/drawingml/2006/main" noGrp="1"/>
          </p:cNvSpPr>
          <p:nvPr/>
        </p:nvSpPr>
        <p:spPr>
          <a:xfrm xmlns:a="http://schemas.openxmlformats.org/drawingml/2006/main">
            <a:off x="666750" y="3143250"/>
            <a:ext cx="4476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9B7CC"/>
                </a:solidFill>
              </a:defRPr>
            </a:pPr>
            <a:r>
              <a:rPr sz="1800" b="0">
                <a:solidFill>
                  <a:srgbClr val="A9B7CC"/>
                </a:solidFill>
              </a:rPr>
              <a:t>AI-native creation, repair, and evidence-first commerce for MT5 and TradingView.</a:t>
            </a:r>
          </a:p>
        </p:txBody>
      </p:sp>
      <p:sp>
        <p:nvSpPr>
          <p:cNvPr id="32" name="">
            <a:extLst xmlns:a="http://schemas.openxmlformats.org/drawingml/2006/main">
              <a:ext uri="{FF2B5EF4-FFF2-40B4-BE49-F238E27FC236}">
                <a16:creationId xmlns:a16="http://schemas.microsoft.com/office/drawing/2014/main" id="{424E791B-691C-4355-A3FC-23ABE91228DC}"/>
              </a:ext>
            </a:extLst>
          </p:cNvPr>
          <p:cNvSpPr>
            <a:spLocks xmlns:a="http://schemas.openxmlformats.org/drawingml/2006/main" noGrp="1"/>
          </p:cNvSpPr>
          <p:nvPr/>
        </p:nvSpPr>
        <p:spPr>
          <a:xfrm xmlns:a="http://schemas.openxmlformats.org/drawingml/2006/main">
            <a:off x="666750" y="4629150"/>
            <a:ext cx="2762250" cy="28575"/>
          </a:xfrm>
          <a:prstGeom xmlns:a="http://schemas.openxmlformats.org/drawingml/2006/main" prst="rect">
            <a:avLst/>
          </a:prstGeom>
          <a:solidFill xmlns:a="http://schemas.openxmlformats.org/drawingml/2006/main">
            <a:srgbClr val="A855F7"/>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15A5E2D-86D6-4702-B7B4-8664BFFAA66C}"/>
              </a:ext>
            </a:extLst>
          </p:cNvPr>
          <p:cNvSpPr>
            <a:spLocks xmlns:a="http://schemas.openxmlformats.org/drawingml/2006/main" noGrp="1"/>
          </p:cNvSpPr>
          <p:nvPr/>
        </p:nvSpPr>
        <p:spPr>
          <a:xfrm xmlns:a="http://schemas.openxmlformats.org/drawingml/2006/main">
            <a:off x="666750" y="48577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WORKING MVP  •  AUGUST 2026</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8ad345efe8df4244"/>
          <a:srcRect xmlns:a="http://schemas.openxmlformats.org/drawingml/2006/main" l="19773" t="0" r="19773" b="0"/>
          <a:stretch xmlns:a="http://schemas.openxmlformats.org/drawingml/2006/main">
            <a:fillRect l="0" t="0" r="0" b="0"/>
          </a:stretch>
        </p:blipFill>
        <p:spPr>
          <a:xfrm xmlns:a="http://schemas.openxmlformats.org/drawingml/2006/main">
            <a:off x="5810250" y="723900"/>
            <a:ext cx="5524500" cy="5143500"/>
          </a:xfrm>
          <a:prstGeom xmlns:a="http://schemas.openxmlformats.org/drawingml/2006/main" prst="roundRect">
            <a:avLst>
              <a:gd name="adj" fmla="val 2222"/>
            </a:avLst>
          </a:prstGeom>
        </p:spPr>
      </p:pic>
      <p:sp>
        <p:nvSpPr>
          <p:cNvPr id="35" name="">
            <a:extLst xmlns:a="http://schemas.openxmlformats.org/drawingml/2006/main">
              <a:ext uri="{FF2B5EF4-FFF2-40B4-BE49-F238E27FC236}">
                <a16:creationId xmlns:a16="http://schemas.microsoft.com/office/drawing/2014/main" id="{8D730B6F-D395-4C5A-B20A-0C5BF124D4C6}"/>
              </a:ext>
            </a:extLst>
          </p:cNvPr>
          <p:cNvSpPr>
            <a:spLocks xmlns:a="http://schemas.openxmlformats.org/drawingml/2006/main" noGrp="1"/>
          </p:cNvSpPr>
          <p:nvPr/>
        </p:nvSpPr>
        <p:spPr>
          <a:xfrm xmlns:a="http://schemas.openxmlformats.org/drawingml/2006/main">
            <a:off x="5810250" y="723900"/>
            <a:ext cx="5524500" cy="5715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B278E3E-7957-438B-807D-61A39EE647CD}"/>
              </a:ext>
            </a:extLst>
          </p:cNvPr>
          <p:cNvSpPr>
            <a:spLocks xmlns:a="http://schemas.openxmlformats.org/drawingml/2006/main" noGrp="1"/>
          </p:cNvSpPr>
          <p:nvPr/>
        </p:nvSpPr>
        <p:spPr>
          <a:xfrm xmlns:a="http://schemas.openxmlformats.org/drawingml/2006/main">
            <a:off x="666750" y="63436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4748B"/>
                </a:solidFill>
              </a:defRPr>
            </a:pPr>
            <a:r>
              <a:rPr sz="900" b="0">
                <a:solidFill>
                  <a:srgbClr val="64748B"/>
                </a:solidFill>
              </a:rPr>
              <a:t>Confidential product overview</a:t>
            </a:r>
          </a:p>
        </p:txBody>
      </p:sp>
    </p:spTree>
    <p:extLst>
      <p:ext uri="{BB962C8B-B14F-4D97-AF65-F5344CB8AC3E}">
        <p14:creationId xmlns:p14="http://schemas.microsoft.com/office/powerpoint/2010/main" val="1106187057"/>
      </p:ext>
    </p:extLst>
  </p:cSld>
</p:sld>
</file>

<file path=ppt/slides/slide2.xml><?xml version="1.0" encoding="utf-8"?>
<p:sld xmlns:p="http://schemas.openxmlformats.org/presentationml/2006/main">
  <p:cSld>
    <p:bg>
      <p:bgPr>
        <a:solidFill xmlns:a="http://schemas.openxmlformats.org/drawingml/2006/main">
          <a:srgbClr val="040812"/>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CC422E53-BB17-4FCD-A14F-1195D25E683E}"/>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EF7BE1-E248-4506-A9A8-06BE6C092636}"/>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924B810-295B-4F6F-BD5B-A564EFC69F0F}"/>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E74C374-F1AE-482B-BE2E-E0395858E4C7}"/>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046F313-9375-4F87-9A8B-A0A88E240470}"/>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E4C9FA5-0B56-4486-B695-3BA8486E742D}"/>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8E29689-9431-4344-B383-0E78CA2819AF}"/>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36BEE18-32FA-465E-8BF5-D34B8911F890}"/>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9646500-43F0-44BF-AD7A-3C6E4532CF66}"/>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C80B0FB-0FA3-452A-86B7-77C64EBF509A}"/>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5D856B3-2C2D-4B03-9287-7043711CE809}"/>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3CFC1A6-9BFD-4072-85AD-492F1774F7E2}"/>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B733BF8-74C1-4D80-99BA-5B2334507379}"/>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273BD4A-572D-4466-BE41-79F03796B9B2}"/>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3B9707E-E708-44CF-8E12-16E9737F10C1}"/>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4ECC43E-7AC3-4FB9-97A0-B7703DAB669C}"/>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90A87E7-F9EB-4186-A165-26DE9291C5C6}"/>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C44C8A7-F2A9-43DE-B26D-B1314FC5DDEB}"/>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E601588-F9D0-4BD1-909A-A1391084753B}"/>
              </a:ext>
            </a:extLst>
          </p:cNvPr>
          <p:cNvSpPr>
            <a:spLocks xmlns:a="http://schemas.openxmlformats.org/drawingml/2006/main" noGrp="1"/>
          </p:cNvSpPr>
          <p:nvPr/>
        </p:nvSpPr>
        <p:spPr>
          <a:xfrm xmlns:a="http://schemas.openxmlformats.org/drawingml/2006/main">
            <a:off x="0" y="76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7F5699D-61D7-498C-A8D7-449BE6E561B9}"/>
              </a:ext>
            </a:extLst>
          </p:cNvPr>
          <p:cNvSpPr>
            <a:spLocks xmlns:a="http://schemas.openxmlformats.org/drawingml/2006/main" noGrp="1"/>
          </p:cNvSpPr>
          <p:nvPr/>
        </p:nvSpPr>
        <p:spPr>
          <a:xfrm xmlns:a="http://schemas.openxmlformats.org/drawingml/2006/main">
            <a:off x="0" y="152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B0B5907-911D-4073-85C0-8101E9ADDECE}"/>
              </a:ext>
            </a:extLst>
          </p:cNvPr>
          <p:cNvSpPr>
            <a:spLocks xmlns:a="http://schemas.openxmlformats.org/drawingml/2006/main" noGrp="1"/>
          </p:cNvSpPr>
          <p:nvPr/>
        </p:nvSpPr>
        <p:spPr>
          <a:xfrm xmlns:a="http://schemas.openxmlformats.org/drawingml/2006/main">
            <a:off x="0" y="228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FEDEC1D-70BE-41FF-A948-777075644FDE}"/>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23D0817-FAC7-451B-AA5C-07269E678A9F}"/>
              </a:ext>
            </a:extLst>
          </p:cNvPr>
          <p:cNvSpPr>
            <a:spLocks xmlns:a="http://schemas.openxmlformats.org/drawingml/2006/main" noGrp="1"/>
          </p:cNvSpPr>
          <p:nvPr/>
        </p:nvSpPr>
        <p:spPr>
          <a:xfrm xmlns:a="http://schemas.openxmlformats.org/drawingml/2006/main">
            <a:off x="0" y="3810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A0AB6F5-B23F-4096-86D5-58F1AA3C29CD}"/>
              </a:ext>
            </a:extLst>
          </p:cNvPr>
          <p:cNvSpPr>
            <a:spLocks xmlns:a="http://schemas.openxmlformats.org/drawingml/2006/main" noGrp="1"/>
          </p:cNvSpPr>
          <p:nvPr/>
        </p:nvSpPr>
        <p:spPr>
          <a:xfrm xmlns:a="http://schemas.openxmlformats.org/drawingml/2006/main">
            <a:off x="0" y="457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F85DFA5-62E3-4D83-ADED-9E2DB3869AB1}"/>
              </a:ext>
            </a:extLst>
          </p:cNvPr>
          <p:cNvSpPr>
            <a:spLocks xmlns:a="http://schemas.openxmlformats.org/drawingml/2006/main" noGrp="1"/>
          </p:cNvSpPr>
          <p:nvPr/>
        </p:nvSpPr>
        <p:spPr>
          <a:xfrm xmlns:a="http://schemas.openxmlformats.org/drawingml/2006/main">
            <a:off x="0" y="533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8A558B5-6B3A-4411-B38C-6D72F7D3CF5D}"/>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F949035-C7FE-4199-9198-6DD6F7884087}"/>
              </a:ext>
            </a:extLst>
          </p:cNvPr>
          <p:cNvSpPr>
            <a:spLocks xmlns:a="http://schemas.openxmlformats.org/drawingml/2006/main" noGrp="1"/>
          </p:cNvSpPr>
          <p:nvPr/>
        </p:nvSpPr>
        <p:spPr>
          <a:xfrm xmlns:a="http://schemas.openxmlformats.org/drawingml/2006/main">
            <a:off x="0" y="685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9EB0BBA-42D5-43F9-8D2D-202237FBE22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7164E17-44A5-4764-9885-A2FE74CEA7CD}"/>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THE PROBLEM</a:t>
            </a:r>
          </a:p>
        </p:txBody>
      </p:sp>
      <p:sp>
        <p:nvSpPr>
          <p:cNvPr id="30" name="slide-2-title">
            <a:extLst xmlns:a="http://schemas.openxmlformats.org/drawingml/2006/main">
              <a:ext uri="{FF2B5EF4-FFF2-40B4-BE49-F238E27FC236}">
                <a16:creationId xmlns:a16="http://schemas.microsoft.com/office/drawing/2014/main" id="{3BD75C7F-7448-4BE8-B617-32BEAFEBD46D}"/>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4F8FF"/>
                </a:solidFill>
              </a:defRPr>
            </a:pPr>
            <a:r>
              <a:rPr sz="2700" b="1">
                <a:solidFill>
                  <a:srgbClr val="F4F8FF"/>
                </a:solidFill>
              </a:rPr>
              <a:t>Trading automation is powerful—but still difficult to build and trust</a:t>
            </a:r>
          </a:p>
        </p:txBody>
      </p:sp>
      <p:sp>
        <p:nvSpPr>
          <p:cNvPr id="31" name="">
            <a:extLst xmlns:a="http://schemas.openxmlformats.org/drawingml/2006/main">
              <a:ext uri="{FF2B5EF4-FFF2-40B4-BE49-F238E27FC236}">
                <a16:creationId xmlns:a16="http://schemas.microsoft.com/office/drawing/2014/main" id="{28C08A21-627C-4698-9F49-164462E49700}"/>
              </a:ext>
            </a:extLst>
          </p:cNvPr>
          <p:cNvSpPr>
            <a:spLocks xmlns:a="http://schemas.openxmlformats.org/drawingml/2006/main" noGrp="1"/>
          </p:cNvSpPr>
          <p:nvPr/>
        </p:nvSpPr>
        <p:spPr>
          <a:xfrm xmlns:a="http://schemas.openxmlformats.org/drawingml/2006/main">
            <a:off x="533400" y="1257300"/>
            <a:ext cx="11125200" cy="952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207C531-781E-465F-BCBF-C573742596D9}"/>
              </a:ext>
            </a:extLst>
          </p:cNvPr>
          <p:cNvSpPr>
            <a:spLocks xmlns:a="http://schemas.openxmlformats.org/drawingml/2006/main" noGrp="1"/>
          </p:cNvSpPr>
          <p:nvPr/>
        </p:nvSpPr>
        <p:spPr>
          <a:xfrm xmlns:a="http://schemas.openxmlformats.org/drawingml/2006/main">
            <a:off x="533400" y="65341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4748B"/>
                </a:solidFill>
              </a:defRPr>
            </a:pPr>
            <a:r>
              <a:rPr sz="825" b="1">
                <a:solidFill>
                  <a:srgbClr val="64748B"/>
                </a:solidFill>
              </a:rPr>
              <a:t>AAA EAs BUILDER</a:t>
            </a:r>
          </a:p>
        </p:txBody>
      </p:sp>
      <p:sp>
        <p:nvSpPr>
          <p:cNvPr id="33" name="">
            <a:extLst xmlns:a="http://schemas.openxmlformats.org/drawingml/2006/main">
              <a:ext uri="{FF2B5EF4-FFF2-40B4-BE49-F238E27FC236}">
                <a16:creationId xmlns:a16="http://schemas.microsoft.com/office/drawing/2014/main" id="{14F67EB6-1731-4074-8A10-94C1121A9A47}"/>
              </a:ext>
            </a:extLst>
          </p:cNvPr>
          <p:cNvSpPr>
            <a:spLocks xmlns:a="http://schemas.openxmlformats.org/drawingml/2006/main" noGrp="1"/>
          </p:cNvSpPr>
          <p:nvPr/>
        </p:nvSpPr>
        <p:spPr>
          <a:xfrm xmlns:a="http://schemas.openxmlformats.org/drawingml/2006/main">
            <a:off x="11144250" y="65151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4748B"/>
                </a:solidFill>
              </a:defRPr>
            </a:pPr>
            <a:r>
              <a:rPr sz="825" b="1">
                <a:solidFill>
                  <a:srgbClr val="64748B"/>
                </a:solidFill>
              </a:rPr>
              <a:t>02</a:t>
            </a:r>
          </a:p>
        </p:txBody>
      </p:sp>
      <p:sp>
        <p:nvSpPr>
          <p:cNvPr id="34" name="">
            <a:extLst xmlns:a="http://schemas.openxmlformats.org/drawingml/2006/main">
              <a:ext uri="{FF2B5EF4-FFF2-40B4-BE49-F238E27FC236}">
                <a16:creationId xmlns:a16="http://schemas.microsoft.com/office/drawing/2014/main" id="{CB8334B8-D038-495C-999A-42A411FCDD4C}"/>
              </a:ext>
            </a:extLst>
          </p:cNvPr>
          <p:cNvSpPr>
            <a:spLocks xmlns:a="http://schemas.openxmlformats.org/drawingml/2006/main" noGrp="1"/>
          </p:cNvSpPr>
          <p:nvPr/>
        </p:nvSpPr>
        <p:spPr>
          <a:xfrm xmlns:a="http://schemas.openxmlformats.org/drawingml/2006/main">
            <a:off x="533400" y="150495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9B7CC"/>
                </a:solidFill>
              </a:defRPr>
            </a:pPr>
            <a:r>
              <a:rPr sz="1800" b="0">
                <a:solidFill>
                  <a:srgbClr val="A9B7CC"/>
                </a:solidFill>
              </a:rPr>
              <a:t>Most traders can describe an edge. Far fewer can safely turn it into maintainable code and credible evidence.</a:t>
            </a:r>
          </a:p>
        </p:txBody>
      </p:sp>
      <p:sp>
        <p:nvSpPr>
          <p:cNvPr id="35" name="">
            <a:extLst xmlns:a="http://schemas.openxmlformats.org/drawingml/2006/main">
              <a:ext uri="{FF2B5EF4-FFF2-40B4-BE49-F238E27FC236}">
                <a16:creationId xmlns:a16="http://schemas.microsoft.com/office/drawing/2014/main" id="{84038D1D-BA84-4E5A-B62B-5D6D78DB7F19}"/>
              </a:ext>
            </a:extLst>
          </p:cNvPr>
          <p:cNvSpPr>
            <a:spLocks xmlns:a="http://schemas.openxmlformats.org/drawingml/2006/main" noGrp="1"/>
          </p:cNvSpPr>
          <p:nvPr/>
        </p:nvSpPr>
        <p:spPr>
          <a:xfrm xmlns:a="http://schemas.openxmlformats.org/drawingml/2006/main">
            <a:off x="533400" y="2457450"/>
            <a:ext cx="3333750" cy="2000250"/>
          </a:xfrm>
          <a:prstGeom xmlns:a="http://schemas.openxmlformats.org/drawingml/2006/main" prst="roundRect">
            <a:avLst>
              <a:gd name="adj" fmla="val 5714"/>
            </a:avLst>
          </a:prstGeom>
          <a:solidFill xmlns:a="http://schemas.openxmlformats.org/drawingml/2006/main">
            <a:srgbClr val="081425"/>
          </a:solidFill>
          <a:ln xmlns:a="http://schemas.openxmlformats.org/drawingml/2006/main" w="9525">
            <a:solidFill>
              <a:srgbClr val="193452"/>
            </a:solidFill>
            <a:prstDash val="solid"/>
          </a:ln>
        </p:spPr>
      </p:sp>
      <p:sp>
        <p:nvSpPr>
          <p:cNvPr id="36" name="">
            <a:extLst xmlns:a="http://schemas.openxmlformats.org/drawingml/2006/main">
              <a:ext uri="{FF2B5EF4-FFF2-40B4-BE49-F238E27FC236}">
                <a16:creationId xmlns:a16="http://schemas.microsoft.com/office/drawing/2014/main" id="{A652302E-F8F7-4471-AAE8-B2F2FA25D65F}"/>
              </a:ext>
            </a:extLst>
          </p:cNvPr>
          <p:cNvSpPr>
            <a:spLocks xmlns:a="http://schemas.openxmlformats.org/drawingml/2006/main" noGrp="1"/>
          </p:cNvSpPr>
          <p:nvPr/>
        </p:nvSpPr>
        <p:spPr>
          <a:xfrm xmlns:a="http://schemas.openxmlformats.org/drawingml/2006/main">
            <a:off x="533400" y="2457450"/>
            <a:ext cx="57150" cy="200025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E733F64-4D0C-4707-9403-8B20666FF66A}"/>
              </a:ext>
            </a:extLst>
          </p:cNvPr>
          <p:cNvSpPr>
            <a:spLocks xmlns:a="http://schemas.openxmlformats.org/drawingml/2006/main" noGrp="1"/>
          </p:cNvSpPr>
          <p:nvPr/>
        </p:nvSpPr>
        <p:spPr>
          <a:xfrm xmlns:a="http://schemas.openxmlformats.org/drawingml/2006/main">
            <a:off x="742950" y="26098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01 / ACCESS</a:t>
            </a:r>
          </a:p>
        </p:txBody>
      </p:sp>
      <p:sp>
        <p:nvSpPr>
          <p:cNvPr id="38" name="">
            <a:extLst xmlns:a="http://schemas.openxmlformats.org/drawingml/2006/main">
              <a:ext uri="{FF2B5EF4-FFF2-40B4-BE49-F238E27FC236}">
                <a16:creationId xmlns:a16="http://schemas.microsoft.com/office/drawing/2014/main" id="{B4750C64-F6A5-481A-94F8-09C55717DBF3}"/>
              </a:ext>
            </a:extLst>
          </p:cNvPr>
          <p:cNvSpPr>
            <a:spLocks xmlns:a="http://schemas.openxmlformats.org/drawingml/2006/main" noGrp="1"/>
          </p:cNvSpPr>
          <p:nvPr/>
        </p:nvSpPr>
        <p:spPr>
          <a:xfrm xmlns:a="http://schemas.openxmlformats.org/drawingml/2006/main">
            <a:off x="742950" y="2886075"/>
            <a:ext cx="29908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8FF"/>
                </a:solidFill>
              </a:defRPr>
            </a:pPr>
            <a:r>
              <a:rPr sz="1500" b="1">
                <a:solidFill>
                  <a:srgbClr val="F4F8FF"/>
                </a:solidFill>
              </a:rPr>
              <a:t>Ideas remain trapped in natural language</a:t>
            </a:r>
          </a:p>
        </p:txBody>
      </p:sp>
      <p:sp>
        <p:nvSpPr>
          <p:cNvPr id="39" name="">
            <a:extLst xmlns:a="http://schemas.openxmlformats.org/drawingml/2006/main">
              <a:ext uri="{FF2B5EF4-FFF2-40B4-BE49-F238E27FC236}">
                <a16:creationId xmlns:a16="http://schemas.microsoft.com/office/drawing/2014/main" id="{8EA37503-D8FB-45F0-AF1C-1282EAB80CAB}"/>
              </a:ext>
            </a:extLst>
          </p:cNvPr>
          <p:cNvSpPr>
            <a:spLocks xmlns:a="http://schemas.openxmlformats.org/drawingml/2006/main" noGrp="1"/>
          </p:cNvSpPr>
          <p:nvPr/>
        </p:nvSpPr>
        <p:spPr>
          <a:xfrm xmlns:a="http://schemas.openxmlformats.org/drawingml/2006/main">
            <a:off x="742950" y="33337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9B7CC"/>
                </a:solidFill>
              </a:defRPr>
            </a:pPr>
            <a:r>
              <a:rPr sz="1350" b="0">
                <a:solidFill>
                  <a:srgbClr val="A9B7CC"/>
                </a:solidFill>
              </a:rPr>
              <a:t>MQL5 and Pine expertise create a high barrier between strategy intent and executable software.</a:t>
            </a:r>
          </a:p>
        </p:txBody>
      </p:sp>
      <p:sp>
        <p:nvSpPr>
          <p:cNvPr id="40" name="">
            <a:extLst xmlns:a="http://schemas.openxmlformats.org/drawingml/2006/main">
              <a:ext uri="{FF2B5EF4-FFF2-40B4-BE49-F238E27FC236}">
                <a16:creationId xmlns:a16="http://schemas.microsoft.com/office/drawing/2014/main" id="{05E6A80C-A39D-459B-ADB9-3E7DCF799AA1}"/>
              </a:ext>
            </a:extLst>
          </p:cNvPr>
          <p:cNvSpPr>
            <a:spLocks xmlns:a="http://schemas.openxmlformats.org/drawingml/2006/main" noGrp="1"/>
          </p:cNvSpPr>
          <p:nvPr/>
        </p:nvSpPr>
        <p:spPr>
          <a:xfrm xmlns:a="http://schemas.openxmlformats.org/drawingml/2006/main">
            <a:off x="4429125" y="2457450"/>
            <a:ext cx="3333750" cy="2000250"/>
          </a:xfrm>
          <a:prstGeom xmlns:a="http://schemas.openxmlformats.org/drawingml/2006/main" prst="roundRect">
            <a:avLst>
              <a:gd name="adj" fmla="val 5714"/>
            </a:avLst>
          </a:prstGeom>
          <a:solidFill xmlns:a="http://schemas.openxmlformats.org/drawingml/2006/main">
            <a:srgbClr val="081425"/>
          </a:solidFill>
          <a:ln xmlns:a="http://schemas.openxmlformats.org/drawingml/2006/main" w="9525">
            <a:solidFill>
              <a:srgbClr val="193452"/>
            </a:solidFill>
            <a:prstDash val="solid"/>
          </a:ln>
        </p:spPr>
      </p:sp>
      <p:sp>
        <p:nvSpPr>
          <p:cNvPr id="41" name="">
            <a:extLst xmlns:a="http://schemas.openxmlformats.org/drawingml/2006/main">
              <a:ext uri="{FF2B5EF4-FFF2-40B4-BE49-F238E27FC236}">
                <a16:creationId xmlns:a16="http://schemas.microsoft.com/office/drawing/2014/main" id="{789E0FC1-8CD3-477E-BBF5-7140D533D549}"/>
              </a:ext>
            </a:extLst>
          </p:cNvPr>
          <p:cNvSpPr>
            <a:spLocks xmlns:a="http://schemas.openxmlformats.org/drawingml/2006/main" noGrp="1"/>
          </p:cNvSpPr>
          <p:nvPr/>
        </p:nvSpPr>
        <p:spPr>
          <a:xfrm xmlns:a="http://schemas.openxmlformats.org/drawingml/2006/main">
            <a:off x="4429125" y="2457450"/>
            <a:ext cx="57150" cy="2000250"/>
          </a:xfrm>
          <a:prstGeom xmlns:a="http://schemas.openxmlformats.org/drawingml/2006/main" prst="rect">
            <a:avLst/>
          </a:prstGeom>
          <a:solidFill xmlns:a="http://schemas.openxmlformats.org/drawingml/2006/main">
            <a:srgbClr val="A855F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D3FC4C8-123F-42E8-BD98-8856391D00E4}"/>
              </a:ext>
            </a:extLst>
          </p:cNvPr>
          <p:cNvSpPr>
            <a:spLocks xmlns:a="http://schemas.openxmlformats.org/drawingml/2006/main" noGrp="1"/>
          </p:cNvSpPr>
          <p:nvPr/>
        </p:nvSpPr>
        <p:spPr>
          <a:xfrm xmlns:a="http://schemas.openxmlformats.org/drawingml/2006/main">
            <a:off x="4638675" y="26098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855F7"/>
                </a:solidFill>
              </a:defRPr>
            </a:pPr>
            <a:r>
              <a:rPr sz="1050" b="1">
                <a:solidFill>
                  <a:srgbClr val="A855F7"/>
                </a:solidFill>
              </a:rPr>
              <a:t>02 / RELIABILITY</a:t>
            </a:r>
          </a:p>
        </p:txBody>
      </p:sp>
      <p:sp>
        <p:nvSpPr>
          <p:cNvPr id="43" name="">
            <a:extLst xmlns:a="http://schemas.openxmlformats.org/drawingml/2006/main">
              <a:ext uri="{FF2B5EF4-FFF2-40B4-BE49-F238E27FC236}">
                <a16:creationId xmlns:a16="http://schemas.microsoft.com/office/drawing/2014/main" id="{38CC151B-2096-4CDD-89E7-3DE452AF232D}"/>
              </a:ext>
            </a:extLst>
          </p:cNvPr>
          <p:cNvSpPr>
            <a:spLocks xmlns:a="http://schemas.openxmlformats.org/drawingml/2006/main" noGrp="1"/>
          </p:cNvSpPr>
          <p:nvPr/>
        </p:nvSpPr>
        <p:spPr>
          <a:xfrm xmlns:a="http://schemas.openxmlformats.org/drawingml/2006/main">
            <a:off x="4638675" y="2886075"/>
            <a:ext cx="29908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8FF"/>
                </a:solidFill>
              </a:defRPr>
            </a:pPr>
            <a:r>
              <a:rPr sz="1500" b="1">
                <a:solidFill>
                  <a:srgbClr val="F4F8FF"/>
                </a:solidFill>
              </a:rPr>
              <a:t>Debugging is slow and fragmented</a:t>
            </a:r>
          </a:p>
        </p:txBody>
      </p:sp>
      <p:sp>
        <p:nvSpPr>
          <p:cNvPr id="44" name="">
            <a:extLst xmlns:a="http://schemas.openxmlformats.org/drawingml/2006/main">
              <a:ext uri="{FF2B5EF4-FFF2-40B4-BE49-F238E27FC236}">
                <a16:creationId xmlns:a16="http://schemas.microsoft.com/office/drawing/2014/main" id="{FBB7F248-83CF-49F9-8BAC-5898C5DBEA62}"/>
              </a:ext>
            </a:extLst>
          </p:cNvPr>
          <p:cNvSpPr>
            <a:spLocks xmlns:a="http://schemas.openxmlformats.org/drawingml/2006/main" noGrp="1"/>
          </p:cNvSpPr>
          <p:nvPr/>
        </p:nvSpPr>
        <p:spPr>
          <a:xfrm xmlns:a="http://schemas.openxmlformats.org/drawingml/2006/main">
            <a:off x="4638675" y="33337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9B7CC"/>
                </a:solidFill>
              </a:defRPr>
            </a:pPr>
            <a:r>
              <a:rPr sz="1350" b="0">
                <a:solidFill>
                  <a:srgbClr val="A9B7CC"/>
                </a:solidFill>
              </a:rPr>
              <a:t>Prompts, code, compiler errors, revisions, and testing live in separate tools with weak continuity.</a:t>
            </a:r>
          </a:p>
        </p:txBody>
      </p:sp>
      <p:sp>
        <p:nvSpPr>
          <p:cNvPr id="45" name="">
            <a:extLst xmlns:a="http://schemas.openxmlformats.org/drawingml/2006/main">
              <a:ext uri="{FF2B5EF4-FFF2-40B4-BE49-F238E27FC236}">
                <a16:creationId xmlns:a16="http://schemas.microsoft.com/office/drawing/2014/main" id="{0290CF41-9C00-43BF-897A-CBA45D8E8DAC}"/>
              </a:ext>
            </a:extLst>
          </p:cNvPr>
          <p:cNvSpPr>
            <a:spLocks xmlns:a="http://schemas.openxmlformats.org/drawingml/2006/main" noGrp="1"/>
          </p:cNvSpPr>
          <p:nvPr/>
        </p:nvSpPr>
        <p:spPr>
          <a:xfrm xmlns:a="http://schemas.openxmlformats.org/drawingml/2006/main">
            <a:off x="8324850" y="2457450"/>
            <a:ext cx="3333750" cy="2000250"/>
          </a:xfrm>
          <a:prstGeom xmlns:a="http://schemas.openxmlformats.org/drawingml/2006/main" prst="roundRect">
            <a:avLst>
              <a:gd name="adj" fmla="val 5714"/>
            </a:avLst>
          </a:prstGeom>
          <a:solidFill xmlns:a="http://schemas.openxmlformats.org/drawingml/2006/main">
            <a:srgbClr val="081425"/>
          </a:solidFill>
          <a:ln xmlns:a="http://schemas.openxmlformats.org/drawingml/2006/main" w="9525">
            <a:solidFill>
              <a:srgbClr val="193452"/>
            </a:solidFill>
            <a:prstDash val="solid"/>
          </a:ln>
        </p:spPr>
      </p:sp>
      <p:sp>
        <p:nvSpPr>
          <p:cNvPr id="46" name="">
            <a:extLst xmlns:a="http://schemas.openxmlformats.org/drawingml/2006/main">
              <a:ext uri="{FF2B5EF4-FFF2-40B4-BE49-F238E27FC236}">
                <a16:creationId xmlns:a16="http://schemas.microsoft.com/office/drawing/2014/main" id="{F977DF37-FCB2-4BDB-8439-4C0298B70581}"/>
              </a:ext>
            </a:extLst>
          </p:cNvPr>
          <p:cNvSpPr>
            <a:spLocks xmlns:a="http://schemas.openxmlformats.org/drawingml/2006/main" noGrp="1"/>
          </p:cNvSpPr>
          <p:nvPr/>
        </p:nvSpPr>
        <p:spPr>
          <a:xfrm xmlns:a="http://schemas.openxmlformats.org/drawingml/2006/main">
            <a:off x="8324850" y="2457450"/>
            <a:ext cx="57150" cy="2000250"/>
          </a:xfrm>
          <a:prstGeom xmlns:a="http://schemas.openxmlformats.org/drawingml/2006/main" prst="rect">
            <a:avLst/>
          </a:prstGeom>
          <a:solidFill xmlns:a="http://schemas.openxmlformats.org/drawingml/2006/main">
            <a:srgbClr val="F8B84E"/>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F1F14DA1-CE31-497D-AE97-B900A1857EE1}"/>
              </a:ext>
            </a:extLst>
          </p:cNvPr>
          <p:cNvSpPr>
            <a:spLocks xmlns:a="http://schemas.openxmlformats.org/drawingml/2006/main" noGrp="1"/>
          </p:cNvSpPr>
          <p:nvPr/>
        </p:nvSpPr>
        <p:spPr>
          <a:xfrm xmlns:a="http://schemas.openxmlformats.org/drawingml/2006/main">
            <a:off x="8534400" y="26098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8B84E"/>
                </a:solidFill>
              </a:defRPr>
            </a:pPr>
            <a:r>
              <a:rPr sz="1050" b="1">
                <a:solidFill>
                  <a:srgbClr val="F8B84E"/>
                </a:solidFill>
              </a:rPr>
              <a:t>03 / TRUST</a:t>
            </a:r>
          </a:p>
        </p:txBody>
      </p:sp>
      <p:sp>
        <p:nvSpPr>
          <p:cNvPr id="48" name="">
            <a:extLst xmlns:a="http://schemas.openxmlformats.org/drawingml/2006/main">
              <a:ext uri="{FF2B5EF4-FFF2-40B4-BE49-F238E27FC236}">
                <a16:creationId xmlns:a16="http://schemas.microsoft.com/office/drawing/2014/main" id="{D3C3B8C2-6B18-4A8E-AB74-14CAB619485C}"/>
              </a:ext>
            </a:extLst>
          </p:cNvPr>
          <p:cNvSpPr>
            <a:spLocks xmlns:a="http://schemas.openxmlformats.org/drawingml/2006/main" noGrp="1"/>
          </p:cNvSpPr>
          <p:nvPr/>
        </p:nvSpPr>
        <p:spPr>
          <a:xfrm xmlns:a="http://schemas.openxmlformats.org/drawingml/2006/main">
            <a:off x="8534400" y="2886075"/>
            <a:ext cx="29908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8FF"/>
                </a:solidFill>
              </a:defRPr>
            </a:pPr>
            <a:r>
              <a:rPr sz="1500" b="1">
                <a:solidFill>
                  <a:srgbClr val="F4F8FF"/>
                </a:solidFill>
              </a:rPr>
              <a:t>Performance claims lack context</a:t>
            </a:r>
          </a:p>
        </p:txBody>
      </p:sp>
      <p:sp>
        <p:nvSpPr>
          <p:cNvPr id="49" name="">
            <a:extLst xmlns:a="http://schemas.openxmlformats.org/drawingml/2006/main">
              <a:ext uri="{FF2B5EF4-FFF2-40B4-BE49-F238E27FC236}">
                <a16:creationId xmlns:a16="http://schemas.microsoft.com/office/drawing/2014/main" id="{911B2BF2-F5D2-4C91-920A-A03713AF263B}"/>
              </a:ext>
            </a:extLst>
          </p:cNvPr>
          <p:cNvSpPr>
            <a:spLocks xmlns:a="http://schemas.openxmlformats.org/drawingml/2006/main" noGrp="1"/>
          </p:cNvSpPr>
          <p:nvPr/>
        </p:nvSpPr>
        <p:spPr>
          <a:xfrm xmlns:a="http://schemas.openxmlformats.org/drawingml/2006/main">
            <a:off x="8534400" y="333375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9B7CC"/>
                </a:solidFill>
              </a:defRPr>
            </a:pPr>
            <a:r>
              <a:rPr sz="1350" b="0">
                <a:solidFill>
                  <a:srgbClr val="A9B7CC"/>
                </a:solidFill>
              </a:rPr>
              <a:t>Metrics without test period, assumptions, drawdown, trade count, and verification status are hard to compare.</a:t>
            </a:r>
          </a:p>
        </p:txBody>
      </p:sp>
      <p:sp>
        <p:nvSpPr>
          <p:cNvPr id="50" name="">
            <a:extLst xmlns:a="http://schemas.openxmlformats.org/drawingml/2006/main">
              <a:ext uri="{FF2B5EF4-FFF2-40B4-BE49-F238E27FC236}">
                <a16:creationId xmlns:a16="http://schemas.microsoft.com/office/drawing/2014/main" id="{DEDDAAC4-B0DE-42F1-AF4D-85AF00B8ECD2}"/>
              </a:ext>
            </a:extLst>
          </p:cNvPr>
          <p:cNvSpPr>
            <a:spLocks xmlns:a="http://schemas.openxmlformats.org/drawingml/2006/main" noGrp="1"/>
          </p:cNvSpPr>
          <p:nvPr/>
        </p:nvSpPr>
        <p:spPr>
          <a:xfrm xmlns:a="http://schemas.openxmlformats.org/drawingml/2006/main">
            <a:off x="533400" y="4953000"/>
            <a:ext cx="11125200" cy="1047750"/>
          </a:xfrm>
          <a:prstGeom xmlns:a="http://schemas.openxmlformats.org/drawingml/2006/main" prst="roundRect">
            <a:avLst>
              <a:gd name="adj" fmla="val 10909"/>
            </a:avLst>
          </a:prstGeom>
          <a:solidFill xmlns:a="http://schemas.openxmlformats.org/drawingml/2006/main">
            <a:srgbClr val="0B1A2E"/>
          </a:solidFill>
          <a:ln xmlns:a="http://schemas.openxmlformats.org/drawingml/2006/main" w="9525">
            <a:solidFill>
              <a:srgbClr val="193452"/>
            </a:solidFill>
            <a:prstDash val="solid"/>
          </a:ln>
        </p:spPr>
      </p:sp>
      <p:sp>
        <p:nvSpPr>
          <p:cNvPr id="51" name="">
            <a:extLst xmlns:a="http://schemas.openxmlformats.org/drawingml/2006/main">
              <a:ext uri="{FF2B5EF4-FFF2-40B4-BE49-F238E27FC236}">
                <a16:creationId xmlns:a16="http://schemas.microsoft.com/office/drawing/2014/main" id="{AECC1823-5988-4770-9157-025085117266}"/>
              </a:ext>
            </a:extLst>
          </p:cNvPr>
          <p:cNvSpPr>
            <a:spLocks xmlns:a="http://schemas.openxmlformats.org/drawingml/2006/main" noGrp="1"/>
          </p:cNvSpPr>
          <p:nvPr/>
        </p:nvSpPr>
        <p:spPr>
          <a:xfrm xmlns:a="http://schemas.openxmlformats.org/drawingml/2006/main">
            <a:off x="762000" y="51435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32D583"/>
                </a:solidFill>
              </a:defRPr>
            </a:pPr>
            <a:r>
              <a:rPr sz="1050" b="1">
                <a:solidFill>
                  <a:srgbClr val="32D583"/>
                </a:solidFill>
              </a:rPr>
              <a:t>PRODUCT OPPORTUNITY</a:t>
            </a:r>
          </a:p>
        </p:txBody>
      </p:sp>
      <p:sp>
        <p:nvSpPr>
          <p:cNvPr id="52" name="">
            <a:extLst xmlns:a="http://schemas.openxmlformats.org/drawingml/2006/main">
              <a:ext uri="{FF2B5EF4-FFF2-40B4-BE49-F238E27FC236}">
                <a16:creationId xmlns:a16="http://schemas.microsoft.com/office/drawing/2014/main" id="{406D216C-3DBA-40CF-B5FE-9A2B290AC845}"/>
              </a:ext>
            </a:extLst>
          </p:cNvPr>
          <p:cNvSpPr>
            <a:spLocks xmlns:a="http://schemas.openxmlformats.org/drawingml/2006/main" noGrp="1"/>
          </p:cNvSpPr>
          <p:nvPr/>
        </p:nvSpPr>
        <p:spPr>
          <a:xfrm xmlns:a="http://schemas.openxmlformats.org/drawingml/2006/main">
            <a:off x="762000" y="54673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4F8FF"/>
                </a:solidFill>
              </a:defRPr>
            </a:pPr>
            <a:r>
              <a:rPr sz="1875" b="1">
                <a:solidFill>
                  <a:srgbClr val="F4F8FF"/>
                </a:solidFill>
              </a:rPr>
              <a:t>Unify creation, repair, validation, evidence, and distribution in one accountable workflow.</a:t>
            </a:r>
          </a:p>
        </p:txBody>
      </p:sp>
    </p:spTree>
    <p:extLst>
      <p:ext uri="{BB962C8B-B14F-4D97-AF65-F5344CB8AC3E}">
        <p14:creationId xmlns:p14="http://schemas.microsoft.com/office/powerpoint/2010/main" val="424458784"/>
      </p:ext>
    </p:extLst>
  </p:cSld>
</p:sld>
</file>

<file path=ppt/slides/slide3.xml><?xml version="1.0" encoding="utf-8"?>
<p:sld xmlns:p="http://schemas.openxmlformats.org/presentationml/2006/main">
  <p:cSld>
    <p:bg>
      <p:bgPr>
        <a:solidFill xmlns:a="http://schemas.openxmlformats.org/drawingml/2006/main">
          <a:srgbClr val="040812"/>
        </a:solidFill>
      </p:bgPr>
    </p:bg>
    <p:spTree>
      <p:nvGrpSpPr>
        <p:cNvPr id="1" name=""/>
        <p:cNvGrpSpPr/>
        <p:nvPr/>
      </p:nvGrpSpPr>
      <p:grpSpPr>
        <a:xfrm xmlns:a="http://schemas.openxmlformats.org/drawingml/2006/main"/>
      </p:grpSpPr>
      <p:sp>
        <p:nvSpPr>
          <p:cNvPr id="76" name="">
            <a:extLst xmlns:a="http://schemas.openxmlformats.org/drawingml/2006/main">
              <a:ext uri="{FF2B5EF4-FFF2-40B4-BE49-F238E27FC236}">
                <a16:creationId xmlns:a16="http://schemas.microsoft.com/office/drawing/2014/main" id="{709F9589-84AB-483A-93D6-9138B17B45DA}"/>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03BEEC-6EF4-4E6B-8C08-E8BF7191D0AC}"/>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D52516F-5E82-43E3-8073-A0EC39D4EED6}"/>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36B90A7-8898-4C38-B29C-890D8A4E2F31}"/>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28A9870-EC7A-4BB6-8B54-AE960D9D362C}"/>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AD0A0AA-9551-44EE-95E1-E1E0BD6313B6}"/>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BD991E6-4281-4218-BA2B-969E4EB47A50}"/>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CD4A3F-3D94-42F1-B6ED-CFABC6FC9E05}"/>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C8345B8-8E89-467F-A668-8D35EDF943C0}"/>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6511A14-39C6-4FBE-BB61-38D510F8AE84}"/>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F900007-71B7-4215-8C5F-4D81DF5766DB}"/>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A637E25-BE36-44EC-928E-F0E2A2E4CE9C}"/>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1B8B8DF-2037-4C22-B9D1-1760F8C9EB20}"/>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B20269D-FA94-4042-9B32-DAB7C5ACD74A}"/>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321FB04-ECAE-448A-9461-3E41BA6760B7}"/>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1BB1EAA-745E-4364-AB7D-DE264A8B57BC}"/>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6B09C42-C5C2-47F7-9885-920BE50AB38A}"/>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D0B526C-89C2-4C66-82D4-7CF2D7AF6C0B}"/>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179B958-B1D4-4333-91F4-5AB4E346D7CB}"/>
              </a:ext>
            </a:extLst>
          </p:cNvPr>
          <p:cNvSpPr>
            <a:spLocks xmlns:a="http://schemas.openxmlformats.org/drawingml/2006/main" noGrp="1"/>
          </p:cNvSpPr>
          <p:nvPr/>
        </p:nvSpPr>
        <p:spPr>
          <a:xfrm xmlns:a="http://schemas.openxmlformats.org/drawingml/2006/main">
            <a:off x="0" y="76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B180FC3-CA23-4FC5-B043-35359D03DBD6}"/>
              </a:ext>
            </a:extLst>
          </p:cNvPr>
          <p:cNvSpPr>
            <a:spLocks xmlns:a="http://schemas.openxmlformats.org/drawingml/2006/main" noGrp="1"/>
          </p:cNvSpPr>
          <p:nvPr/>
        </p:nvSpPr>
        <p:spPr>
          <a:xfrm xmlns:a="http://schemas.openxmlformats.org/drawingml/2006/main">
            <a:off x="0" y="152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44F7E83-6FB2-4278-BFF6-6D1B97E136E3}"/>
              </a:ext>
            </a:extLst>
          </p:cNvPr>
          <p:cNvSpPr>
            <a:spLocks xmlns:a="http://schemas.openxmlformats.org/drawingml/2006/main" noGrp="1"/>
          </p:cNvSpPr>
          <p:nvPr/>
        </p:nvSpPr>
        <p:spPr>
          <a:xfrm xmlns:a="http://schemas.openxmlformats.org/drawingml/2006/main">
            <a:off x="0" y="228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B779F6E-A776-4199-9F14-E07C31D08671}"/>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02FE086-E8AE-4451-BF04-C39FBB4F6571}"/>
              </a:ext>
            </a:extLst>
          </p:cNvPr>
          <p:cNvSpPr>
            <a:spLocks xmlns:a="http://schemas.openxmlformats.org/drawingml/2006/main" noGrp="1"/>
          </p:cNvSpPr>
          <p:nvPr/>
        </p:nvSpPr>
        <p:spPr>
          <a:xfrm xmlns:a="http://schemas.openxmlformats.org/drawingml/2006/main">
            <a:off x="0" y="3810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EFA2427-7915-4A30-AFD1-1F8DC7064F1D}"/>
              </a:ext>
            </a:extLst>
          </p:cNvPr>
          <p:cNvSpPr>
            <a:spLocks xmlns:a="http://schemas.openxmlformats.org/drawingml/2006/main" noGrp="1"/>
          </p:cNvSpPr>
          <p:nvPr/>
        </p:nvSpPr>
        <p:spPr>
          <a:xfrm xmlns:a="http://schemas.openxmlformats.org/drawingml/2006/main">
            <a:off x="0" y="457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530B1C7-B5AA-44B4-8D7A-F9571960DA9A}"/>
              </a:ext>
            </a:extLst>
          </p:cNvPr>
          <p:cNvSpPr>
            <a:spLocks xmlns:a="http://schemas.openxmlformats.org/drawingml/2006/main" noGrp="1"/>
          </p:cNvSpPr>
          <p:nvPr/>
        </p:nvSpPr>
        <p:spPr>
          <a:xfrm xmlns:a="http://schemas.openxmlformats.org/drawingml/2006/main">
            <a:off x="0" y="533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950FA12-74A9-4A94-9C53-781DA9FB8E25}"/>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3B9B242-A86E-40B9-8038-7930A7F05B3E}"/>
              </a:ext>
            </a:extLst>
          </p:cNvPr>
          <p:cNvSpPr>
            <a:spLocks xmlns:a="http://schemas.openxmlformats.org/drawingml/2006/main" noGrp="1"/>
          </p:cNvSpPr>
          <p:nvPr/>
        </p:nvSpPr>
        <p:spPr>
          <a:xfrm xmlns:a="http://schemas.openxmlformats.org/drawingml/2006/main">
            <a:off x="0" y="685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6DD2B7F-32E6-4425-A913-AE73F87A844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DE62C78-7656-43B1-BCE9-4A1E16B3D4A7}"/>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THE SOLUTION</a:t>
            </a:r>
          </a:p>
        </p:txBody>
      </p:sp>
      <p:sp>
        <p:nvSpPr>
          <p:cNvPr id="30" name="slide-3-title">
            <a:extLst xmlns:a="http://schemas.openxmlformats.org/drawingml/2006/main">
              <a:ext uri="{FF2B5EF4-FFF2-40B4-BE49-F238E27FC236}">
                <a16:creationId xmlns:a16="http://schemas.microsoft.com/office/drawing/2014/main" id="{0FBE7C39-865A-4366-BFCD-9DE93F3A16BD}"/>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4F8FF"/>
                </a:solidFill>
              </a:defRPr>
            </a:pPr>
            <a:r>
              <a:rPr sz="2700" b="1">
                <a:solidFill>
                  <a:srgbClr val="F4F8FF"/>
                </a:solidFill>
              </a:rPr>
              <a:t>One product turns an idea into inspectable trading software</a:t>
            </a:r>
          </a:p>
        </p:txBody>
      </p:sp>
      <p:sp>
        <p:nvSpPr>
          <p:cNvPr id="31" name="">
            <a:extLst xmlns:a="http://schemas.openxmlformats.org/drawingml/2006/main">
              <a:ext uri="{FF2B5EF4-FFF2-40B4-BE49-F238E27FC236}">
                <a16:creationId xmlns:a16="http://schemas.microsoft.com/office/drawing/2014/main" id="{A669815F-D7ED-4F51-8D36-1A953C6435B2}"/>
              </a:ext>
            </a:extLst>
          </p:cNvPr>
          <p:cNvSpPr>
            <a:spLocks xmlns:a="http://schemas.openxmlformats.org/drawingml/2006/main" noGrp="1"/>
          </p:cNvSpPr>
          <p:nvPr/>
        </p:nvSpPr>
        <p:spPr>
          <a:xfrm xmlns:a="http://schemas.openxmlformats.org/drawingml/2006/main">
            <a:off x="533400" y="1257300"/>
            <a:ext cx="11125200" cy="952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A5F2EFF-7D73-487C-89BC-8220FF36F99D}"/>
              </a:ext>
            </a:extLst>
          </p:cNvPr>
          <p:cNvSpPr>
            <a:spLocks xmlns:a="http://schemas.openxmlformats.org/drawingml/2006/main" noGrp="1"/>
          </p:cNvSpPr>
          <p:nvPr/>
        </p:nvSpPr>
        <p:spPr>
          <a:xfrm xmlns:a="http://schemas.openxmlformats.org/drawingml/2006/main">
            <a:off x="533400" y="65341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4748B"/>
                </a:solidFill>
              </a:defRPr>
            </a:pPr>
            <a:r>
              <a:rPr sz="825" b="1">
                <a:solidFill>
                  <a:srgbClr val="64748B"/>
                </a:solidFill>
              </a:rPr>
              <a:t>AAA EAs BUILDER</a:t>
            </a:r>
          </a:p>
        </p:txBody>
      </p:sp>
      <p:sp>
        <p:nvSpPr>
          <p:cNvPr id="33" name="">
            <a:extLst xmlns:a="http://schemas.openxmlformats.org/drawingml/2006/main">
              <a:ext uri="{FF2B5EF4-FFF2-40B4-BE49-F238E27FC236}">
                <a16:creationId xmlns:a16="http://schemas.microsoft.com/office/drawing/2014/main" id="{A8217DA3-09D7-4484-B0C6-104F3F5A6332}"/>
              </a:ext>
            </a:extLst>
          </p:cNvPr>
          <p:cNvSpPr>
            <a:spLocks xmlns:a="http://schemas.openxmlformats.org/drawingml/2006/main" noGrp="1"/>
          </p:cNvSpPr>
          <p:nvPr/>
        </p:nvSpPr>
        <p:spPr>
          <a:xfrm xmlns:a="http://schemas.openxmlformats.org/drawingml/2006/main">
            <a:off x="11144250" y="65151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4748B"/>
                </a:solidFill>
              </a:defRPr>
            </a:pPr>
            <a:r>
              <a:rPr sz="825" b="1">
                <a:solidFill>
                  <a:srgbClr val="64748B"/>
                </a:solidFill>
              </a:rPr>
              <a:t>03</a:t>
            </a:r>
          </a:p>
        </p:txBody>
      </p:sp>
      <p:sp>
        <p:nvSpPr>
          <p:cNvPr id="34" name="">
            <a:extLst xmlns:a="http://schemas.openxmlformats.org/drawingml/2006/main">
              <a:ext uri="{FF2B5EF4-FFF2-40B4-BE49-F238E27FC236}">
                <a16:creationId xmlns:a16="http://schemas.microsoft.com/office/drawing/2014/main" id="{4B01691D-F62C-465D-B772-A7D796DCE77A}"/>
              </a:ext>
            </a:extLst>
          </p:cNvPr>
          <p:cNvSpPr>
            <a:spLocks xmlns:a="http://schemas.openxmlformats.org/drawingml/2006/main" noGrp="1"/>
          </p:cNvSpPr>
          <p:nvPr/>
        </p:nvSpPr>
        <p:spPr>
          <a:xfrm xmlns:a="http://schemas.openxmlformats.org/drawingml/2006/main">
            <a:off x="533400" y="15049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A9B7CC"/>
                </a:solidFill>
              </a:defRPr>
            </a:pPr>
            <a:r>
              <a:rPr sz="1725" b="0">
                <a:solidFill>
                  <a:srgbClr val="A9B7CC"/>
                </a:solidFill>
              </a:rPr>
              <a:t>A single lifecycle keeps intent, source, diagnostics, versions, and evidence connected.</a:t>
            </a:r>
          </a:p>
        </p:txBody>
      </p:sp>
      <p:sp>
        <p:nvSpPr>
          <p:cNvPr id="35" name="">
            <a:extLst xmlns:a="http://schemas.openxmlformats.org/drawingml/2006/main">
              <a:ext uri="{FF2B5EF4-FFF2-40B4-BE49-F238E27FC236}">
                <a16:creationId xmlns:a16="http://schemas.microsoft.com/office/drawing/2014/main" id="{B0D380AF-BC33-420B-A2E4-36AECA2E0B34}"/>
              </a:ext>
            </a:extLst>
          </p:cNvPr>
          <p:cNvSpPr>
            <a:spLocks xmlns:a="http://schemas.openxmlformats.org/drawingml/2006/main" noGrp="1"/>
          </p:cNvSpPr>
          <p:nvPr/>
        </p:nvSpPr>
        <p:spPr>
          <a:xfrm xmlns:a="http://schemas.openxmlformats.org/drawingml/2006/main">
            <a:off x="1676400" y="3000375"/>
            <a:ext cx="876300" cy="2857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F4E64BA-A579-4FE3-93A2-232060B00827}"/>
              </a:ext>
            </a:extLst>
          </p:cNvPr>
          <p:cNvSpPr>
            <a:spLocks xmlns:a="http://schemas.openxmlformats.org/drawingml/2006/main" noGrp="1"/>
          </p:cNvSpPr>
          <p:nvPr/>
        </p:nvSpPr>
        <p:spPr>
          <a:xfrm xmlns:a="http://schemas.openxmlformats.org/drawingml/2006/main">
            <a:off x="2114550" y="27813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0DFF2"/>
                </a:solidFill>
              </a:defRPr>
            </a:pPr>
            <a:r>
              <a:rPr sz="1950" b="1">
                <a:solidFill>
                  <a:srgbClr val="10DFF2"/>
                </a:solidFill>
              </a:rPr>
              <a:t>→</a:t>
            </a:r>
          </a:p>
        </p:txBody>
      </p:sp>
      <p:sp>
        <p:nvSpPr>
          <p:cNvPr id="37" name="">
            <a:extLst xmlns:a="http://schemas.openxmlformats.org/drawingml/2006/main">
              <a:ext uri="{FF2B5EF4-FFF2-40B4-BE49-F238E27FC236}">
                <a16:creationId xmlns:a16="http://schemas.microsoft.com/office/drawing/2014/main" id="{543B81B3-FBE2-4ABE-9F0B-4F8F059D6909}"/>
              </a:ext>
            </a:extLst>
          </p:cNvPr>
          <p:cNvSpPr>
            <a:spLocks xmlns:a="http://schemas.openxmlformats.org/drawingml/2006/main" noGrp="1"/>
          </p:cNvSpPr>
          <p:nvPr/>
        </p:nvSpPr>
        <p:spPr>
          <a:xfrm xmlns:a="http://schemas.openxmlformats.org/drawingml/2006/main">
            <a:off x="3562350" y="3000375"/>
            <a:ext cx="876300" cy="2857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B45BA8D-F718-47FA-9E55-163364E284D9}"/>
              </a:ext>
            </a:extLst>
          </p:cNvPr>
          <p:cNvSpPr>
            <a:spLocks xmlns:a="http://schemas.openxmlformats.org/drawingml/2006/main" noGrp="1"/>
          </p:cNvSpPr>
          <p:nvPr/>
        </p:nvSpPr>
        <p:spPr>
          <a:xfrm xmlns:a="http://schemas.openxmlformats.org/drawingml/2006/main">
            <a:off x="4000500" y="27813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0DFF2"/>
                </a:solidFill>
              </a:defRPr>
            </a:pPr>
            <a:r>
              <a:rPr sz="1950" b="1">
                <a:solidFill>
                  <a:srgbClr val="10DFF2"/>
                </a:solidFill>
              </a:rPr>
              <a:t>→</a:t>
            </a:r>
          </a:p>
        </p:txBody>
      </p:sp>
      <p:sp>
        <p:nvSpPr>
          <p:cNvPr id="39" name="">
            <a:extLst xmlns:a="http://schemas.openxmlformats.org/drawingml/2006/main">
              <a:ext uri="{FF2B5EF4-FFF2-40B4-BE49-F238E27FC236}">
                <a16:creationId xmlns:a16="http://schemas.microsoft.com/office/drawing/2014/main" id="{017CD316-1BD6-4FC8-BF1A-AC6E19020A53}"/>
              </a:ext>
            </a:extLst>
          </p:cNvPr>
          <p:cNvSpPr>
            <a:spLocks xmlns:a="http://schemas.openxmlformats.org/drawingml/2006/main" noGrp="1"/>
          </p:cNvSpPr>
          <p:nvPr/>
        </p:nvSpPr>
        <p:spPr>
          <a:xfrm xmlns:a="http://schemas.openxmlformats.org/drawingml/2006/main">
            <a:off x="5448300" y="3000375"/>
            <a:ext cx="876300" cy="2857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6CDF8A2-206B-4ADA-847B-B204CD6A80D3}"/>
              </a:ext>
            </a:extLst>
          </p:cNvPr>
          <p:cNvSpPr>
            <a:spLocks xmlns:a="http://schemas.openxmlformats.org/drawingml/2006/main" noGrp="1"/>
          </p:cNvSpPr>
          <p:nvPr/>
        </p:nvSpPr>
        <p:spPr>
          <a:xfrm xmlns:a="http://schemas.openxmlformats.org/drawingml/2006/main">
            <a:off x="5886450" y="27813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0DFF2"/>
                </a:solidFill>
              </a:defRPr>
            </a:pPr>
            <a:r>
              <a:rPr sz="1950" b="1">
                <a:solidFill>
                  <a:srgbClr val="10DFF2"/>
                </a:solidFill>
              </a:rPr>
              <a:t>→</a:t>
            </a:r>
          </a:p>
        </p:txBody>
      </p:sp>
      <p:sp>
        <p:nvSpPr>
          <p:cNvPr id="41" name="">
            <a:extLst xmlns:a="http://schemas.openxmlformats.org/drawingml/2006/main">
              <a:ext uri="{FF2B5EF4-FFF2-40B4-BE49-F238E27FC236}">
                <a16:creationId xmlns:a16="http://schemas.microsoft.com/office/drawing/2014/main" id="{41DA791C-0A78-4B3B-8F0D-F2F26BB03CD2}"/>
              </a:ext>
            </a:extLst>
          </p:cNvPr>
          <p:cNvSpPr>
            <a:spLocks xmlns:a="http://schemas.openxmlformats.org/drawingml/2006/main" noGrp="1"/>
          </p:cNvSpPr>
          <p:nvPr/>
        </p:nvSpPr>
        <p:spPr>
          <a:xfrm xmlns:a="http://schemas.openxmlformats.org/drawingml/2006/main">
            <a:off x="7334250" y="3000375"/>
            <a:ext cx="876300" cy="2857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3D4C687-9949-4A6A-9BA8-08484BD3141B}"/>
              </a:ext>
            </a:extLst>
          </p:cNvPr>
          <p:cNvSpPr>
            <a:spLocks xmlns:a="http://schemas.openxmlformats.org/drawingml/2006/main" noGrp="1"/>
          </p:cNvSpPr>
          <p:nvPr/>
        </p:nvSpPr>
        <p:spPr>
          <a:xfrm xmlns:a="http://schemas.openxmlformats.org/drawingml/2006/main">
            <a:off x="7772400" y="27813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0DFF2"/>
                </a:solidFill>
              </a:defRPr>
            </a:pPr>
            <a:r>
              <a:rPr sz="1950" b="1">
                <a:solidFill>
                  <a:srgbClr val="10DFF2"/>
                </a:solidFill>
              </a:rPr>
              <a:t>→</a:t>
            </a:r>
          </a:p>
        </p:txBody>
      </p:sp>
      <p:sp>
        <p:nvSpPr>
          <p:cNvPr id="43" name="">
            <a:extLst xmlns:a="http://schemas.openxmlformats.org/drawingml/2006/main">
              <a:ext uri="{FF2B5EF4-FFF2-40B4-BE49-F238E27FC236}">
                <a16:creationId xmlns:a16="http://schemas.microsoft.com/office/drawing/2014/main" id="{F431F538-87A7-41D4-969C-8D447A1CD8FF}"/>
              </a:ext>
            </a:extLst>
          </p:cNvPr>
          <p:cNvSpPr>
            <a:spLocks xmlns:a="http://schemas.openxmlformats.org/drawingml/2006/main" noGrp="1"/>
          </p:cNvSpPr>
          <p:nvPr/>
        </p:nvSpPr>
        <p:spPr>
          <a:xfrm xmlns:a="http://schemas.openxmlformats.org/drawingml/2006/main">
            <a:off x="9220200" y="3000375"/>
            <a:ext cx="876300" cy="2857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6319B7FF-8848-4444-8537-0C14D1D1285E}"/>
              </a:ext>
            </a:extLst>
          </p:cNvPr>
          <p:cNvSpPr>
            <a:spLocks xmlns:a="http://schemas.openxmlformats.org/drawingml/2006/main" noGrp="1"/>
          </p:cNvSpPr>
          <p:nvPr/>
        </p:nvSpPr>
        <p:spPr>
          <a:xfrm xmlns:a="http://schemas.openxmlformats.org/drawingml/2006/main">
            <a:off x="9658350" y="27813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0DFF2"/>
                </a:solidFill>
              </a:defRPr>
            </a:pPr>
            <a:r>
              <a:rPr sz="1950" b="1">
                <a:solidFill>
                  <a:srgbClr val="10DFF2"/>
                </a:solidFill>
              </a:rPr>
              <a:t>→</a:t>
            </a:r>
          </a:p>
        </p:txBody>
      </p:sp>
      <p:sp>
        <p:nvSpPr>
          <p:cNvPr id="45" name="">
            <a:extLst xmlns:a="http://schemas.openxmlformats.org/drawingml/2006/main">
              <a:ext uri="{FF2B5EF4-FFF2-40B4-BE49-F238E27FC236}">
                <a16:creationId xmlns:a16="http://schemas.microsoft.com/office/drawing/2014/main" id="{4A9A3B98-DE69-4490-8293-A3B571BEADD4}"/>
              </a:ext>
            </a:extLst>
          </p:cNvPr>
          <p:cNvSpPr>
            <a:spLocks xmlns:a="http://schemas.openxmlformats.org/drawingml/2006/main" noGrp="1"/>
          </p:cNvSpPr>
          <p:nvPr/>
        </p:nvSpPr>
        <p:spPr>
          <a:xfrm xmlns:a="http://schemas.openxmlformats.org/drawingml/2006/main">
            <a:off x="533400" y="2324100"/>
            <a:ext cx="1485900" cy="1428750"/>
          </a:xfrm>
          <a:prstGeom xmlns:a="http://schemas.openxmlformats.org/drawingml/2006/main" prst="roundRect">
            <a:avLst>
              <a:gd name="adj" fmla="val 8000"/>
            </a:avLst>
          </a:prstGeom>
          <a:solidFill xmlns:a="http://schemas.openxmlformats.org/drawingml/2006/main">
            <a:srgbClr val="081425"/>
          </a:solidFill>
          <a:ln xmlns:a="http://schemas.openxmlformats.org/drawingml/2006/main" w="9525">
            <a:solidFill>
              <a:srgbClr val="193452"/>
            </a:solidFill>
            <a:prstDash val="solid"/>
          </a:ln>
        </p:spPr>
      </p:sp>
      <p:sp>
        <p:nvSpPr>
          <p:cNvPr id="46" name="">
            <a:extLst xmlns:a="http://schemas.openxmlformats.org/drawingml/2006/main">
              <a:ext uri="{FF2B5EF4-FFF2-40B4-BE49-F238E27FC236}">
                <a16:creationId xmlns:a16="http://schemas.microsoft.com/office/drawing/2014/main" id="{A5161184-5136-47F2-B29D-5D7F375EC8CD}"/>
              </a:ext>
            </a:extLst>
          </p:cNvPr>
          <p:cNvSpPr>
            <a:spLocks xmlns:a="http://schemas.openxmlformats.org/drawingml/2006/main" noGrp="1"/>
          </p:cNvSpPr>
          <p:nvPr/>
        </p:nvSpPr>
        <p:spPr>
          <a:xfrm xmlns:a="http://schemas.openxmlformats.org/drawingml/2006/main">
            <a:off x="704850" y="24765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01</a:t>
            </a:r>
          </a:p>
        </p:txBody>
      </p:sp>
      <p:sp>
        <p:nvSpPr>
          <p:cNvPr id="47" name="">
            <a:extLst xmlns:a="http://schemas.openxmlformats.org/drawingml/2006/main">
              <a:ext uri="{FF2B5EF4-FFF2-40B4-BE49-F238E27FC236}">
                <a16:creationId xmlns:a16="http://schemas.microsoft.com/office/drawing/2014/main" id="{CBFA1F9F-6B22-43C6-A279-BF9A364BDF2C}"/>
              </a:ext>
            </a:extLst>
          </p:cNvPr>
          <p:cNvSpPr>
            <a:spLocks xmlns:a="http://schemas.openxmlformats.org/drawingml/2006/main" noGrp="1"/>
          </p:cNvSpPr>
          <p:nvPr/>
        </p:nvSpPr>
        <p:spPr>
          <a:xfrm xmlns:a="http://schemas.openxmlformats.org/drawingml/2006/main">
            <a:off x="704850" y="27813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4F8FF"/>
                </a:solidFill>
              </a:defRPr>
            </a:pPr>
            <a:r>
              <a:rPr sz="1575" b="1">
                <a:solidFill>
                  <a:srgbClr val="F4F8FF"/>
                </a:solidFill>
              </a:rPr>
              <a:t>Describe</a:t>
            </a:r>
          </a:p>
        </p:txBody>
      </p:sp>
      <p:sp>
        <p:nvSpPr>
          <p:cNvPr id="48" name="">
            <a:extLst xmlns:a="http://schemas.openxmlformats.org/drawingml/2006/main">
              <a:ext uri="{FF2B5EF4-FFF2-40B4-BE49-F238E27FC236}">
                <a16:creationId xmlns:a16="http://schemas.microsoft.com/office/drawing/2014/main" id="{AD3A3390-FD4F-4BAE-AEAE-48533E7B27C2}"/>
              </a:ext>
            </a:extLst>
          </p:cNvPr>
          <p:cNvSpPr>
            <a:spLocks xmlns:a="http://schemas.openxmlformats.org/drawingml/2006/main" noGrp="1"/>
          </p:cNvSpPr>
          <p:nvPr/>
        </p:nvSpPr>
        <p:spPr>
          <a:xfrm xmlns:a="http://schemas.openxmlformats.org/drawingml/2006/main">
            <a:off x="704850" y="3162300"/>
            <a:ext cx="1162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A9B7CC"/>
                </a:solidFill>
              </a:defRPr>
            </a:pPr>
            <a:r>
              <a:rPr sz="1125" b="0">
                <a:solidFill>
                  <a:srgbClr val="A9B7CC"/>
                </a:solidFill>
              </a:rPr>
              <a:t>Plain-language rules</a:t>
            </a:r>
          </a:p>
        </p:txBody>
      </p:sp>
      <p:sp>
        <p:nvSpPr>
          <p:cNvPr id="49" name="">
            <a:extLst xmlns:a="http://schemas.openxmlformats.org/drawingml/2006/main">
              <a:ext uri="{FF2B5EF4-FFF2-40B4-BE49-F238E27FC236}">
                <a16:creationId xmlns:a16="http://schemas.microsoft.com/office/drawing/2014/main" id="{C6C1AFFD-7B28-4717-8982-C54E16AFFED3}"/>
              </a:ext>
            </a:extLst>
          </p:cNvPr>
          <p:cNvSpPr>
            <a:spLocks xmlns:a="http://schemas.openxmlformats.org/drawingml/2006/main" noGrp="1"/>
          </p:cNvSpPr>
          <p:nvPr/>
        </p:nvSpPr>
        <p:spPr>
          <a:xfrm xmlns:a="http://schemas.openxmlformats.org/drawingml/2006/main">
            <a:off x="2419350" y="2324100"/>
            <a:ext cx="1485900" cy="1428750"/>
          </a:xfrm>
          <a:prstGeom xmlns:a="http://schemas.openxmlformats.org/drawingml/2006/main" prst="roundRect">
            <a:avLst>
              <a:gd name="adj" fmla="val 8000"/>
            </a:avLst>
          </a:prstGeom>
          <a:solidFill xmlns:a="http://schemas.openxmlformats.org/drawingml/2006/main">
            <a:srgbClr val="081425"/>
          </a:solidFill>
          <a:ln xmlns:a="http://schemas.openxmlformats.org/drawingml/2006/main" w="9525">
            <a:solidFill>
              <a:srgbClr val="193452"/>
            </a:solidFill>
            <a:prstDash val="solid"/>
          </a:ln>
        </p:spPr>
      </p:sp>
      <p:sp>
        <p:nvSpPr>
          <p:cNvPr id="50" name="">
            <a:extLst xmlns:a="http://schemas.openxmlformats.org/drawingml/2006/main">
              <a:ext uri="{FF2B5EF4-FFF2-40B4-BE49-F238E27FC236}">
                <a16:creationId xmlns:a16="http://schemas.microsoft.com/office/drawing/2014/main" id="{13FBB722-CBCC-4CD3-975A-E6FF094E40D2}"/>
              </a:ext>
            </a:extLst>
          </p:cNvPr>
          <p:cNvSpPr>
            <a:spLocks xmlns:a="http://schemas.openxmlformats.org/drawingml/2006/main" noGrp="1"/>
          </p:cNvSpPr>
          <p:nvPr/>
        </p:nvSpPr>
        <p:spPr>
          <a:xfrm xmlns:a="http://schemas.openxmlformats.org/drawingml/2006/main">
            <a:off x="2590800" y="24765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02</a:t>
            </a:r>
          </a:p>
        </p:txBody>
      </p:sp>
      <p:sp>
        <p:nvSpPr>
          <p:cNvPr id="51" name="">
            <a:extLst xmlns:a="http://schemas.openxmlformats.org/drawingml/2006/main">
              <a:ext uri="{FF2B5EF4-FFF2-40B4-BE49-F238E27FC236}">
                <a16:creationId xmlns:a16="http://schemas.microsoft.com/office/drawing/2014/main" id="{77F60DCD-8F1E-4F1B-A5CC-706D2A32EB7F}"/>
              </a:ext>
            </a:extLst>
          </p:cNvPr>
          <p:cNvSpPr>
            <a:spLocks xmlns:a="http://schemas.openxmlformats.org/drawingml/2006/main" noGrp="1"/>
          </p:cNvSpPr>
          <p:nvPr/>
        </p:nvSpPr>
        <p:spPr>
          <a:xfrm xmlns:a="http://schemas.openxmlformats.org/drawingml/2006/main">
            <a:off x="2590800" y="27813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4F8FF"/>
                </a:solidFill>
              </a:defRPr>
            </a:pPr>
            <a:r>
              <a:rPr sz="1575" b="1">
                <a:solidFill>
                  <a:srgbClr val="F4F8FF"/>
                </a:solidFill>
              </a:rPr>
              <a:t>Specify</a:t>
            </a:r>
          </a:p>
        </p:txBody>
      </p:sp>
      <p:sp>
        <p:nvSpPr>
          <p:cNvPr id="52" name="">
            <a:extLst xmlns:a="http://schemas.openxmlformats.org/drawingml/2006/main">
              <a:ext uri="{FF2B5EF4-FFF2-40B4-BE49-F238E27FC236}">
                <a16:creationId xmlns:a16="http://schemas.microsoft.com/office/drawing/2014/main" id="{EC2416D6-9B7D-49DF-981B-00A171C41F2B}"/>
              </a:ext>
            </a:extLst>
          </p:cNvPr>
          <p:cNvSpPr>
            <a:spLocks xmlns:a="http://schemas.openxmlformats.org/drawingml/2006/main" noGrp="1"/>
          </p:cNvSpPr>
          <p:nvPr/>
        </p:nvSpPr>
        <p:spPr>
          <a:xfrm xmlns:a="http://schemas.openxmlformats.org/drawingml/2006/main">
            <a:off x="2590800" y="3162300"/>
            <a:ext cx="1162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A9B7CC"/>
                </a:solidFill>
              </a:defRPr>
            </a:pPr>
            <a:r>
              <a:rPr sz="1125" b="0">
                <a:solidFill>
                  <a:srgbClr val="A9B7CC"/>
                </a:solidFill>
              </a:rPr>
              <a:t>Structured strategy</a:t>
            </a:r>
          </a:p>
        </p:txBody>
      </p:sp>
      <p:sp>
        <p:nvSpPr>
          <p:cNvPr id="53" name="">
            <a:extLst xmlns:a="http://schemas.openxmlformats.org/drawingml/2006/main">
              <a:ext uri="{FF2B5EF4-FFF2-40B4-BE49-F238E27FC236}">
                <a16:creationId xmlns:a16="http://schemas.microsoft.com/office/drawing/2014/main" id="{2EAB3452-A25F-46BE-AA21-B601496240BA}"/>
              </a:ext>
            </a:extLst>
          </p:cNvPr>
          <p:cNvSpPr>
            <a:spLocks xmlns:a="http://schemas.openxmlformats.org/drawingml/2006/main" noGrp="1"/>
          </p:cNvSpPr>
          <p:nvPr/>
        </p:nvSpPr>
        <p:spPr>
          <a:xfrm xmlns:a="http://schemas.openxmlformats.org/drawingml/2006/main">
            <a:off x="4305300" y="2324100"/>
            <a:ext cx="1485900" cy="1428750"/>
          </a:xfrm>
          <a:prstGeom xmlns:a="http://schemas.openxmlformats.org/drawingml/2006/main" prst="roundRect">
            <a:avLst>
              <a:gd name="adj" fmla="val 8000"/>
            </a:avLst>
          </a:prstGeom>
          <a:solidFill xmlns:a="http://schemas.openxmlformats.org/drawingml/2006/main">
            <a:srgbClr val="081425"/>
          </a:solidFill>
          <a:ln xmlns:a="http://schemas.openxmlformats.org/drawingml/2006/main" w="9525">
            <a:solidFill>
              <a:srgbClr val="193452"/>
            </a:solidFill>
            <a:prstDash val="solid"/>
          </a:ln>
        </p:spPr>
      </p:sp>
      <p:sp>
        <p:nvSpPr>
          <p:cNvPr id="54" name="">
            <a:extLst xmlns:a="http://schemas.openxmlformats.org/drawingml/2006/main">
              <a:ext uri="{FF2B5EF4-FFF2-40B4-BE49-F238E27FC236}">
                <a16:creationId xmlns:a16="http://schemas.microsoft.com/office/drawing/2014/main" id="{E79B1EE4-96FF-4CE0-8894-F381C7537654}"/>
              </a:ext>
            </a:extLst>
          </p:cNvPr>
          <p:cNvSpPr>
            <a:spLocks xmlns:a="http://schemas.openxmlformats.org/drawingml/2006/main" noGrp="1"/>
          </p:cNvSpPr>
          <p:nvPr/>
        </p:nvSpPr>
        <p:spPr>
          <a:xfrm xmlns:a="http://schemas.openxmlformats.org/drawingml/2006/main">
            <a:off x="4476750" y="24765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03</a:t>
            </a:r>
          </a:p>
        </p:txBody>
      </p:sp>
      <p:sp>
        <p:nvSpPr>
          <p:cNvPr id="55" name="">
            <a:extLst xmlns:a="http://schemas.openxmlformats.org/drawingml/2006/main">
              <a:ext uri="{FF2B5EF4-FFF2-40B4-BE49-F238E27FC236}">
                <a16:creationId xmlns:a16="http://schemas.microsoft.com/office/drawing/2014/main" id="{57D676E8-E18E-4B41-A56F-392FD953576E}"/>
              </a:ext>
            </a:extLst>
          </p:cNvPr>
          <p:cNvSpPr>
            <a:spLocks xmlns:a="http://schemas.openxmlformats.org/drawingml/2006/main" noGrp="1"/>
          </p:cNvSpPr>
          <p:nvPr/>
        </p:nvSpPr>
        <p:spPr>
          <a:xfrm xmlns:a="http://schemas.openxmlformats.org/drawingml/2006/main">
            <a:off x="4476750" y="27813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4F8FF"/>
                </a:solidFill>
              </a:defRPr>
            </a:pPr>
            <a:r>
              <a:rPr sz="1575" b="1">
                <a:solidFill>
                  <a:srgbClr val="F4F8FF"/>
                </a:solidFill>
              </a:rPr>
              <a:t>Generate</a:t>
            </a:r>
          </a:p>
        </p:txBody>
      </p:sp>
      <p:sp>
        <p:nvSpPr>
          <p:cNvPr id="56" name="">
            <a:extLst xmlns:a="http://schemas.openxmlformats.org/drawingml/2006/main">
              <a:ext uri="{FF2B5EF4-FFF2-40B4-BE49-F238E27FC236}">
                <a16:creationId xmlns:a16="http://schemas.microsoft.com/office/drawing/2014/main" id="{25C17172-91E2-4139-84CA-BFD39CAE47FC}"/>
              </a:ext>
            </a:extLst>
          </p:cNvPr>
          <p:cNvSpPr>
            <a:spLocks xmlns:a="http://schemas.openxmlformats.org/drawingml/2006/main" noGrp="1"/>
          </p:cNvSpPr>
          <p:nvPr/>
        </p:nvSpPr>
        <p:spPr>
          <a:xfrm xmlns:a="http://schemas.openxmlformats.org/drawingml/2006/main">
            <a:off x="4476750" y="3162300"/>
            <a:ext cx="1162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A9B7CC"/>
                </a:solidFill>
              </a:defRPr>
            </a:pPr>
            <a:r>
              <a:rPr sz="1125" b="0">
                <a:solidFill>
                  <a:srgbClr val="A9B7CC"/>
                </a:solidFill>
              </a:rPr>
              <a:t>MQL5 or Pine</a:t>
            </a:r>
          </a:p>
        </p:txBody>
      </p:sp>
      <p:sp>
        <p:nvSpPr>
          <p:cNvPr id="57" name="">
            <a:extLst xmlns:a="http://schemas.openxmlformats.org/drawingml/2006/main">
              <a:ext uri="{FF2B5EF4-FFF2-40B4-BE49-F238E27FC236}">
                <a16:creationId xmlns:a16="http://schemas.microsoft.com/office/drawing/2014/main" id="{9C1928B8-41BC-4EBE-A40A-2CC48419E7A8}"/>
              </a:ext>
            </a:extLst>
          </p:cNvPr>
          <p:cNvSpPr>
            <a:spLocks xmlns:a="http://schemas.openxmlformats.org/drawingml/2006/main" noGrp="1"/>
          </p:cNvSpPr>
          <p:nvPr/>
        </p:nvSpPr>
        <p:spPr>
          <a:xfrm xmlns:a="http://schemas.openxmlformats.org/drawingml/2006/main">
            <a:off x="6191250" y="2324100"/>
            <a:ext cx="1485900" cy="1428750"/>
          </a:xfrm>
          <a:prstGeom xmlns:a="http://schemas.openxmlformats.org/drawingml/2006/main" prst="roundRect">
            <a:avLst>
              <a:gd name="adj" fmla="val 8000"/>
            </a:avLst>
          </a:prstGeom>
          <a:solidFill xmlns:a="http://schemas.openxmlformats.org/drawingml/2006/main">
            <a:srgbClr val="081425"/>
          </a:solidFill>
          <a:ln xmlns:a="http://schemas.openxmlformats.org/drawingml/2006/main" w="9525">
            <a:solidFill>
              <a:srgbClr val="193452"/>
            </a:solidFill>
            <a:prstDash val="solid"/>
          </a:ln>
        </p:spPr>
      </p:sp>
      <p:sp>
        <p:nvSpPr>
          <p:cNvPr id="58" name="">
            <a:extLst xmlns:a="http://schemas.openxmlformats.org/drawingml/2006/main">
              <a:ext uri="{FF2B5EF4-FFF2-40B4-BE49-F238E27FC236}">
                <a16:creationId xmlns:a16="http://schemas.microsoft.com/office/drawing/2014/main" id="{AAA43816-84E6-41A9-B50A-AF4D7E962635}"/>
              </a:ext>
            </a:extLst>
          </p:cNvPr>
          <p:cNvSpPr>
            <a:spLocks xmlns:a="http://schemas.openxmlformats.org/drawingml/2006/main" noGrp="1"/>
          </p:cNvSpPr>
          <p:nvPr/>
        </p:nvSpPr>
        <p:spPr>
          <a:xfrm xmlns:a="http://schemas.openxmlformats.org/drawingml/2006/main">
            <a:off x="6362700" y="24765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04</a:t>
            </a:r>
          </a:p>
        </p:txBody>
      </p:sp>
      <p:sp>
        <p:nvSpPr>
          <p:cNvPr id="59" name="">
            <a:extLst xmlns:a="http://schemas.openxmlformats.org/drawingml/2006/main">
              <a:ext uri="{FF2B5EF4-FFF2-40B4-BE49-F238E27FC236}">
                <a16:creationId xmlns:a16="http://schemas.microsoft.com/office/drawing/2014/main" id="{725C6F01-57DB-4C95-85AC-F8A0EAE2DC2C}"/>
              </a:ext>
            </a:extLst>
          </p:cNvPr>
          <p:cNvSpPr>
            <a:spLocks xmlns:a="http://schemas.openxmlformats.org/drawingml/2006/main" noGrp="1"/>
          </p:cNvSpPr>
          <p:nvPr/>
        </p:nvSpPr>
        <p:spPr>
          <a:xfrm xmlns:a="http://schemas.openxmlformats.org/drawingml/2006/main">
            <a:off x="6362700" y="27813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4F8FF"/>
                </a:solidFill>
              </a:defRPr>
            </a:pPr>
            <a:r>
              <a:rPr sz="1575" b="1">
                <a:solidFill>
                  <a:srgbClr val="F4F8FF"/>
                </a:solidFill>
              </a:rPr>
              <a:t>Validate</a:t>
            </a:r>
          </a:p>
        </p:txBody>
      </p:sp>
      <p:sp>
        <p:nvSpPr>
          <p:cNvPr id="60" name="">
            <a:extLst xmlns:a="http://schemas.openxmlformats.org/drawingml/2006/main">
              <a:ext uri="{FF2B5EF4-FFF2-40B4-BE49-F238E27FC236}">
                <a16:creationId xmlns:a16="http://schemas.microsoft.com/office/drawing/2014/main" id="{3716A578-E4C5-4D9C-BA0D-C4A7E72326E1}"/>
              </a:ext>
            </a:extLst>
          </p:cNvPr>
          <p:cNvSpPr>
            <a:spLocks xmlns:a="http://schemas.openxmlformats.org/drawingml/2006/main" noGrp="1"/>
          </p:cNvSpPr>
          <p:nvPr/>
        </p:nvSpPr>
        <p:spPr>
          <a:xfrm xmlns:a="http://schemas.openxmlformats.org/drawingml/2006/main">
            <a:off x="6362700" y="3162300"/>
            <a:ext cx="1162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A9B7CC"/>
                </a:solidFill>
              </a:defRPr>
            </a:pPr>
            <a:r>
              <a:rPr sz="1125" b="0">
                <a:solidFill>
                  <a:srgbClr val="A9B7CC"/>
                </a:solidFill>
              </a:rPr>
              <a:t>Checks + compiler</a:t>
            </a:r>
          </a:p>
        </p:txBody>
      </p:sp>
      <p:sp>
        <p:nvSpPr>
          <p:cNvPr id="61" name="">
            <a:extLst xmlns:a="http://schemas.openxmlformats.org/drawingml/2006/main">
              <a:ext uri="{FF2B5EF4-FFF2-40B4-BE49-F238E27FC236}">
                <a16:creationId xmlns:a16="http://schemas.microsoft.com/office/drawing/2014/main" id="{59D0A348-E06B-4C50-AD8F-7BB629FC4E71}"/>
              </a:ext>
            </a:extLst>
          </p:cNvPr>
          <p:cNvSpPr>
            <a:spLocks xmlns:a="http://schemas.openxmlformats.org/drawingml/2006/main" noGrp="1"/>
          </p:cNvSpPr>
          <p:nvPr/>
        </p:nvSpPr>
        <p:spPr>
          <a:xfrm xmlns:a="http://schemas.openxmlformats.org/drawingml/2006/main">
            <a:off x="8077200" y="2324100"/>
            <a:ext cx="1485900" cy="1428750"/>
          </a:xfrm>
          <a:prstGeom xmlns:a="http://schemas.openxmlformats.org/drawingml/2006/main" prst="roundRect">
            <a:avLst>
              <a:gd name="adj" fmla="val 8000"/>
            </a:avLst>
          </a:prstGeom>
          <a:solidFill xmlns:a="http://schemas.openxmlformats.org/drawingml/2006/main">
            <a:srgbClr val="081425"/>
          </a:solidFill>
          <a:ln xmlns:a="http://schemas.openxmlformats.org/drawingml/2006/main" w="9525">
            <a:solidFill>
              <a:srgbClr val="A855F7"/>
            </a:solidFill>
            <a:prstDash val="solid"/>
          </a:ln>
        </p:spPr>
      </p:sp>
      <p:sp>
        <p:nvSpPr>
          <p:cNvPr id="62" name="">
            <a:extLst xmlns:a="http://schemas.openxmlformats.org/drawingml/2006/main">
              <a:ext uri="{FF2B5EF4-FFF2-40B4-BE49-F238E27FC236}">
                <a16:creationId xmlns:a16="http://schemas.microsoft.com/office/drawing/2014/main" id="{0321781C-4F11-4DFF-8880-6E73D61032BF}"/>
              </a:ext>
            </a:extLst>
          </p:cNvPr>
          <p:cNvSpPr>
            <a:spLocks xmlns:a="http://schemas.openxmlformats.org/drawingml/2006/main" noGrp="1"/>
          </p:cNvSpPr>
          <p:nvPr/>
        </p:nvSpPr>
        <p:spPr>
          <a:xfrm xmlns:a="http://schemas.openxmlformats.org/drawingml/2006/main">
            <a:off x="8248650" y="24765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855F7"/>
                </a:solidFill>
              </a:defRPr>
            </a:pPr>
            <a:r>
              <a:rPr sz="1050" b="1">
                <a:solidFill>
                  <a:srgbClr val="A855F7"/>
                </a:solidFill>
              </a:rPr>
              <a:t>05</a:t>
            </a:r>
          </a:p>
        </p:txBody>
      </p:sp>
      <p:sp>
        <p:nvSpPr>
          <p:cNvPr id="63" name="">
            <a:extLst xmlns:a="http://schemas.openxmlformats.org/drawingml/2006/main">
              <a:ext uri="{FF2B5EF4-FFF2-40B4-BE49-F238E27FC236}">
                <a16:creationId xmlns:a16="http://schemas.microsoft.com/office/drawing/2014/main" id="{E27513F8-D7DC-4622-B40D-2AFFBEF862B2}"/>
              </a:ext>
            </a:extLst>
          </p:cNvPr>
          <p:cNvSpPr>
            <a:spLocks xmlns:a="http://schemas.openxmlformats.org/drawingml/2006/main" noGrp="1"/>
          </p:cNvSpPr>
          <p:nvPr/>
        </p:nvSpPr>
        <p:spPr>
          <a:xfrm xmlns:a="http://schemas.openxmlformats.org/drawingml/2006/main">
            <a:off x="8248650" y="27813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4F8FF"/>
                </a:solidFill>
              </a:defRPr>
            </a:pPr>
            <a:r>
              <a:rPr sz="1575" b="1">
                <a:solidFill>
                  <a:srgbClr val="F4F8FF"/>
                </a:solidFill>
              </a:rPr>
              <a:t>Improve</a:t>
            </a:r>
          </a:p>
        </p:txBody>
      </p:sp>
      <p:sp>
        <p:nvSpPr>
          <p:cNvPr id="64" name="">
            <a:extLst xmlns:a="http://schemas.openxmlformats.org/drawingml/2006/main">
              <a:ext uri="{FF2B5EF4-FFF2-40B4-BE49-F238E27FC236}">
                <a16:creationId xmlns:a16="http://schemas.microsoft.com/office/drawing/2014/main" id="{045B0C3F-F784-46DA-B87E-E467162E48FE}"/>
              </a:ext>
            </a:extLst>
          </p:cNvPr>
          <p:cNvSpPr>
            <a:spLocks xmlns:a="http://schemas.openxmlformats.org/drawingml/2006/main" noGrp="1"/>
          </p:cNvSpPr>
          <p:nvPr/>
        </p:nvSpPr>
        <p:spPr>
          <a:xfrm xmlns:a="http://schemas.openxmlformats.org/drawingml/2006/main">
            <a:off x="8248650" y="3162300"/>
            <a:ext cx="1162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A9B7CC"/>
                </a:solidFill>
              </a:defRPr>
            </a:pPr>
            <a:r>
              <a:rPr sz="1125" b="0">
                <a:solidFill>
                  <a:srgbClr val="A9B7CC"/>
                </a:solidFill>
              </a:rPr>
              <a:t>Context-aware chat</a:t>
            </a:r>
          </a:p>
        </p:txBody>
      </p:sp>
      <p:sp>
        <p:nvSpPr>
          <p:cNvPr id="65" name="">
            <a:extLst xmlns:a="http://schemas.openxmlformats.org/drawingml/2006/main">
              <a:ext uri="{FF2B5EF4-FFF2-40B4-BE49-F238E27FC236}">
                <a16:creationId xmlns:a16="http://schemas.microsoft.com/office/drawing/2014/main" id="{B67E1AFA-6B6B-4536-8B7A-3203A153069E}"/>
              </a:ext>
            </a:extLst>
          </p:cNvPr>
          <p:cNvSpPr>
            <a:spLocks xmlns:a="http://schemas.openxmlformats.org/drawingml/2006/main" noGrp="1"/>
          </p:cNvSpPr>
          <p:nvPr/>
        </p:nvSpPr>
        <p:spPr>
          <a:xfrm xmlns:a="http://schemas.openxmlformats.org/drawingml/2006/main">
            <a:off x="9963150" y="2324100"/>
            <a:ext cx="1485900" cy="1428750"/>
          </a:xfrm>
          <a:prstGeom xmlns:a="http://schemas.openxmlformats.org/drawingml/2006/main" prst="roundRect">
            <a:avLst>
              <a:gd name="adj" fmla="val 8000"/>
            </a:avLst>
          </a:prstGeom>
          <a:solidFill xmlns:a="http://schemas.openxmlformats.org/drawingml/2006/main">
            <a:srgbClr val="081425"/>
          </a:solidFill>
          <a:ln xmlns:a="http://schemas.openxmlformats.org/drawingml/2006/main" w="9525">
            <a:solidFill>
              <a:srgbClr val="193452"/>
            </a:solidFill>
            <a:prstDash val="solid"/>
          </a:ln>
        </p:spPr>
      </p:sp>
      <p:sp>
        <p:nvSpPr>
          <p:cNvPr id="66" name="">
            <a:extLst xmlns:a="http://schemas.openxmlformats.org/drawingml/2006/main">
              <a:ext uri="{FF2B5EF4-FFF2-40B4-BE49-F238E27FC236}">
                <a16:creationId xmlns:a16="http://schemas.microsoft.com/office/drawing/2014/main" id="{E2A5D9B0-18D3-49AF-80A2-1B355AB3ABE6}"/>
              </a:ext>
            </a:extLst>
          </p:cNvPr>
          <p:cNvSpPr>
            <a:spLocks xmlns:a="http://schemas.openxmlformats.org/drawingml/2006/main" noGrp="1"/>
          </p:cNvSpPr>
          <p:nvPr/>
        </p:nvSpPr>
        <p:spPr>
          <a:xfrm xmlns:a="http://schemas.openxmlformats.org/drawingml/2006/main">
            <a:off x="10134600" y="247650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06</a:t>
            </a:r>
          </a:p>
        </p:txBody>
      </p:sp>
      <p:sp>
        <p:nvSpPr>
          <p:cNvPr id="67" name="">
            <a:extLst xmlns:a="http://schemas.openxmlformats.org/drawingml/2006/main">
              <a:ext uri="{FF2B5EF4-FFF2-40B4-BE49-F238E27FC236}">
                <a16:creationId xmlns:a16="http://schemas.microsoft.com/office/drawing/2014/main" id="{A158EF00-F367-46A0-BD64-C9C0FAA60CCB}"/>
              </a:ext>
            </a:extLst>
          </p:cNvPr>
          <p:cNvSpPr>
            <a:spLocks xmlns:a="http://schemas.openxmlformats.org/drawingml/2006/main" noGrp="1"/>
          </p:cNvSpPr>
          <p:nvPr/>
        </p:nvSpPr>
        <p:spPr>
          <a:xfrm xmlns:a="http://schemas.openxmlformats.org/drawingml/2006/main">
            <a:off x="10134600" y="27813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4F8FF"/>
                </a:solidFill>
              </a:defRPr>
            </a:pPr>
            <a:r>
              <a:rPr sz="1575" b="1">
                <a:solidFill>
                  <a:srgbClr val="F4F8FF"/>
                </a:solidFill>
              </a:rPr>
              <a:t>Distribute</a:t>
            </a:r>
          </a:p>
        </p:txBody>
      </p:sp>
      <p:sp>
        <p:nvSpPr>
          <p:cNvPr id="68" name="">
            <a:extLst xmlns:a="http://schemas.openxmlformats.org/drawingml/2006/main">
              <a:ext uri="{FF2B5EF4-FFF2-40B4-BE49-F238E27FC236}">
                <a16:creationId xmlns:a16="http://schemas.microsoft.com/office/drawing/2014/main" id="{CBDE2136-F527-435D-AC22-065BA822A351}"/>
              </a:ext>
            </a:extLst>
          </p:cNvPr>
          <p:cNvSpPr>
            <a:spLocks xmlns:a="http://schemas.openxmlformats.org/drawingml/2006/main" noGrp="1"/>
          </p:cNvSpPr>
          <p:nvPr/>
        </p:nvSpPr>
        <p:spPr>
          <a:xfrm xmlns:a="http://schemas.openxmlformats.org/drawingml/2006/main">
            <a:off x="10134600" y="3162300"/>
            <a:ext cx="1162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A9B7CC"/>
                </a:solidFill>
              </a:defRPr>
            </a:pPr>
            <a:r>
              <a:rPr sz="1125" b="0">
                <a:solidFill>
                  <a:srgbClr val="A9B7CC"/>
                </a:solidFill>
              </a:rPr>
              <a:t>Download or list</a:t>
            </a:r>
          </a:p>
        </p:txBody>
      </p:sp>
      <p:sp>
        <p:nvSpPr>
          <p:cNvPr id="69" name="">
            <a:extLst xmlns:a="http://schemas.openxmlformats.org/drawingml/2006/main">
              <a:ext uri="{FF2B5EF4-FFF2-40B4-BE49-F238E27FC236}">
                <a16:creationId xmlns:a16="http://schemas.microsoft.com/office/drawing/2014/main" id="{9B221005-52E0-4DB8-902A-0B7B5013FEC0}"/>
              </a:ext>
            </a:extLst>
          </p:cNvPr>
          <p:cNvSpPr>
            <a:spLocks xmlns:a="http://schemas.openxmlformats.org/drawingml/2006/main" noGrp="1"/>
          </p:cNvSpPr>
          <p:nvPr/>
        </p:nvSpPr>
        <p:spPr>
          <a:xfrm xmlns:a="http://schemas.openxmlformats.org/drawingml/2006/main">
            <a:off x="533400" y="4305300"/>
            <a:ext cx="11125200" cy="1543050"/>
          </a:xfrm>
          <a:prstGeom xmlns:a="http://schemas.openxmlformats.org/drawingml/2006/main" prst="roundRect">
            <a:avLst>
              <a:gd name="adj" fmla="val 7407"/>
            </a:avLst>
          </a:prstGeom>
          <a:solidFill xmlns:a="http://schemas.openxmlformats.org/drawingml/2006/main">
            <a:srgbClr val="0B1A2E"/>
          </a:solidFill>
          <a:ln xmlns:a="http://schemas.openxmlformats.org/drawingml/2006/main" w="9525">
            <a:solidFill>
              <a:srgbClr val="193452"/>
            </a:solidFill>
            <a:prstDash val="solid"/>
          </a:ln>
        </p:spPr>
      </p:sp>
      <p:sp>
        <p:nvSpPr>
          <p:cNvPr id="70" name="">
            <a:extLst xmlns:a="http://schemas.openxmlformats.org/drawingml/2006/main">
              <a:ext uri="{FF2B5EF4-FFF2-40B4-BE49-F238E27FC236}">
                <a16:creationId xmlns:a16="http://schemas.microsoft.com/office/drawing/2014/main" id="{6986BFDC-03C7-4EBC-A2D6-F5B569B60D51}"/>
              </a:ext>
            </a:extLst>
          </p:cNvPr>
          <p:cNvSpPr>
            <a:spLocks xmlns:a="http://schemas.openxmlformats.org/drawingml/2006/main" noGrp="1"/>
          </p:cNvSpPr>
          <p:nvPr/>
        </p:nvSpPr>
        <p:spPr>
          <a:xfrm xmlns:a="http://schemas.openxmlformats.org/drawingml/2006/main">
            <a:off x="762000" y="45148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OUTPUTS</a:t>
            </a:r>
          </a:p>
        </p:txBody>
      </p:sp>
      <p:sp>
        <p:nvSpPr>
          <p:cNvPr id="71" name="">
            <a:extLst xmlns:a="http://schemas.openxmlformats.org/drawingml/2006/main">
              <a:ext uri="{FF2B5EF4-FFF2-40B4-BE49-F238E27FC236}">
                <a16:creationId xmlns:a16="http://schemas.microsoft.com/office/drawing/2014/main" id="{AD08BB8E-F4DA-4405-80FD-1F73D403B8E7}"/>
              </a:ext>
            </a:extLst>
          </p:cNvPr>
          <p:cNvSpPr>
            <a:spLocks xmlns:a="http://schemas.openxmlformats.org/drawingml/2006/main" noGrp="1"/>
          </p:cNvSpPr>
          <p:nvPr/>
        </p:nvSpPr>
        <p:spPr>
          <a:xfrm xmlns:a="http://schemas.openxmlformats.org/drawingml/2006/main">
            <a:off x="762000" y="49339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4F8FF"/>
                </a:solidFill>
              </a:defRPr>
            </a:pPr>
            <a:r>
              <a:rPr sz="1650" b="1">
                <a:solidFill>
                  <a:srgbClr val="F4F8FF"/>
                </a:solidFill>
              </a:rPr>
              <a:t>MT5 Expert Advisors</a:t>
            </a:r>
          </a:p>
        </p:txBody>
      </p:sp>
      <p:sp>
        <p:nvSpPr>
          <p:cNvPr id="72" name="">
            <a:extLst xmlns:a="http://schemas.openxmlformats.org/drawingml/2006/main">
              <a:ext uri="{FF2B5EF4-FFF2-40B4-BE49-F238E27FC236}">
                <a16:creationId xmlns:a16="http://schemas.microsoft.com/office/drawing/2014/main" id="{49D8C78E-6D46-4FB3-9171-A18019D61C30}"/>
              </a:ext>
            </a:extLst>
          </p:cNvPr>
          <p:cNvSpPr>
            <a:spLocks xmlns:a="http://schemas.openxmlformats.org/drawingml/2006/main" noGrp="1"/>
          </p:cNvSpPr>
          <p:nvPr/>
        </p:nvSpPr>
        <p:spPr>
          <a:xfrm xmlns:a="http://schemas.openxmlformats.org/drawingml/2006/main">
            <a:off x="3429000" y="4933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4F8FF"/>
                </a:solidFill>
              </a:defRPr>
            </a:pPr>
            <a:r>
              <a:rPr sz="1650" b="1">
                <a:solidFill>
                  <a:srgbClr val="F4F8FF"/>
                </a:solidFill>
              </a:rPr>
              <a:t>MT5 Indicators</a:t>
            </a:r>
          </a:p>
        </p:txBody>
      </p:sp>
      <p:sp>
        <p:nvSpPr>
          <p:cNvPr id="73" name="">
            <a:extLst xmlns:a="http://schemas.openxmlformats.org/drawingml/2006/main">
              <a:ext uri="{FF2B5EF4-FFF2-40B4-BE49-F238E27FC236}">
                <a16:creationId xmlns:a16="http://schemas.microsoft.com/office/drawing/2014/main" id="{C61FC6CC-20F5-4E44-A451-4A69CFB9D306}"/>
              </a:ext>
            </a:extLst>
          </p:cNvPr>
          <p:cNvSpPr>
            <a:spLocks xmlns:a="http://schemas.openxmlformats.org/drawingml/2006/main" noGrp="1"/>
          </p:cNvSpPr>
          <p:nvPr/>
        </p:nvSpPr>
        <p:spPr>
          <a:xfrm xmlns:a="http://schemas.openxmlformats.org/drawingml/2006/main">
            <a:off x="5905500" y="4933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4F8FF"/>
                </a:solidFill>
              </a:defRPr>
            </a:pPr>
            <a:r>
              <a:rPr sz="1650" b="1">
                <a:solidFill>
                  <a:srgbClr val="F4F8FF"/>
                </a:solidFill>
              </a:rPr>
              <a:t>Pine Strategies</a:t>
            </a:r>
          </a:p>
        </p:txBody>
      </p:sp>
      <p:sp>
        <p:nvSpPr>
          <p:cNvPr id="74" name="">
            <a:extLst xmlns:a="http://schemas.openxmlformats.org/drawingml/2006/main">
              <a:ext uri="{FF2B5EF4-FFF2-40B4-BE49-F238E27FC236}">
                <a16:creationId xmlns:a16="http://schemas.microsoft.com/office/drawing/2014/main" id="{6FFD424D-3942-4D28-B5AC-577FFFD91B34}"/>
              </a:ext>
            </a:extLst>
          </p:cNvPr>
          <p:cNvSpPr>
            <a:spLocks xmlns:a="http://schemas.openxmlformats.org/drawingml/2006/main" noGrp="1"/>
          </p:cNvSpPr>
          <p:nvPr/>
        </p:nvSpPr>
        <p:spPr>
          <a:xfrm xmlns:a="http://schemas.openxmlformats.org/drawingml/2006/main">
            <a:off x="8382000" y="4933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4F8FF"/>
                </a:solidFill>
              </a:defRPr>
            </a:pPr>
            <a:r>
              <a:rPr sz="1650" b="1">
                <a:solidFill>
                  <a:srgbClr val="F4F8FF"/>
                </a:solidFill>
              </a:rPr>
              <a:t>Pine Indicators</a:t>
            </a:r>
          </a:p>
        </p:txBody>
      </p:sp>
      <p:sp>
        <p:nvSpPr>
          <p:cNvPr id="75" name="">
            <a:extLst xmlns:a="http://schemas.openxmlformats.org/drawingml/2006/main">
              <a:ext uri="{FF2B5EF4-FFF2-40B4-BE49-F238E27FC236}">
                <a16:creationId xmlns:a16="http://schemas.microsoft.com/office/drawing/2014/main" id="{2CD8C381-0456-4016-A1B0-4B9A0E031636}"/>
              </a:ext>
            </a:extLst>
          </p:cNvPr>
          <p:cNvSpPr>
            <a:spLocks xmlns:a="http://schemas.openxmlformats.org/drawingml/2006/main" noGrp="1"/>
          </p:cNvSpPr>
          <p:nvPr/>
        </p:nvSpPr>
        <p:spPr>
          <a:xfrm xmlns:a="http://schemas.openxmlformats.org/drawingml/2006/main">
            <a:off x="762000" y="54292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9B7CC"/>
                </a:solidFill>
              </a:defRPr>
            </a:pPr>
            <a:r>
              <a:rPr sz="1275" b="0">
                <a:solidFill>
                  <a:srgbClr val="A9B7CC"/>
                </a:solidFill>
              </a:rPr>
              <a:t>Every result retains an explanation, assumptions, validation state, source hash, workflow snapshot, and revision history.</a:t>
            </a:r>
          </a:p>
        </p:txBody>
      </p:sp>
    </p:spTree>
    <p:extLst>
      <p:ext uri="{BB962C8B-B14F-4D97-AF65-F5344CB8AC3E}">
        <p14:creationId xmlns:p14="http://schemas.microsoft.com/office/powerpoint/2010/main" val="1796148838"/>
      </p:ext>
    </p:extLst>
  </p:cSld>
</p:sld>
</file>

<file path=ppt/slides/slide4.xml><?xml version="1.0" encoding="utf-8"?>
<p:sld xmlns:p="http://schemas.openxmlformats.org/presentationml/2006/main">
  <p:cSld>
    <p:bg>
      <p:bgPr>
        <a:solidFill xmlns:a="http://schemas.openxmlformats.org/drawingml/2006/main">
          <a:srgbClr val="040812"/>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6C796B70-AB3B-4A72-83C4-BB72B22E2842}"/>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6B817F-5785-4FFA-BCB7-FD16E0AA0BB2}"/>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8AF1090-6B73-488C-9C62-66FA33AF12B7}"/>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ED84665-7E00-4483-A4FC-3E8292EA8249}"/>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FEBD68E-198F-4041-B269-D1FD1B936126}"/>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5D59E05-5666-489F-BC51-80B93144B7D3}"/>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A25FEC9-BE72-4F37-8C06-3A48DAD070DB}"/>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7C48E87-F4CD-4EC0-96EE-F5BF165A71FC}"/>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26F480F-E569-46E6-B2F4-4BE0B20C2F6A}"/>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7A7AF5E-6D53-44FF-8CA5-1BC5D6C65D81}"/>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6CDE133-395E-469F-A0A2-03194F87E31C}"/>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3550838-7140-4797-8876-C60DB71677FD}"/>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759499D-CD99-440B-ADEC-891B914788C3}"/>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3F7A892-CA4B-4CC8-96EC-F64D5887D5E4}"/>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4B16674-9C91-4238-97F6-417C10E91DBC}"/>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BA63C57-D38C-4677-867F-A642781D574A}"/>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C4D1A9D-D3D5-4F2B-92B3-52E004F3C3D5}"/>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60C3C6C-1318-4C4F-8925-BB36E9E92290}"/>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716CCB6-2588-40E1-B871-DDB1DF64D1ED}"/>
              </a:ext>
            </a:extLst>
          </p:cNvPr>
          <p:cNvSpPr>
            <a:spLocks xmlns:a="http://schemas.openxmlformats.org/drawingml/2006/main" noGrp="1"/>
          </p:cNvSpPr>
          <p:nvPr/>
        </p:nvSpPr>
        <p:spPr>
          <a:xfrm xmlns:a="http://schemas.openxmlformats.org/drawingml/2006/main">
            <a:off x="0" y="76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6D76D96-A4DF-47EF-BA42-AA7D85FA6515}"/>
              </a:ext>
            </a:extLst>
          </p:cNvPr>
          <p:cNvSpPr>
            <a:spLocks xmlns:a="http://schemas.openxmlformats.org/drawingml/2006/main" noGrp="1"/>
          </p:cNvSpPr>
          <p:nvPr/>
        </p:nvSpPr>
        <p:spPr>
          <a:xfrm xmlns:a="http://schemas.openxmlformats.org/drawingml/2006/main">
            <a:off x="0" y="152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0CD7CCD-33CE-4473-A67E-86DF02DC3E8C}"/>
              </a:ext>
            </a:extLst>
          </p:cNvPr>
          <p:cNvSpPr>
            <a:spLocks xmlns:a="http://schemas.openxmlformats.org/drawingml/2006/main" noGrp="1"/>
          </p:cNvSpPr>
          <p:nvPr/>
        </p:nvSpPr>
        <p:spPr>
          <a:xfrm xmlns:a="http://schemas.openxmlformats.org/drawingml/2006/main">
            <a:off x="0" y="228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C89646D-121F-4BF3-A607-B42528044FFD}"/>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D20756A-ACB5-4AA1-B698-E8F18480114A}"/>
              </a:ext>
            </a:extLst>
          </p:cNvPr>
          <p:cNvSpPr>
            <a:spLocks xmlns:a="http://schemas.openxmlformats.org/drawingml/2006/main" noGrp="1"/>
          </p:cNvSpPr>
          <p:nvPr/>
        </p:nvSpPr>
        <p:spPr>
          <a:xfrm xmlns:a="http://schemas.openxmlformats.org/drawingml/2006/main">
            <a:off x="0" y="3810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24B13C1-9D21-4DEA-A7C6-39FA275D024E}"/>
              </a:ext>
            </a:extLst>
          </p:cNvPr>
          <p:cNvSpPr>
            <a:spLocks xmlns:a="http://schemas.openxmlformats.org/drawingml/2006/main" noGrp="1"/>
          </p:cNvSpPr>
          <p:nvPr/>
        </p:nvSpPr>
        <p:spPr>
          <a:xfrm xmlns:a="http://schemas.openxmlformats.org/drawingml/2006/main">
            <a:off x="0" y="457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3C61498-557F-44FE-912D-3200CC9DC2B8}"/>
              </a:ext>
            </a:extLst>
          </p:cNvPr>
          <p:cNvSpPr>
            <a:spLocks xmlns:a="http://schemas.openxmlformats.org/drawingml/2006/main" noGrp="1"/>
          </p:cNvSpPr>
          <p:nvPr/>
        </p:nvSpPr>
        <p:spPr>
          <a:xfrm xmlns:a="http://schemas.openxmlformats.org/drawingml/2006/main">
            <a:off x="0" y="533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1DF8ABA-BE07-4CDB-9187-F210D3AA2DEE}"/>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7825821-6936-4E51-BB47-8FDFDC550A32}"/>
              </a:ext>
            </a:extLst>
          </p:cNvPr>
          <p:cNvSpPr>
            <a:spLocks xmlns:a="http://schemas.openxmlformats.org/drawingml/2006/main" noGrp="1"/>
          </p:cNvSpPr>
          <p:nvPr/>
        </p:nvSpPr>
        <p:spPr>
          <a:xfrm xmlns:a="http://schemas.openxmlformats.org/drawingml/2006/main">
            <a:off x="0" y="685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B6931E6-F341-4539-9CB6-6BECA044274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CC5BE7F-F00C-40A0-BEE1-6A663EF321A6}"/>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LIVE PRODUCT</a:t>
            </a:r>
          </a:p>
        </p:txBody>
      </p:sp>
      <p:sp>
        <p:nvSpPr>
          <p:cNvPr id="30" name="slide-4-title">
            <a:extLst xmlns:a="http://schemas.openxmlformats.org/drawingml/2006/main">
              <a:ext uri="{FF2B5EF4-FFF2-40B4-BE49-F238E27FC236}">
                <a16:creationId xmlns:a16="http://schemas.microsoft.com/office/drawing/2014/main" id="{B6868126-9E9B-4737-9466-05455216BF90}"/>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4F8FF"/>
                </a:solidFill>
              </a:defRPr>
            </a:pPr>
            <a:r>
              <a:rPr sz="2700" b="1">
                <a:solidFill>
                  <a:srgbClr val="F4F8FF"/>
                </a:solidFill>
              </a:rPr>
              <a:t>The customer experience is already product-shaped</a:t>
            </a:r>
          </a:p>
        </p:txBody>
      </p:sp>
      <p:sp>
        <p:nvSpPr>
          <p:cNvPr id="31" name="">
            <a:extLst xmlns:a="http://schemas.openxmlformats.org/drawingml/2006/main">
              <a:ext uri="{FF2B5EF4-FFF2-40B4-BE49-F238E27FC236}">
                <a16:creationId xmlns:a16="http://schemas.microsoft.com/office/drawing/2014/main" id="{F546CA18-A6F9-4CF7-8B21-3B26EE24C287}"/>
              </a:ext>
            </a:extLst>
          </p:cNvPr>
          <p:cNvSpPr>
            <a:spLocks xmlns:a="http://schemas.openxmlformats.org/drawingml/2006/main" noGrp="1"/>
          </p:cNvSpPr>
          <p:nvPr/>
        </p:nvSpPr>
        <p:spPr>
          <a:xfrm xmlns:a="http://schemas.openxmlformats.org/drawingml/2006/main">
            <a:off x="533400" y="1257300"/>
            <a:ext cx="11125200" cy="952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5497149-15EC-434C-A3EB-E3CB2F2887D8}"/>
              </a:ext>
            </a:extLst>
          </p:cNvPr>
          <p:cNvSpPr>
            <a:spLocks xmlns:a="http://schemas.openxmlformats.org/drawingml/2006/main" noGrp="1"/>
          </p:cNvSpPr>
          <p:nvPr/>
        </p:nvSpPr>
        <p:spPr>
          <a:xfrm xmlns:a="http://schemas.openxmlformats.org/drawingml/2006/main">
            <a:off x="533400" y="65341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4748B"/>
                </a:solidFill>
              </a:defRPr>
            </a:pPr>
            <a:r>
              <a:rPr sz="825" b="1">
                <a:solidFill>
                  <a:srgbClr val="64748B"/>
                </a:solidFill>
              </a:rPr>
              <a:t>AAA EAs BUILDER</a:t>
            </a:r>
          </a:p>
        </p:txBody>
      </p:sp>
      <p:sp>
        <p:nvSpPr>
          <p:cNvPr id="33" name="">
            <a:extLst xmlns:a="http://schemas.openxmlformats.org/drawingml/2006/main">
              <a:ext uri="{FF2B5EF4-FFF2-40B4-BE49-F238E27FC236}">
                <a16:creationId xmlns:a16="http://schemas.microsoft.com/office/drawing/2014/main" id="{2F87416F-6972-46AB-BB0F-B94D52B89174}"/>
              </a:ext>
            </a:extLst>
          </p:cNvPr>
          <p:cNvSpPr>
            <a:spLocks xmlns:a="http://schemas.openxmlformats.org/drawingml/2006/main" noGrp="1"/>
          </p:cNvSpPr>
          <p:nvPr/>
        </p:nvSpPr>
        <p:spPr>
          <a:xfrm xmlns:a="http://schemas.openxmlformats.org/drawingml/2006/main">
            <a:off x="11144250" y="65151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4748B"/>
                </a:solidFill>
              </a:defRPr>
            </a:pPr>
            <a:r>
              <a:rPr sz="825" b="1">
                <a:solidFill>
                  <a:srgbClr val="64748B"/>
                </a:solidFill>
              </a:rPr>
              <a:t>04</a:t>
            </a:r>
          </a:p>
        </p:txBody>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40f9b78dded6498e"/>
          <a:stretch xmlns:a="http://schemas.openxmlformats.org/drawingml/2006/main"/>
        </p:blipFill>
        <p:spPr>
          <a:xfrm xmlns:a="http://schemas.openxmlformats.org/drawingml/2006/main">
            <a:off x="533400" y="1663788"/>
            <a:ext cx="7524750" cy="4235274"/>
          </a:xfrm>
          <a:prstGeom xmlns:a="http://schemas.openxmlformats.org/drawingml/2006/main" prst="roundRect">
            <a:avLst>
              <a:gd name="adj" fmla="val 2532"/>
            </a:avLst>
          </a:prstGeom>
        </p:spPr>
      </p:pic>
      <p:sp>
        <p:nvSpPr>
          <p:cNvPr id="35" name="">
            <a:extLst xmlns:a="http://schemas.openxmlformats.org/drawingml/2006/main">
              <a:ext uri="{FF2B5EF4-FFF2-40B4-BE49-F238E27FC236}">
                <a16:creationId xmlns:a16="http://schemas.microsoft.com/office/drawing/2014/main" id="{2E7EADA6-3820-4C8F-9CA8-DEA4FAC283D8}"/>
              </a:ext>
            </a:extLst>
          </p:cNvPr>
          <p:cNvSpPr>
            <a:spLocks xmlns:a="http://schemas.openxmlformats.org/drawingml/2006/main" noGrp="1"/>
          </p:cNvSpPr>
          <p:nvPr/>
        </p:nvSpPr>
        <p:spPr>
          <a:xfrm xmlns:a="http://schemas.openxmlformats.org/drawingml/2006/main">
            <a:off x="533400" y="1524000"/>
            <a:ext cx="7524750" cy="47625"/>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00E5801-EB13-4F78-A574-27A363FBD387}"/>
              </a:ext>
            </a:extLst>
          </p:cNvPr>
          <p:cNvSpPr>
            <a:spLocks xmlns:a="http://schemas.openxmlformats.org/drawingml/2006/main" noGrp="1"/>
          </p:cNvSpPr>
          <p:nvPr/>
        </p:nvSpPr>
        <p:spPr>
          <a:xfrm xmlns:a="http://schemas.openxmlformats.org/drawingml/2006/main">
            <a:off x="8439150" y="16192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32D583"/>
                </a:solidFill>
              </a:defRPr>
            </a:pPr>
            <a:r>
              <a:rPr sz="1050" b="1">
                <a:solidFill>
                  <a:srgbClr val="32D583"/>
                </a:solidFill>
              </a:rPr>
              <a:t>LIVE LOCAL BUILD</a:t>
            </a:r>
          </a:p>
        </p:txBody>
      </p:sp>
      <p:sp>
        <p:nvSpPr>
          <p:cNvPr id="37" name="">
            <a:extLst xmlns:a="http://schemas.openxmlformats.org/drawingml/2006/main">
              <a:ext uri="{FF2B5EF4-FFF2-40B4-BE49-F238E27FC236}">
                <a16:creationId xmlns:a16="http://schemas.microsoft.com/office/drawing/2014/main" id="{69F325E0-DFAD-488D-9FE6-BF1190E89DB8}"/>
              </a:ext>
            </a:extLst>
          </p:cNvPr>
          <p:cNvSpPr>
            <a:spLocks xmlns:a="http://schemas.openxmlformats.org/drawingml/2006/main" noGrp="1"/>
          </p:cNvSpPr>
          <p:nvPr/>
        </p:nvSpPr>
        <p:spPr>
          <a:xfrm xmlns:a="http://schemas.openxmlformats.org/drawingml/2006/main">
            <a:off x="8439150" y="20383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4F8FF"/>
                </a:solidFill>
              </a:defRPr>
            </a:pPr>
            <a:r>
              <a:rPr sz="1725" b="1">
                <a:solidFill>
                  <a:srgbClr val="F4F8FF"/>
                </a:solidFill>
              </a:rPr>
              <a:t>Plain language in</a:t>
            </a:r>
          </a:p>
        </p:txBody>
      </p:sp>
      <p:sp>
        <p:nvSpPr>
          <p:cNvPr id="38" name="">
            <a:extLst xmlns:a="http://schemas.openxmlformats.org/drawingml/2006/main">
              <a:ext uri="{FF2B5EF4-FFF2-40B4-BE49-F238E27FC236}">
                <a16:creationId xmlns:a16="http://schemas.microsoft.com/office/drawing/2014/main" id="{9F74DFED-DACB-4659-B68B-BCF6E445F389}"/>
              </a:ext>
            </a:extLst>
          </p:cNvPr>
          <p:cNvSpPr>
            <a:spLocks xmlns:a="http://schemas.openxmlformats.org/drawingml/2006/main" noGrp="1"/>
          </p:cNvSpPr>
          <p:nvPr/>
        </p:nvSpPr>
        <p:spPr>
          <a:xfrm xmlns:a="http://schemas.openxmlformats.org/drawingml/2006/main">
            <a:off x="8439150" y="240030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9B7CC"/>
                </a:solidFill>
              </a:defRPr>
            </a:pPr>
            <a:r>
              <a:rPr sz="1275" b="0">
                <a:solidFill>
                  <a:srgbClr val="A9B7CC"/>
                </a:solidFill>
              </a:rPr>
              <a:t>Describe entries, exits, risk, sessions, and filters without writing code first.</a:t>
            </a:r>
          </a:p>
        </p:txBody>
      </p:sp>
      <p:sp>
        <p:nvSpPr>
          <p:cNvPr id="39" name="">
            <a:extLst xmlns:a="http://schemas.openxmlformats.org/drawingml/2006/main">
              <a:ext uri="{FF2B5EF4-FFF2-40B4-BE49-F238E27FC236}">
                <a16:creationId xmlns:a16="http://schemas.microsoft.com/office/drawing/2014/main" id="{8BDC53B6-2E5B-4547-AD5B-4D0F1F3A5B19}"/>
              </a:ext>
            </a:extLst>
          </p:cNvPr>
          <p:cNvSpPr>
            <a:spLocks xmlns:a="http://schemas.openxmlformats.org/drawingml/2006/main" noGrp="1"/>
          </p:cNvSpPr>
          <p:nvPr/>
        </p:nvSpPr>
        <p:spPr>
          <a:xfrm xmlns:a="http://schemas.openxmlformats.org/drawingml/2006/main">
            <a:off x="8439150" y="33718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4F8FF"/>
                </a:solidFill>
              </a:defRPr>
            </a:pPr>
            <a:r>
              <a:rPr sz="1725" b="1">
                <a:solidFill>
                  <a:srgbClr val="F4F8FF"/>
                </a:solidFill>
              </a:rPr>
              <a:t>Controlled workflow</a:t>
            </a:r>
          </a:p>
        </p:txBody>
      </p:sp>
      <p:sp>
        <p:nvSpPr>
          <p:cNvPr id="40" name="">
            <a:extLst xmlns:a="http://schemas.openxmlformats.org/drawingml/2006/main">
              <a:ext uri="{FF2B5EF4-FFF2-40B4-BE49-F238E27FC236}">
                <a16:creationId xmlns:a16="http://schemas.microsoft.com/office/drawing/2014/main" id="{354E3E35-4542-4BBB-880B-A8058C5E90F1}"/>
              </a:ext>
            </a:extLst>
          </p:cNvPr>
          <p:cNvSpPr>
            <a:spLocks xmlns:a="http://schemas.openxmlformats.org/drawingml/2006/main" noGrp="1"/>
          </p:cNvSpPr>
          <p:nvPr/>
        </p:nvSpPr>
        <p:spPr>
          <a:xfrm xmlns:a="http://schemas.openxmlformats.org/drawingml/2006/main">
            <a:off x="8439150" y="3733800"/>
            <a:ext cx="285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9B7CC"/>
                </a:solidFill>
              </a:defRPr>
            </a:pPr>
            <a:r>
              <a:rPr sz="1275" b="0">
                <a:solidFill>
                  <a:srgbClr val="A9B7CC"/>
                </a:solidFill>
              </a:rPr>
              <a:t>Specialist agents and deterministic checks expose progress instead of hiding it behind one response.</a:t>
            </a:r>
          </a:p>
        </p:txBody>
      </p:sp>
      <p:sp>
        <p:nvSpPr>
          <p:cNvPr id="41" name="">
            <a:extLst xmlns:a="http://schemas.openxmlformats.org/drawingml/2006/main">
              <a:ext uri="{FF2B5EF4-FFF2-40B4-BE49-F238E27FC236}">
                <a16:creationId xmlns:a16="http://schemas.microsoft.com/office/drawing/2014/main" id="{A7EB91BC-CC36-443C-97C4-F12F408CC516}"/>
              </a:ext>
            </a:extLst>
          </p:cNvPr>
          <p:cNvSpPr>
            <a:spLocks xmlns:a="http://schemas.openxmlformats.org/drawingml/2006/main" noGrp="1"/>
          </p:cNvSpPr>
          <p:nvPr/>
        </p:nvSpPr>
        <p:spPr>
          <a:xfrm xmlns:a="http://schemas.openxmlformats.org/drawingml/2006/main">
            <a:off x="8439150" y="47625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4F8FF"/>
                </a:solidFill>
              </a:defRPr>
            </a:pPr>
            <a:r>
              <a:rPr sz="1725" b="1">
                <a:solidFill>
                  <a:srgbClr val="F4F8FF"/>
                </a:solidFill>
              </a:rPr>
              <a:t>Inspectable outputs</a:t>
            </a:r>
          </a:p>
        </p:txBody>
      </p:sp>
      <p:sp>
        <p:nvSpPr>
          <p:cNvPr id="42" name="">
            <a:extLst xmlns:a="http://schemas.openxmlformats.org/drawingml/2006/main">
              <a:ext uri="{FF2B5EF4-FFF2-40B4-BE49-F238E27FC236}">
                <a16:creationId xmlns:a16="http://schemas.microsoft.com/office/drawing/2014/main" id="{5F10D5BA-D5F7-43F1-AE76-DA169F8CB25F}"/>
              </a:ext>
            </a:extLst>
          </p:cNvPr>
          <p:cNvSpPr>
            <a:spLocks xmlns:a="http://schemas.openxmlformats.org/drawingml/2006/main" noGrp="1"/>
          </p:cNvSpPr>
          <p:nvPr/>
        </p:nvSpPr>
        <p:spPr>
          <a:xfrm xmlns:a="http://schemas.openxmlformats.org/drawingml/2006/main">
            <a:off x="8439150" y="512445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9B7CC"/>
                </a:solidFill>
              </a:defRPr>
            </a:pPr>
            <a:r>
              <a:rPr sz="1275" b="0">
                <a:solidFill>
                  <a:srgbClr val="A9B7CC"/>
                </a:solidFill>
              </a:rPr>
              <a:t>Users keep the source, version history, diagnostics, and download artifacts.</a:t>
            </a:r>
          </a:p>
        </p:txBody>
      </p:sp>
    </p:spTree>
    <p:extLst>
      <p:ext uri="{BB962C8B-B14F-4D97-AF65-F5344CB8AC3E}">
        <p14:creationId xmlns:p14="http://schemas.microsoft.com/office/powerpoint/2010/main" val="1330439801"/>
      </p:ext>
    </p:extLst>
  </p:cSld>
</p:sld>
</file>

<file path=ppt/slides/slide5.xml><?xml version="1.0" encoding="utf-8"?>
<p:sld xmlns:p="http://schemas.openxmlformats.org/presentationml/2006/main">
  <p:cSld>
    <p:bg>
      <p:bgPr>
        <a:solidFill xmlns:a="http://schemas.openxmlformats.org/drawingml/2006/main">
          <a:srgbClr val="040812"/>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F1E1FEF1-58FB-4DB1-ACCE-752307C96EAA}"/>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B009767-6376-4B0F-A621-9556DF6F8A47}"/>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89CBE62-F012-4F0C-B517-6000D3C3182F}"/>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8F0B1E6-5C50-471D-800B-29365AC7DD49}"/>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0B80D83-3673-46BC-A809-9C9F64FDAFCD}"/>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58B0C52-4044-48B7-85B6-95BECD226F87}"/>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933578F-1711-48E1-979C-8124B13ED830}"/>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38F794D-F19B-4697-AE69-56C8F001298F}"/>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A7B1352-091B-4D25-9D35-CC21A289E46B}"/>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7F75569-5531-4934-9442-5A6739A1CC3E}"/>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072CD69-6F3F-4652-842D-D51A58287D5F}"/>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55B6902-2EAC-4806-84A8-9BE3D5D3211F}"/>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25E9E7D-8673-4B2D-B6E1-7F3856205866}"/>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32FB525-1999-4A4E-83F4-C54B94B962C9}"/>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7C55B5E-7D76-452D-8C86-88CFA11E6931}"/>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3547F12-FFC9-4D1A-BF28-0888230562FB}"/>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6C261AA-65A3-4920-807A-F694BD89B2AC}"/>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AB9F7BD-F46A-42B4-9925-8A677FAD4616}"/>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DB30B91-033E-4686-971C-322D66CB92DD}"/>
              </a:ext>
            </a:extLst>
          </p:cNvPr>
          <p:cNvSpPr>
            <a:spLocks xmlns:a="http://schemas.openxmlformats.org/drawingml/2006/main" noGrp="1"/>
          </p:cNvSpPr>
          <p:nvPr/>
        </p:nvSpPr>
        <p:spPr>
          <a:xfrm xmlns:a="http://schemas.openxmlformats.org/drawingml/2006/main">
            <a:off x="0" y="76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D6FC6B6-4225-4015-82B6-8F23B22F0F0A}"/>
              </a:ext>
            </a:extLst>
          </p:cNvPr>
          <p:cNvSpPr>
            <a:spLocks xmlns:a="http://schemas.openxmlformats.org/drawingml/2006/main" noGrp="1"/>
          </p:cNvSpPr>
          <p:nvPr/>
        </p:nvSpPr>
        <p:spPr>
          <a:xfrm xmlns:a="http://schemas.openxmlformats.org/drawingml/2006/main">
            <a:off x="0" y="152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81309E2-90E3-4BDA-ACAE-9A274F1D7E46}"/>
              </a:ext>
            </a:extLst>
          </p:cNvPr>
          <p:cNvSpPr>
            <a:spLocks xmlns:a="http://schemas.openxmlformats.org/drawingml/2006/main" noGrp="1"/>
          </p:cNvSpPr>
          <p:nvPr/>
        </p:nvSpPr>
        <p:spPr>
          <a:xfrm xmlns:a="http://schemas.openxmlformats.org/drawingml/2006/main">
            <a:off x="0" y="228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DD211CF-260D-46EB-A63F-860214EE1ED8}"/>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E641366-9AED-442D-A11E-AD7574A128CF}"/>
              </a:ext>
            </a:extLst>
          </p:cNvPr>
          <p:cNvSpPr>
            <a:spLocks xmlns:a="http://schemas.openxmlformats.org/drawingml/2006/main" noGrp="1"/>
          </p:cNvSpPr>
          <p:nvPr/>
        </p:nvSpPr>
        <p:spPr>
          <a:xfrm xmlns:a="http://schemas.openxmlformats.org/drawingml/2006/main">
            <a:off x="0" y="3810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9797DF6-1466-4739-ADFC-9F21BEA97249}"/>
              </a:ext>
            </a:extLst>
          </p:cNvPr>
          <p:cNvSpPr>
            <a:spLocks xmlns:a="http://schemas.openxmlformats.org/drawingml/2006/main" noGrp="1"/>
          </p:cNvSpPr>
          <p:nvPr/>
        </p:nvSpPr>
        <p:spPr>
          <a:xfrm xmlns:a="http://schemas.openxmlformats.org/drawingml/2006/main">
            <a:off x="0" y="457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0E97BCF-F963-4D5E-BD0B-49BE7919FB88}"/>
              </a:ext>
            </a:extLst>
          </p:cNvPr>
          <p:cNvSpPr>
            <a:spLocks xmlns:a="http://schemas.openxmlformats.org/drawingml/2006/main" noGrp="1"/>
          </p:cNvSpPr>
          <p:nvPr/>
        </p:nvSpPr>
        <p:spPr>
          <a:xfrm xmlns:a="http://schemas.openxmlformats.org/drawingml/2006/main">
            <a:off x="0" y="533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5BB3F43-6BC5-453A-B980-309F7C4EF80C}"/>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0526073-57A3-49D9-964A-9C7B1752574E}"/>
              </a:ext>
            </a:extLst>
          </p:cNvPr>
          <p:cNvSpPr>
            <a:spLocks xmlns:a="http://schemas.openxmlformats.org/drawingml/2006/main" noGrp="1"/>
          </p:cNvSpPr>
          <p:nvPr/>
        </p:nvSpPr>
        <p:spPr>
          <a:xfrm xmlns:a="http://schemas.openxmlformats.org/drawingml/2006/main">
            <a:off x="0" y="685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88A6DBF-9428-4C3A-A067-3253655C62E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920ACEB-B33C-403C-9F82-AC5D786691BC}"/>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AI GENERATION</a:t>
            </a:r>
          </a:p>
        </p:txBody>
      </p:sp>
      <p:sp>
        <p:nvSpPr>
          <p:cNvPr id="30" name="slide-5-title">
            <a:extLst xmlns:a="http://schemas.openxmlformats.org/drawingml/2006/main">
              <a:ext uri="{FF2B5EF4-FFF2-40B4-BE49-F238E27FC236}">
                <a16:creationId xmlns:a16="http://schemas.microsoft.com/office/drawing/2014/main" id="{02D23C77-61E4-405E-9D23-CCE96250BC62}"/>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4F8FF"/>
                </a:solidFill>
              </a:defRPr>
            </a:pPr>
            <a:r>
              <a:rPr sz="2700" b="1">
                <a:solidFill>
                  <a:srgbClr val="F4F8FF"/>
                </a:solidFill>
              </a:rPr>
              <a:t>A controlled agent workflow replaces the one-shot prompt</a:t>
            </a:r>
          </a:p>
        </p:txBody>
      </p:sp>
      <p:sp>
        <p:nvSpPr>
          <p:cNvPr id="31" name="">
            <a:extLst xmlns:a="http://schemas.openxmlformats.org/drawingml/2006/main">
              <a:ext uri="{FF2B5EF4-FFF2-40B4-BE49-F238E27FC236}">
                <a16:creationId xmlns:a16="http://schemas.microsoft.com/office/drawing/2014/main" id="{4E758D30-22A3-4DDF-84A5-D2CECAE86BC2}"/>
              </a:ext>
            </a:extLst>
          </p:cNvPr>
          <p:cNvSpPr>
            <a:spLocks xmlns:a="http://schemas.openxmlformats.org/drawingml/2006/main" noGrp="1"/>
          </p:cNvSpPr>
          <p:nvPr/>
        </p:nvSpPr>
        <p:spPr>
          <a:xfrm xmlns:a="http://schemas.openxmlformats.org/drawingml/2006/main">
            <a:off x="533400" y="1257300"/>
            <a:ext cx="11125200" cy="952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8C8F91A-B602-4016-AFBF-B5D8A57C84F3}"/>
              </a:ext>
            </a:extLst>
          </p:cNvPr>
          <p:cNvSpPr>
            <a:spLocks xmlns:a="http://schemas.openxmlformats.org/drawingml/2006/main" noGrp="1"/>
          </p:cNvSpPr>
          <p:nvPr/>
        </p:nvSpPr>
        <p:spPr>
          <a:xfrm xmlns:a="http://schemas.openxmlformats.org/drawingml/2006/main">
            <a:off x="533400" y="65341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4748B"/>
                </a:solidFill>
              </a:defRPr>
            </a:pPr>
            <a:r>
              <a:rPr sz="825" b="1">
                <a:solidFill>
                  <a:srgbClr val="64748B"/>
                </a:solidFill>
              </a:rPr>
              <a:t>AAA EAs BUILDER</a:t>
            </a:r>
          </a:p>
        </p:txBody>
      </p:sp>
      <p:sp>
        <p:nvSpPr>
          <p:cNvPr id="33" name="">
            <a:extLst xmlns:a="http://schemas.openxmlformats.org/drawingml/2006/main">
              <a:ext uri="{FF2B5EF4-FFF2-40B4-BE49-F238E27FC236}">
                <a16:creationId xmlns:a16="http://schemas.microsoft.com/office/drawing/2014/main" id="{490F0FD8-C9F7-4552-86F1-7962D3FEDD96}"/>
              </a:ext>
            </a:extLst>
          </p:cNvPr>
          <p:cNvSpPr>
            <a:spLocks xmlns:a="http://schemas.openxmlformats.org/drawingml/2006/main" noGrp="1"/>
          </p:cNvSpPr>
          <p:nvPr/>
        </p:nvSpPr>
        <p:spPr>
          <a:xfrm xmlns:a="http://schemas.openxmlformats.org/drawingml/2006/main">
            <a:off x="11144250" y="65151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4748B"/>
                </a:solidFill>
              </a:defRPr>
            </a:pPr>
            <a:r>
              <a:rPr sz="825" b="1">
                <a:solidFill>
                  <a:srgbClr val="64748B"/>
                </a:solidFill>
              </a:rPr>
              <a:t>05</a:t>
            </a:r>
          </a:p>
        </p:txBody>
      </p:sp>
      <p:sp>
        <p:nvSpPr>
          <p:cNvPr id="34" name="">
            <a:extLst xmlns:a="http://schemas.openxmlformats.org/drawingml/2006/main">
              <a:ext uri="{FF2B5EF4-FFF2-40B4-BE49-F238E27FC236}">
                <a16:creationId xmlns:a16="http://schemas.microsoft.com/office/drawing/2014/main" id="{8A08E334-A716-4697-9949-D442B5BFB3D2}"/>
              </a:ext>
            </a:extLst>
          </p:cNvPr>
          <p:cNvSpPr>
            <a:spLocks xmlns:a="http://schemas.openxmlformats.org/drawingml/2006/main" noGrp="1"/>
          </p:cNvSpPr>
          <p:nvPr/>
        </p:nvSpPr>
        <p:spPr>
          <a:xfrm xmlns:a="http://schemas.openxmlformats.org/drawingml/2006/main">
            <a:off x="533400" y="15049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A9B7CC"/>
                </a:solidFill>
              </a:defRPr>
            </a:pPr>
            <a:r>
              <a:rPr sz="1650" b="0">
                <a:solidFill>
                  <a:srgbClr val="A9B7CC"/>
                </a:solidFill>
              </a:rPr>
              <a:t>The MVP uses LangChain for provider/model abstraction and LangGraph for bounded, typed orchestration.</a:t>
            </a:r>
          </a:p>
        </p:txBody>
      </p:sp>
      <p:sp>
        <p:nvSpPr>
          <p:cNvPr id="35" name="">
            <a:extLst xmlns:a="http://schemas.openxmlformats.org/drawingml/2006/main">
              <a:ext uri="{FF2B5EF4-FFF2-40B4-BE49-F238E27FC236}">
                <a16:creationId xmlns:a16="http://schemas.microsoft.com/office/drawing/2014/main" id="{5756753D-C260-4245-8AB3-7C00DB479773}"/>
              </a:ext>
            </a:extLst>
          </p:cNvPr>
          <p:cNvSpPr>
            <a:spLocks xmlns:a="http://schemas.openxmlformats.org/drawingml/2006/main" noGrp="1"/>
          </p:cNvSpPr>
          <p:nvPr/>
        </p:nvSpPr>
        <p:spPr>
          <a:xfrm xmlns:a="http://schemas.openxmlformats.org/drawingml/2006/main">
            <a:off x="1638300" y="2895600"/>
            <a:ext cx="8191500" cy="2857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1586606-AA92-48C9-8C50-F223918139FE}"/>
              </a:ext>
            </a:extLst>
          </p:cNvPr>
          <p:cNvSpPr>
            <a:spLocks xmlns:a="http://schemas.openxmlformats.org/drawingml/2006/main" noGrp="1"/>
          </p:cNvSpPr>
          <p:nvPr/>
        </p:nvSpPr>
        <p:spPr>
          <a:xfrm xmlns:a="http://schemas.openxmlformats.org/drawingml/2006/main">
            <a:off x="2095500" y="2724150"/>
            <a:ext cx="28575" cy="3810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6D25802-EB59-44B8-BB4A-6FE497E5D184}"/>
              </a:ext>
            </a:extLst>
          </p:cNvPr>
          <p:cNvSpPr>
            <a:spLocks xmlns:a="http://schemas.openxmlformats.org/drawingml/2006/main" noGrp="1"/>
          </p:cNvSpPr>
          <p:nvPr/>
        </p:nvSpPr>
        <p:spPr>
          <a:xfrm xmlns:a="http://schemas.openxmlformats.org/drawingml/2006/main">
            <a:off x="4267200" y="2724150"/>
            <a:ext cx="28575" cy="3810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3714DFD-3B66-4445-B05F-858875EE6D8D}"/>
              </a:ext>
            </a:extLst>
          </p:cNvPr>
          <p:cNvSpPr>
            <a:spLocks xmlns:a="http://schemas.openxmlformats.org/drawingml/2006/main" noGrp="1"/>
          </p:cNvSpPr>
          <p:nvPr/>
        </p:nvSpPr>
        <p:spPr>
          <a:xfrm xmlns:a="http://schemas.openxmlformats.org/drawingml/2006/main">
            <a:off x="6438900" y="2724150"/>
            <a:ext cx="28575" cy="3810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0D35C62D-B9F2-4687-9281-6F635E42648A}"/>
              </a:ext>
            </a:extLst>
          </p:cNvPr>
          <p:cNvSpPr>
            <a:spLocks xmlns:a="http://schemas.openxmlformats.org/drawingml/2006/main" noGrp="1"/>
          </p:cNvSpPr>
          <p:nvPr/>
        </p:nvSpPr>
        <p:spPr>
          <a:xfrm xmlns:a="http://schemas.openxmlformats.org/drawingml/2006/main">
            <a:off x="8610600" y="2724150"/>
            <a:ext cx="28575" cy="3810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DB45655-E39D-43A9-8F42-E393E4199A53}"/>
              </a:ext>
            </a:extLst>
          </p:cNvPr>
          <p:cNvSpPr>
            <a:spLocks xmlns:a="http://schemas.openxmlformats.org/drawingml/2006/main" noGrp="1"/>
          </p:cNvSpPr>
          <p:nvPr/>
        </p:nvSpPr>
        <p:spPr>
          <a:xfrm xmlns:a="http://schemas.openxmlformats.org/drawingml/2006/main">
            <a:off x="857250" y="2152650"/>
            <a:ext cx="2076450" cy="1504950"/>
          </a:xfrm>
          <a:prstGeom xmlns:a="http://schemas.openxmlformats.org/drawingml/2006/main" prst="roundRect">
            <a:avLst>
              <a:gd name="adj" fmla="val 7595"/>
            </a:avLst>
          </a:prstGeom>
          <a:solidFill xmlns:a="http://schemas.openxmlformats.org/drawingml/2006/main">
            <a:srgbClr val="081425"/>
          </a:solidFill>
          <a:ln xmlns:a="http://schemas.openxmlformats.org/drawingml/2006/main" w="9525">
            <a:solidFill>
              <a:srgbClr val="10DFF2"/>
            </a:solidFill>
            <a:prstDash val="solid"/>
          </a:ln>
        </p:spPr>
      </p:sp>
      <p:sp>
        <p:nvSpPr>
          <p:cNvPr id="41" name="">
            <a:extLst xmlns:a="http://schemas.openxmlformats.org/drawingml/2006/main">
              <a:ext uri="{FF2B5EF4-FFF2-40B4-BE49-F238E27FC236}">
                <a16:creationId xmlns:a16="http://schemas.microsoft.com/office/drawing/2014/main" id="{E56CB934-E165-4A3D-A542-6F808374F4A4}"/>
              </a:ext>
            </a:extLst>
          </p:cNvPr>
          <p:cNvSpPr>
            <a:spLocks xmlns:a="http://schemas.openxmlformats.org/drawingml/2006/main" noGrp="1"/>
          </p:cNvSpPr>
          <p:nvPr/>
        </p:nvSpPr>
        <p:spPr>
          <a:xfrm xmlns:a="http://schemas.openxmlformats.org/drawingml/2006/main">
            <a:off x="1047750" y="234315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ARCHITECT</a:t>
            </a:r>
          </a:p>
        </p:txBody>
      </p:sp>
      <p:sp>
        <p:nvSpPr>
          <p:cNvPr id="42" name="">
            <a:extLst xmlns:a="http://schemas.openxmlformats.org/drawingml/2006/main">
              <a:ext uri="{FF2B5EF4-FFF2-40B4-BE49-F238E27FC236}">
                <a16:creationId xmlns:a16="http://schemas.microsoft.com/office/drawing/2014/main" id="{1B0E9F3D-6320-4EAE-B07D-66169D1F2E7F}"/>
              </a:ext>
            </a:extLst>
          </p:cNvPr>
          <p:cNvSpPr>
            <a:spLocks xmlns:a="http://schemas.openxmlformats.org/drawingml/2006/main" noGrp="1"/>
          </p:cNvSpPr>
          <p:nvPr/>
        </p:nvSpPr>
        <p:spPr>
          <a:xfrm xmlns:a="http://schemas.openxmlformats.org/drawingml/2006/main">
            <a:off x="1047750" y="2743200"/>
            <a:ext cx="1695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8FF"/>
                </a:solidFill>
              </a:defRPr>
            </a:pPr>
            <a:r>
              <a:rPr sz="1500" b="1">
                <a:solidFill>
                  <a:srgbClr val="F4F8FF"/>
                </a:solidFill>
              </a:rPr>
              <a:t>Normalizes strategy logic</a:t>
            </a:r>
          </a:p>
        </p:txBody>
      </p:sp>
      <p:sp>
        <p:nvSpPr>
          <p:cNvPr id="43" name="">
            <a:extLst xmlns:a="http://schemas.openxmlformats.org/drawingml/2006/main">
              <a:ext uri="{FF2B5EF4-FFF2-40B4-BE49-F238E27FC236}">
                <a16:creationId xmlns:a16="http://schemas.microsoft.com/office/drawing/2014/main" id="{64C22EAB-2A7A-4293-8ADB-75518A07F1AA}"/>
              </a:ext>
            </a:extLst>
          </p:cNvPr>
          <p:cNvSpPr>
            <a:spLocks xmlns:a="http://schemas.openxmlformats.org/drawingml/2006/main" noGrp="1"/>
          </p:cNvSpPr>
          <p:nvPr/>
        </p:nvSpPr>
        <p:spPr>
          <a:xfrm xmlns:a="http://schemas.openxmlformats.org/drawingml/2006/main">
            <a:off x="3429000" y="2152650"/>
            <a:ext cx="2076450" cy="1504950"/>
          </a:xfrm>
          <a:prstGeom xmlns:a="http://schemas.openxmlformats.org/drawingml/2006/main" prst="roundRect">
            <a:avLst>
              <a:gd name="adj" fmla="val 7595"/>
            </a:avLst>
          </a:prstGeom>
          <a:solidFill xmlns:a="http://schemas.openxmlformats.org/drawingml/2006/main">
            <a:srgbClr val="081425"/>
          </a:solidFill>
          <a:ln xmlns:a="http://schemas.openxmlformats.org/drawingml/2006/main" w="9525">
            <a:solidFill>
              <a:srgbClr val="A855F7"/>
            </a:solidFill>
            <a:prstDash val="solid"/>
          </a:ln>
        </p:spPr>
      </p:sp>
      <p:sp>
        <p:nvSpPr>
          <p:cNvPr id="44" name="">
            <a:extLst xmlns:a="http://schemas.openxmlformats.org/drawingml/2006/main">
              <a:ext uri="{FF2B5EF4-FFF2-40B4-BE49-F238E27FC236}">
                <a16:creationId xmlns:a16="http://schemas.microsoft.com/office/drawing/2014/main" id="{95A4E9B0-DA01-4095-8CCC-DD6E91EBE726}"/>
              </a:ext>
            </a:extLst>
          </p:cNvPr>
          <p:cNvSpPr>
            <a:spLocks xmlns:a="http://schemas.openxmlformats.org/drawingml/2006/main" noGrp="1"/>
          </p:cNvSpPr>
          <p:nvPr/>
        </p:nvSpPr>
        <p:spPr>
          <a:xfrm xmlns:a="http://schemas.openxmlformats.org/drawingml/2006/main">
            <a:off x="3619500" y="234315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855F7"/>
                </a:solidFill>
              </a:defRPr>
            </a:pPr>
            <a:r>
              <a:rPr sz="1050" b="1">
                <a:solidFill>
                  <a:srgbClr val="A855F7"/>
                </a:solidFill>
              </a:rPr>
              <a:t>GENERATOR</a:t>
            </a:r>
          </a:p>
        </p:txBody>
      </p:sp>
      <p:sp>
        <p:nvSpPr>
          <p:cNvPr id="45" name="">
            <a:extLst xmlns:a="http://schemas.openxmlformats.org/drawingml/2006/main">
              <a:ext uri="{FF2B5EF4-FFF2-40B4-BE49-F238E27FC236}">
                <a16:creationId xmlns:a16="http://schemas.microsoft.com/office/drawing/2014/main" id="{24AB11E5-E471-477A-8699-E8F98D5D1491}"/>
              </a:ext>
            </a:extLst>
          </p:cNvPr>
          <p:cNvSpPr>
            <a:spLocks xmlns:a="http://schemas.openxmlformats.org/drawingml/2006/main" noGrp="1"/>
          </p:cNvSpPr>
          <p:nvPr/>
        </p:nvSpPr>
        <p:spPr>
          <a:xfrm xmlns:a="http://schemas.openxmlformats.org/drawingml/2006/main">
            <a:off x="3619500" y="2743200"/>
            <a:ext cx="1695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8FF"/>
                </a:solidFill>
              </a:defRPr>
            </a:pPr>
            <a:r>
              <a:rPr sz="1500" b="1">
                <a:solidFill>
                  <a:srgbClr val="F4F8FF"/>
                </a:solidFill>
              </a:rPr>
              <a:t>Writes platform code</a:t>
            </a:r>
          </a:p>
        </p:txBody>
      </p:sp>
      <p:sp>
        <p:nvSpPr>
          <p:cNvPr id="46" name="">
            <a:extLst xmlns:a="http://schemas.openxmlformats.org/drawingml/2006/main">
              <a:ext uri="{FF2B5EF4-FFF2-40B4-BE49-F238E27FC236}">
                <a16:creationId xmlns:a16="http://schemas.microsoft.com/office/drawing/2014/main" id="{9D6A6ED2-799A-46B4-8876-98AF6F364385}"/>
              </a:ext>
            </a:extLst>
          </p:cNvPr>
          <p:cNvSpPr>
            <a:spLocks xmlns:a="http://schemas.openxmlformats.org/drawingml/2006/main" noGrp="1"/>
          </p:cNvSpPr>
          <p:nvPr/>
        </p:nvSpPr>
        <p:spPr>
          <a:xfrm xmlns:a="http://schemas.openxmlformats.org/drawingml/2006/main">
            <a:off x="6000750" y="2152650"/>
            <a:ext cx="2076450" cy="1504950"/>
          </a:xfrm>
          <a:prstGeom xmlns:a="http://schemas.openxmlformats.org/drawingml/2006/main" prst="roundRect">
            <a:avLst>
              <a:gd name="adj" fmla="val 7595"/>
            </a:avLst>
          </a:prstGeom>
          <a:solidFill xmlns:a="http://schemas.openxmlformats.org/drawingml/2006/main">
            <a:srgbClr val="081425"/>
          </a:solidFill>
          <a:ln xmlns:a="http://schemas.openxmlformats.org/drawingml/2006/main" w="9525">
            <a:solidFill>
              <a:srgbClr val="F8B84E"/>
            </a:solidFill>
            <a:prstDash val="solid"/>
          </a:ln>
        </p:spPr>
      </p:sp>
      <p:sp>
        <p:nvSpPr>
          <p:cNvPr id="47" name="">
            <a:extLst xmlns:a="http://schemas.openxmlformats.org/drawingml/2006/main">
              <a:ext uri="{FF2B5EF4-FFF2-40B4-BE49-F238E27FC236}">
                <a16:creationId xmlns:a16="http://schemas.microsoft.com/office/drawing/2014/main" id="{7D2F84D2-2B18-4631-8FF1-566F4211DB98}"/>
              </a:ext>
            </a:extLst>
          </p:cNvPr>
          <p:cNvSpPr>
            <a:spLocks xmlns:a="http://schemas.openxmlformats.org/drawingml/2006/main" noGrp="1"/>
          </p:cNvSpPr>
          <p:nvPr/>
        </p:nvSpPr>
        <p:spPr>
          <a:xfrm xmlns:a="http://schemas.openxmlformats.org/drawingml/2006/main">
            <a:off x="6191250" y="234315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8B84E"/>
                </a:solidFill>
              </a:defRPr>
            </a:pPr>
            <a:r>
              <a:rPr sz="1050" b="1">
                <a:solidFill>
                  <a:srgbClr val="F8B84E"/>
                </a:solidFill>
              </a:rPr>
              <a:t>REVIEWER</a:t>
            </a:r>
          </a:p>
        </p:txBody>
      </p:sp>
      <p:sp>
        <p:nvSpPr>
          <p:cNvPr id="48" name="">
            <a:extLst xmlns:a="http://schemas.openxmlformats.org/drawingml/2006/main">
              <a:ext uri="{FF2B5EF4-FFF2-40B4-BE49-F238E27FC236}">
                <a16:creationId xmlns:a16="http://schemas.microsoft.com/office/drawing/2014/main" id="{F06452C8-FF03-49CE-B288-0BE5D98DC339}"/>
              </a:ext>
            </a:extLst>
          </p:cNvPr>
          <p:cNvSpPr>
            <a:spLocks xmlns:a="http://schemas.openxmlformats.org/drawingml/2006/main" noGrp="1"/>
          </p:cNvSpPr>
          <p:nvPr/>
        </p:nvSpPr>
        <p:spPr>
          <a:xfrm xmlns:a="http://schemas.openxmlformats.org/drawingml/2006/main">
            <a:off x="6191250" y="2743200"/>
            <a:ext cx="1695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8FF"/>
                </a:solidFill>
              </a:defRPr>
            </a:pPr>
            <a:r>
              <a:rPr sz="1500" b="1">
                <a:solidFill>
                  <a:srgbClr val="F4F8FF"/>
                </a:solidFill>
              </a:rPr>
              <a:t>Finds correctness risks</a:t>
            </a:r>
          </a:p>
        </p:txBody>
      </p:sp>
      <p:sp>
        <p:nvSpPr>
          <p:cNvPr id="49" name="">
            <a:extLst xmlns:a="http://schemas.openxmlformats.org/drawingml/2006/main">
              <a:ext uri="{FF2B5EF4-FFF2-40B4-BE49-F238E27FC236}">
                <a16:creationId xmlns:a16="http://schemas.microsoft.com/office/drawing/2014/main" id="{9CFA1B77-19BD-4B94-8309-C021B45FC76A}"/>
              </a:ext>
            </a:extLst>
          </p:cNvPr>
          <p:cNvSpPr>
            <a:spLocks xmlns:a="http://schemas.openxmlformats.org/drawingml/2006/main" noGrp="1"/>
          </p:cNvSpPr>
          <p:nvPr/>
        </p:nvSpPr>
        <p:spPr>
          <a:xfrm xmlns:a="http://schemas.openxmlformats.org/drawingml/2006/main">
            <a:off x="8572500" y="2152650"/>
            <a:ext cx="2076450" cy="1504950"/>
          </a:xfrm>
          <a:prstGeom xmlns:a="http://schemas.openxmlformats.org/drawingml/2006/main" prst="roundRect">
            <a:avLst>
              <a:gd name="adj" fmla="val 7595"/>
            </a:avLst>
          </a:prstGeom>
          <a:solidFill xmlns:a="http://schemas.openxmlformats.org/drawingml/2006/main">
            <a:srgbClr val="081425"/>
          </a:solidFill>
          <a:ln xmlns:a="http://schemas.openxmlformats.org/drawingml/2006/main" w="9525">
            <a:solidFill>
              <a:srgbClr val="32D583"/>
            </a:solidFill>
            <a:prstDash val="solid"/>
          </a:ln>
        </p:spPr>
      </p:sp>
      <p:sp>
        <p:nvSpPr>
          <p:cNvPr id="50" name="">
            <a:extLst xmlns:a="http://schemas.openxmlformats.org/drawingml/2006/main">
              <a:ext uri="{FF2B5EF4-FFF2-40B4-BE49-F238E27FC236}">
                <a16:creationId xmlns:a16="http://schemas.microsoft.com/office/drawing/2014/main" id="{00319453-E756-404D-83A0-6C2A603E5867}"/>
              </a:ext>
            </a:extLst>
          </p:cNvPr>
          <p:cNvSpPr>
            <a:spLocks xmlns:a="http://schemas.openxmlformats.org/drawingml/2006/main" noGrp="1"/>
          </p:cNvSpPr>
          <p:nvPr/>
        </p:nvSpPr>
        <p:spPr>
          <a:xfrm xmlns:a="http://schemas.openxmlformats.org/drawingml/2006/main">
            <a:off x="8763000" y="234315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32D583"/>
                </a:solidFill>
              </a:defRPr>
            </a:pPr>
            <a:r>
              <a:rPr sz="1050" b="1">
                <a:solidFill>
                  <a:srgbClr val="32D583"/>
                </a:solidFill>
              </a:rPr>
              <a:t>REPAIRER</a:t>
            </a:r>
          </a:p>
        </p:txBody>
      </p:sp>
      <p:sp>
        <p:nvSpPr>
          <p:cNvPr id="51" name="">
            <a:extLst xmlns:a="http://schemas.openxmlformats.org/drawingml/2006/main">
              <a:ext uri="{FF2B5EF4-FFF2-40B4-BE49-F238E27FC236}">
                <a16:creationId xmlns:a16="http://schemas.microsoft.com/office/drawing/2014/main" id="{64EE4E5E-A3D7-48D2-95AA-2B09E3A25C41}"/>
              </a:ext>
            </a:extLst>
          </p:cNvPr>
          <p:cNvSpPr>
            <a:spLocks xmlns:a="http://schemas.openxmlformats.org/drawingml/2006/main" noGrp="1"/>
          </p:cNvSpPr>
          <p:nvPr/>
        </p:nvSpPr>
        <p:spPr>
          <a:xfrm xmlns:a="http://schemas.openxmlformats.org/drawingml/2006/main">
            <a:off x="8763000" y="2743200"/>
            <a:ext cx="1695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8FF"/>
                </a:solidFill>
              </a:defRPr>
            </a:pPr>
            <a:r>
              <a:rPr sz="1500" b="1">
                <a:solidFill>
                  <a:srgbClr val="F4F8FF"/>
                </a:solidFill>
              </a:rPr>
              <a:t>Applies bounded fixes</a:t>
            </a:r>
          </a:p>
        </p:txBody>
      </p:sp>
      <p:sp>
        <p:nvSpPr>
          <p:cNvPr id="52" name="">
            <a:extLst xmlns:a="http://schemas.openxmlformats.org/drawingml/2006/main">
              <a:ext uri="{FF2B5EF4-FFF2-40B4-BE49-F238E27FC236}">
                <a16:creationId xmlns:a16="http://schemas.microsoft.com/office/drawing/2014/main" id="{C842EF93-C7B4-458E-90B7-57426F6A3F20}"/>
              </a:ext>
            </a:extLst>
          </p:cNvPr>
          <p:cNvSpPr>
            <a:spLocks xmlns:a="http://schemas.openxmlformats.org/drawingml/2006/main" noGrp="1"/>
          </p:cNvSpPr>
          <p:nvPr/>
        </p:nvSpPr>
        <p:spPr>
          <a:xfrm xmlns:a="http://schemas.openxmlformats.org/drawingml/2006/main">
            <a:off x="533400" y="4095750"/>
            <a:ext cx="11125200" cy="1676400"/>
          </a:xfrm>
          <a:prstGeom xmlns:a="http://schemas.openxmlformats.org/drawingml/2006/main" prst="roundRect">
            <a:avLst>
              <a:gd name="adj" fmla="val 6818"/>
            </a:avLst>
          </a:prstGeom>
          <a:solidFill xmlns:a="http://schemas.openxmlformats.org/drawingml/2006/main">
            <a:srgbClr val="0B1A2E"/>
          </a:solidFill>
          <a:ln xmlns:a="http://schemas.openxmlformats.org/drawingml/2006/main" w="9525">
            <a:solidFill>
              <a:srgbClr val="193452"/>
            </a:solidFill>
            <a:prstDash val="solid"/>
          </a:ln>
        </p:spPr>
      </p:sp>
      <p:sp>
        <p:nvSpPr>
          <p:cNvPr id="53" name="">
            <a:extLst xmlns:a="http://schemas.openxmlformats.org/drawingml/2006/main">
              <a:ext uri="{FF2B5EF4-FFF2-40B4-BE49-F238E27FC236}">
                <a16:creationId xmlns:a16="http://schemas.microsoft.com/office/drawing/2014/main" id="{189F492E-EB5F-46A6-B9CF-9527E2F634F1}"/>
              </a:ext>
            </a:extLst>
          </p:cNvPr>
          <p:cNvSpPr>
            <a:spLocks xmlns:a="http://schemas.openxmlformats.org/drawingml/2006/main" noGrp="1"/>
          </p:cNvSpPr>
          <p:nvPr/>
        </p:nvSpPr>
        <p:spPr>
          <a:xfrm xmlns:a="http://schemas.openxmlformats.org/drawingml/2006/main">
            <a:off x="762000" y="42862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32D583"/>
                </a:solidFill>
              </a:defRPr>
            </a:pPr>
            <a:r>
              <a:rPr sz="1050" b="1">
                <a:solidFill>
                  <a:srgbClr val="32D583"/>
                </a:solidFill>
              </a:rPr>
              <a:t>DETERMINISTIC GUARDRAILS</a:t>
            </a:r>
          </a:p>
        </p:txBody>
      </p:sp>
      <p:sp>
        <p:nvSpPr>
          <p:cNvPr id="54" name="">
            <a:extLst xmlns:a="http://schemas.openxmlformats.org/drawingml/2006/main">
              <a:ext uri="{FF2B5EF4-FFF2-40B4-BE49-F238E27FC236}">
                <a16:creationId xmlns:a16="http://schemas.microsoft.com/office/drawing/2014/main" id="{DED86DDE-2C70-4191-8F37-53B645C17F85}"/>
              </a:ext>
            </a:extLst>
          </p:cNvPr>
          <p:cNvSpPr>
            <a:spLocks xmlns:a="http://schemas.openxmlformats.org/drawingml/2006/main" noGrp="1"/>
          </p:cNvSpPr>
          <p:nvPr/>
        </p:nvSpPr>
        <p:spPr>
          <a:xfrm xmlns:a="http://schemas.openxmlformats.org/drawingml/2006/main">
            <a:off x="762000" y="4762500"/>
            <a:ext cx="76200" cy="76200"/>
          </a:xfrm>
          <a:prstGeom xmlns:a="http://schemas.openxmlformats.org/drawingml/2006/main" prst="ellipse">
            <a:avLst/>
          </a:prstGeom>
          <a:solidFill xmlns:a="http://schemas.openxmlformats.org/drawingml/2006/main">
            <a:srgbClr val="32D583"/>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D5EE10D8-D72A-4126-A054-F31ABC164D9B}"/>
              </a:ext>
            </a:extLst>
          </p:cNvPr>
          <p:cNvSpPr>
            <a:spLocks xmlns:a="http://schemas.openxmlformats.org/drawingml/2006/main" noGrp="1"/>
          </p:cNvSpPr>
          <p:nvPr/>
        </p:nvSpPr>
        <p:spPr>
          <a:xfrm xmlns:a="http://schemas.openxmlformats.org/drawingml/2006/main">
            <a:off x="971550" y="4686300"/>
            <a:ext cx="3028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4F8FF"/>
                </a:solidFill>
              </a:defRPr>
            </a:pPr>
            <a:r>
              <a:rPr sz="1275" b="0">
                <a:solidFill>
                  <a:srgbClr val="F4F8FF"/>
                </a:solidFill>
              </a:rPr>
              <a:t>Typed outputs and versioned prompts</a:t>
            </a:r>
          </a:p>
        </p:txBody>
      </p:sp>
      <p:sp>
        <p:nvSpPr>
          <p:cNvPr id="56" name="">
            <a:extLst xmlns:a="http://schemas.openxmlformats.org/drawingml/2006/main">
              <a:ext uri="{FF2B5EF4-FFF2-40B4-BE49-F238E27FC236}">
                <a16:creationId xmlns:a16="http://schemas.microsoft.com/office/drawing/2014/main" id="{5F71938D-747D-4D63-B8A6-DFA4F0EB53B6}"/>
              </a:ext>
            </a:extLst>
          </p:cNvPr>
          <p:cNvSpPr>
            <a:spLocks xmlns:a="http://schemas.openxmlformats.org/drawingml/2006/main" noGrp="1"/>
          </p:cNvSpPr>
          <p:nvPr/>
        </p:nvSpPr>
        <p:spPr>
          <a:xfrm xmlns:a="http://schemas.openxmlformats.org/drawingml/2006/main">
            <a:off x="4095750" y="4762500"/>
            <a:ext cx="76200" cy="76200"/>
          </a:xfrm>
          <a:prstGeom xmlns:a="http://schemas.openxmlformats.org/drawingml/2006/main" prst="ellipse">
            <a:avLst/>
          </a:prstGeom>
          <a:solidFill xmlns:a="http://schemas.openxmlformats.org/drawingml/2006/main">
            <a:srgbClr val="32D583"/>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D689C2C0-C5E4-4EAC-BA3E-C3382207CF43}"/>
              </a:ext>
            </a:extLst>
          </p:cNvPr>
          <p:cNvSpPr>
            <a:spLocks xmlns:a="http://schemas.openxmlformats.org/drawingml/2006/main" noGrp="1"/>
          </p:cNvSpPr>
          <p:nvPr/>
        </p:nvSpPr>
        <p:spPr>
          <a:xfrm xmlns:a="http://schemas.openxmlformats.org/drawingml/2006/main">
            <a:off x="4305300" y="4686300"/>
            <a:ext cx="3219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4F8FF"/>
                </a:solidFill>
              </a:defRPr>
            </a:pPr>
            <a:r>
              <a:rPr sz="1275" b="0">
                <a:solidFill>
                  <a:srgbClr val="F4F8FF"/>
                </a:solidFill>
              </a:rPr>
              <a:t>Source inspection and forbidden-pattern checks</a:t>
            </a:r>
          </a:p>
        </p:txBody>
      </p:sp>
      <p:sp>
        <p:nvSpPr>
          <p:cNvPr id="58" name="">
            <a:extLst xmlns:a="http://schemas.openxmlformats.org/drawingml/2006/main">
              <a:ext uri="{FF2B5EF4-FFF2-40B4-BE49-F238E27FC236}">
                <a16:creationId xmlns:a16="http://schemas.microsoft.com/office/drawing/2014/main" id="{5D37FE44-6EA3-4064-8690-53A0C7B4811C}"/>
              </a:ext>
            </a:extLst>
          </p:cNvPr>
          <p:cNvSpPr>
            <a:spLocks xmlns:a="http://schemas.openxmlformats.org/drawingml/2006/main" noGrp="1"/>
          </p:cNvSpPr>
          <p:nvPr/>
        </p:nvSpPr>
        <p:spPr>
          <a:xfrm xmlns:a="http://schemas.openxmlformats.org/drawingml/2006/main">
            <a:off x="7810500" y="4762500"/>
            <a:ext cx="76200" cy="76200"/>
          </a:xfrm>
          <a:prstGeom xmlns:a="http://schemas.openxmlformats.org/drawingml/2006/main" prst="ellipse">
            <a:avLst/>
          </a:prstGeom>
          <a:solidFill xmlns:a="http://schemas.openxmlformats.org/drawingml/2006/main">
            <a:srgbClr val="32D583"/>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78A65ACE-99F8-4956-8CDA-C402FDD62801}"/>
              </a:ext>
            </a:extLst>
          </p:cNvPr>
          <p:cNvSpPr>
            <a:spLocks xmlns:a="http://schemas.openxmlformats.org/drawingml/2006/main" noGrp="1"/>
          </p:cNvSpPr>
          <p:nvPr/>
        </p:nvSpPr>
        <p:spPr>
          <a:xfrm xmlns:a="http://schemas.openxmlformats.org/drawingml/2006/main">
            <a:off x="8020050" y="4686300"/>
            <a:ext cx="312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4F8FF"/>
                </a:solidFill>
              </a:defRPr>
            </a:pPr>
            <a:r>
              <a:rPr sz="1275" b="0">
                <a:solidFill>
                  <a:srgbClr val="F4F8FF"/>
                </a:solidFill>
              </a:rPr>
              <a:t>Optional allowlisted MetaEditor compilation</a:t>
            </a:r>
          </a:p>
        </p:txBody>
      </p:sp>
      <p:sp>
        <p:nvSpPr>
          <p:cNvPr id="60" name="">
            <a:extLst xmlns:a="http://schemas.openxmlformats.org/drawingml/2006/main">
              <a:ext uri="{FF2B5EF4-FFF2-40B4-BE49-F238E27FC236}">
                <a16:creationId xmlns:a16="http://schemas.microsoft.com/office/drawing/2014/main" id="{6ED84340-209C-4EB4-B0E3-90351AE1F0F9}"/>
              </a:ext>
            </a:extLst>
          </p:cNvPr>
          <p:cNvSpPr>
            <a:spLocks xmlns:a="http://schemas.openxmlformats.org/drawingml/2006/main" noGrp="1"/>
          </p:cNvSpPr>
          <p:nvPr/>
        </p:nvSpPr>
        <p:spPr>
          <a:xfrm xmlns:a="http://schemas.openxmlformats.org/drawingml/2006/main">
            <a:off x="762000" y="5295900"/>
            <a:ext cx="76200" cy="76200"/>
          </a:xfrm>
          <a:prstGeom xmlns:a="http://schemas.openxmlformats.org/drawingml/2006/main" prst="ellipse">
            <a:avLst/>
          </a:prstGeom>
          <a:solidFill xmlns:a="http://schemas.openxmlformats.org/drawingml/2006/main">
            <a:srgbClr val="32D583"/>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6E98C90F-7BF7-4EB1-8C67-EB93FEEA05C8}"/>
              </a:ext>
            </a:extLst>
          </p:cNvPr>
          <p:cNvSpPr>
            <a:spLocks xmlns:a="http://schemas.openxmlformats.org/drawingml/2006/main" noGrp="1"/>
          </p:cNvSpPr>
          <p:nvPr/>
        </p:nvSpPr>
        <p:spPr>
          <a:xfrm xmlns:a="http://schemas.openxmlformats.org/drawingml/2006/main">
            <a:off x="971550" y="5219700"/>
            <a:ext cx="3028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4F8FF"/>
                </a:solidFill>
              </a:defRPr>
            </a:pPr>
            <a:r>
              <a:rPr sz="1275" b="0">
                <a:solidFill>
                  <a:srgbClr val="F4F8FF"/>
                </a:solidFill>
              </a:rPr>
              <a:t>Pinned workflow snapshot for reproducibility</a:t>
            </a:r>
          </a:p>
        </p:txBody>
      </p:sp>
      <p:sp>
        <p:nvSpPr>
          <p:cNvPr id="62" name="">
            <a:extLst xmlns:a="http://schemas.openxmlformats.org/drawingml/2006/main">
              <a:ext uri="{FF2B5EF4-FFF2-40B4-BE49-F238E27FC236}">
                <a16:creationId xmlns:a16="http://schemas.microsoft.com/office/drawing/2014/main" id="{097F9CF9-0F03-4538-A93C-98BAB5499CDF}"/>
              </a:ext>
            </a:extLst>
          </p:cNvPr>
          <p:cNvSpPr>
            <a:spLocks xmlns:a="http://schemas.openxmlformats.org/drawingml/2006/main" noGrp="1"/>
          </p:cNvSpPr>
          <p:nvPr/>
        </p:nvSpPr>
        <p:spPr>
          <a:xfrm xmlns:a="http://schemas.openxmlformats.org/drawingml/2006/main">
            <a:off x="4095750" y="5295900"/>
            <a:ext cx="76200" cy="76200"/>
          </a:xfrm>
          <a:prstGeom xmlns:a="http://schemas.openxmlformats.org/drawingml/2006/main" prst="ellipse">
            <a:avLst/>
          </a:prstGeom>
          <a:solidFill xmlns:a="http://schemas.openxmlformats.org/drawingml/2006/main">
            <a:srgbClr val="32D583"/>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BF3A2A94-D13D-4AF8-A6F7-D9BE465A343A}"/>
              </a:ext>
            </a:extLst>
          </p:cNvPr>
          <p:cNvSpPr>
            <a:spLocks xmlns:a="http://schemas.openxmlformats.org/drawingml/2006/main" noGrp="1"/>
          </p:cNvSpPr>
          <p:nvPr/>
        </p:nvSpPr>
        <p:spPr>
          <a:xfrm xmlns:a="http://schemas.openxmlformats.org/drawingml/2006/main">
            <a:off x="4305300" y="5219700"/>
            <a:ext cx="3219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4F8FF"/>
                </a:solidFill>
              </a:defRPr>
            </a:pPr>
            <a:r>
              <a:rPr sz="1275" b="0">
                <a:solidFill>
                  <a:srgbClr val="F4F8FF"/>
                </a:solidFill>
              </a:rPr>
              <a:t>Repair loop capped by policy and budget</a:t>
            </a:r>
          </a:p>
        </p:txBody>
      </p:sp>
      <p:sp>
        <p:nvSpPr>
          <p:cNvPr id="64" name="">
            <a:extLst xmlns:a="http://schemas.openxmlformats.org/drawingml/2006/main">
              <a:ext uri="{FF2B5EF4-FFF2-40B4-BE49-F238E27FC236}">
                <a16:creationId xmlns:a16="http://schemas.microsoft.com/office/drawing/2014/main" id="{5E97A211-B397-46F7-AF3D-0322C88574AA}"/>
              </a:ext>
            </a:extLst>
          </p:cNvPr>
          <p:cNvSpPr>
            <a:spLocks xmlns:a="http://schemas.openxmlformats.org/drawingml/2006/main" noGrp="1"/>
          </p:cNvSpPr>
          <p:nvPr/>
        </p:nvSpPr>
        <p:spPr>
          <a:xfrm xmlns:a="http://schemas.openxmlformats.org/drawingml/2006/main">
            <a:off x="7810500" y="5295900"/>
            <a:ext cx="76200" cy="76200"/>
          </a:xfrm>
          <a:prstGeom xmlns:a="http://schemas.openxmlformats.org/drawingml/2006/main" prst="ellipse">
            <a:avLst/>
          </a:prstGeom>
          <a:solidFill xmlns:a="http://schemas.openxmlformats.org/drawingml/2006/main">
            <a:srgbClr val="32D583"/>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FB35F3C4-3E47-40CF-94A9-F868C4750547}"/>
              </a:ext>
            </a:extLst>
          </p:cNvPr>
          <p:cNvSpPr>
            <a:spLocks xmlns:a="http://schemas.openxmlformats.org/drawingml/2006/main" noGrp="1"/>
          </p:cNvSpPr>
          <p:nvPr/>
        </p:nvSpPr>
        <p:spPr>
          <a:xfrm xmlns:a="http://schemas.openxmlformats.org/drawingml/2006/main">
            <a:off x="8020050" y="5219700"/>
            <a:ext cx="312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4F8FF"/>
                </a:solidFill>
              </a:defRPr>
            </a:pPr>
            <a:r>
              <a:rPr sz="1275" b="0">
                <a:solidFill>
                  <a:srgbClr val="F4F8FF"/>
                </a:solidFill>
              </a:rPr>
              <a:t>Token and estimated-cost accounting</a:t>
            </a:r>
          </a:p>
        </p:txBody>
      </p:sp>
    </p:spTree>
    <p:extLst>
      <p:ext uri="{BB962C8B-B14F-4D97-AF65-F5344CB8AC3E}">
        <p14:creationId xmlns:p14="http://schemas.microsoft.com/office/powerpoint/2010/main" val="718597404"/>
      </p:ext>
    </p:extLst>
  </p:cSld>
</p:sld>
</file>

<file path=ppt/slides/slide6.xml><?xml version="1.0" encoding="utf-8"?>
<p:sld xmlns:p="http://schemas.openxmlformats.org/presentationml/2006/main">
  <p:cSld>
    <p:bg>
      <p:bgPr>
        <a:solidFill xmlns:a="http://schemas.openxmlformats.org/drawingml/2006/main">
          <a:srgbClr val="040812"/>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6C60C704-C5F6-423E-BDC5-98566A14ABC2}"/>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D6A93B-D58A-4274-8CDE-00A1642E532C}"/>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861DDF8-F155-421B-8080-ECF0C38671D8}"/>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4E18924-85DE-45D3-8CCB-E6441777A7A0}"/>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0994C80-7F49-4CF4-94B8-20ED4AF7ED81}"/>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14DA24D-A4E5-4C34-B11B-53DF3BE72D92}"/>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45ED60D-D378-43E4-B2F4-34E16A2EA123}"/>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D5C9316-8DFA-40BE-8DAF-BB283DCB69C8}"/>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0B0E309-9BA7-4D45-90A0-551C9A491F76}"/>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0FF8E9B-7882-4C06-ABD2-88882058B1F5}"/>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D66305E-6740-4021-8955-84DA215908FD}"/>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15778B5-B875-4886-8C65-699A1E204D61}"/>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6272D6A-B667-4822-A526-77E38D8420E2}"/>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153EE2D-46A1-4FE9-909B-77B7AD038665}"/>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983B459-6F6A-48FC-B27D-6D471171F197}"/>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04BBCF9-B362-4A7A-9BD5-6B0B0348BA6D}"/>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A7B80CC-1C27-4BFF-8376-67CCB302E443}"/>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85780F3-8423-4695-925D-0E91273E52A8}"/>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8EF6B70-A943-4555-A0A7-C05309195C2F}"/>
              </a:ext>
            </a:extLst>
          </p:cNvPr>
          <p:cNvSpPr>
            <a:spLocks xmlns:a="http://schemas.openxmlformats.org/drawingml/2006/main" noGrp="1"/>
          </p:cNvSpPr>
          <p:nvPr/>
        </p:nvSpPr>
        <p:spPr>
          <a:xfrm xmlns:a="http://schemas.openxmlformats.org/drawingml/2006/main">
            <a:off x="0" y="76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0C5304F-4203-4A23-B90E-C276D4B4E63E}"/>
              </a:ext>
            </a:extLst>
          </p:cNvPr>
          <p:cNvSpPr>
            <a:spLocks xmlns:a="http://schemas.openxmlformats.org/drawingml/2006/main" noGrp="1"/>
          </p:cNvSpPr>
          <p:nvPr/>
        </p:nvSpPr>
        <p:spPr>
          <a:xfrm xmlns:a="http://schemas.openxmlformats.org/drawingml/2006/main">
            <a:off x="0" y="152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F3086FC-9942-4432-A159-779013800EF8}"/>
              </a:ext>
            </a:extLst>
          </p:cNvPr>
          <p:cNvSpPr>
            <a:spLocks xmlns:a="http://schemas.openxmlformats.org/drawingml/2006/main" noGrp="1"/>
          </p:cNvSpPr>
          <p:nvPr/>
        </p:nvSpPr>
        <p:spPr>
          <a:xfrm xmlns:a="http://schemas.openxmlformats.org/drawingml/2006/main">
            <a:off x="0" y="228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1344697-1349-470E-93D2-CC2FF1098BCD}"/>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9C9B5ED-ABDF-47A6-B14D-34471C4FB2A8}"/>
              </a:ext>
            </a:extLst>
          </p:cNvPr>
          <p:cNvSpPr>
            <a:spLocks xmlns:a="http://schemas.openxmlformats.org/drawingml/2006/main" noGrp="1"/>
          </p:cNvSpPr>
          <p:nvPr/>
        </p:nvSpPr>
        <p:spPr>
          <a:xfrm xmlns:a="http://schemas.openxmlformats.org/drawingml/2006/main">
            <a:off x="0" y="3810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AB5E095-401F-40B4-885F-3A977D878D20}"/>
              </a:ext>
            </a:extLst>
          </p:cNvPr>
          <p:cNvSpPr>
            <a:spLocks xmlns:a="http://schemas.openxmlformats.org/drawingml/2006/main" noGrp="1"/>
          </p:cNvSpPr>
          <p:nvPr/>
        </p:nvSpPr>
        <p:spPr>
          <a:xfrm xmlns:a="http://schemas.openxmlformats.org/drawingml/2006/main">
            <a:off x="0" y="457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D4415DE-A0A2-4A5B-8DDC-93365751F13F}"/>
              </a:ext>
            </a:extLst>
          </p:cNvPr>
          <p:cNvSpPr>
            <a:spLocks xmlns:a="http://schemas.openxmlformats.org/drawingml/2006/main" noGrp="1"/>
          </p:cNvSpPr>
          <p:nvPr/>
        </p:nvSpPr>
        <p:spPr>
          <a:xfrm xmlns:a="http://schemas.openxmlformats.org/drawingml/2006/main">
            <a:off x="0" y="533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F8468D2-4FD3-4FDF-AF79-A56FC0F55B81}"/>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F3EDEBE-7F24-4AE4-B009-5A0CE693CE51}"/>
              </a:ext>
            </a:extLst>
          </p:cNvPr>
          <p:cNvSpPr>
            <a:spLocks xmlns:a="http://schemas.openxmlformats.org/drawingml/2006/main" noGrp="1"/>
          </p:cNvSpPr>
          <p:nvPr/>
        </p:nvSpPr>
        <p:spPr>
          <a:xfrm xmlns:a="http://schemas.openxmlformats.org/drawingml/2006/main">
            <a:off x="0" y="685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D7232B3-FCD1-4BEA-A8C4-2F00761E8F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0E2AEEA-49F8-40EF-8E8B-40F71FA18887}"/>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PROJECT-AWARE REPAIR</a:t>
            </a:r>
          </a:p>
        </p:txBody>
      </p:sp>
      <p:sp>
        <p:nvSpPr>
          <p:cNvPr id="30" name="slide-6-title">
            <a:extLst xmlns:a="http://schemas.openxmlformats.org/drawingml/2006/main">
              <a:ext uri="{FF2B5EF4-FFF2-40B4-BE49-F238E27FC236}">
                <a16:creationId xmlns:a16="http://schemas.microsoft.com/office/drawing/2014/main" id="{26496F3B-13F6-4FB6-9B64-767F9A9D1A6C}"/>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4F8FF"/>
                </a:solidFill>
              </a:defRPr>
            </a:pPr>
            <a:r>
              <a:rPr sz="2700" b="1">
                <a:solidFill>
                  <a:srgbClr val="F4F8FF"/>
                </a:solidFill>
              </a:rPr>
              <a:t>The copilot closes the loop on real code</a:t>
            </a:r>
          </a:p>
        </p:txBody>
      </p:sp>
      <p:sp>
        <p:nvSpPr>
          <p:cNvPr id="31" name="">
            <a:extLst xmlns:a="http://schemas.openxmlformats.org/drawingml/2006/main">
              <a:ext uri="{FF2B5EF4-FFF2-40B4-BE49-F238E27FC236}">
                <a16:creationId xmlns:a16="http://schemas.microsoft.com/office/drawing/2014/main" id="{20BA933B-8E9C-4B0C-99E9-49310B38E376}"/>
              </a:ext>
            </a:extLst>
          </p:cNvPr>
          <p:cNvSpPr>
            <a:spLocks xmlns:a="http://schemas.openxmlformats.org/drawingml/2006/main" noGrp="1"/>
          </p:cNvSpPr>
          <p:nvPr/>
        </p:nvSpPr>
        <p:spPr>
          <a:xfrm xmlns:a="http://schemas.openxmlformats.org/drawingml/2006/main">
            <a:off x="533400" y="1257300"/>
            <a:ext cx="11125200" cy="952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BAC90F6-A361-4455-8271-728CE68ACC59}"/>
              </a:ext>
            </a:extLst>
          </p:cNvPr>
          <p:cNvSpPr>
            <a:spLocks xmlns:a="http://schemas.openxmlformats.org/drawingml/2006/main" noGrp="1"/>
          </p:cNvSpPr>
          <p:nvPr/>
        </p:nvSpPr>
        <p:spPr>
          <a:xfrm xmlns:a="http://schemas.openxmlformats.org/drawingml/2006/main">
            <a:off x="533400" y="65341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4748B"/>
                </a:solidFill>
              </a:defRPr>
            </a:pPr>
            <a:r>
              <a:rPr sz="825" b="1">
                <a:solidFill>
                  <a:srgbClr val="64748B"/>
                </a:solidFill>
              </a:rPr>
              <a:t>AAA EAs BUILDER</a:t>
            </a:r>
          </a:p>
        </p:txBody>
      </p:sp>
      <p:sp>
        <p:nvSpPr>
          <p:cNvPr id="33" name="">
            <a:extLst xmlns:a="http://schemas.openxmlformats.org/drawingml/2006/main">
              <a:ext uri="{FF2B5EF4-FFF2-40B4-BE49-F238E27FC236}">
                <a16:creationId xmlns:a16="http://schemas.microsoft.com/office/drawing/2014/main" id="{50E6C129-94A1-4D38-8562-D1BC35694F31}"/>
              </a:ext>
            </a:extLst>
          </p:cNvPr>
          <p:cNvSpPr>
            <a:spLocks xmlns:a="http://schemas.openxmlformats.org/drawingml/2006/main" noGrp="1"/>
          </p:cNvSpPr>
          <p:nvPr/>
        </p:nvSpPr>
        <p:spPr>
          <a:xfrm xmlns:a="http://schemas.openxmlformats.org/drawingml/2006/main">
            <a:off x="11144250" y="65151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4748B"/>
                </a:solidFill>
              </a:defRPr>
            </a:pPr>
            <a:r>
              <a:rPr sz="825" b="1">
                <a:solidFill>
                  <a:srgbClr val="64748B"/>
                </a:solidFill>
              </a:rPr>
              <a:t>06</a:t>
            </a:r>
          </a:p>
        </p:txBody>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bfd4124b898f4174"/>
          <a:srcRect xmlns:a="http://schemas.openxmlformats.org/drawingml/2006/main" l="298" t="0" r="298" b="0"/>
          <a:stretch xmlns:a="http://schemas.openxmlformats.org/drawingml/2006/main">
            <a:fillRect l="0" t="0" r="0" b="0"/>
          </a:stretch>
        </p:blipFill>
        <p:spPr>
          <a:xfrm xmlns:a="http://schemas.openxmlformats.org/drawingml/2006/main">
            <a:off x="533400" y="1562100"/>
            <a:ext cx="6724650" cy="4267200"/>
          </a:xfrm>
          <a:prstGeom xmlns:a="http://schemas.openxmlformats.org/drawingml/2006/main" prst="roundRect">
            <a:avLst>
              <a:gd name="adj" fmla="val 2679"/>
            </a:avLst>
          </a:prstGeom>
        </p:spPr>
      </p:pic>
      <p:sp>
        <p:nvSpPr>
          <p:cNvPr id="35" name="">
            <a:extLst xmlns:a="http://schemas.openxmlformats.org/drawingml/2006/main">
              <a:ext uri="{FF2B5EF4-FFF2-40B4-BE49-F238E27FC236}">
                <a16:creationId xmlns:a16="http://schemas.microsoft.com/office/drawing/2014/main" id="{B4CD1567-D0B0-4F95-A292-C41B16C2F802}"/>
              </a:ext>
            </a:extLst>
          </p:cNvPr>
          <p:cNvSpPr>
            <a:spLocks xmlns:a="http://schemas.openxmlformats.org/drawingml/2006/main" noGrp="1"/>
          </p:cNvSpPr>
          <p:nvPr/>
        </p:nvSpPr>
        <p:spPr>
          <a:xfrm xmlns:a="http://schemas.openxmlformats.org/drawingml/2006/main">
            <a:off x="723900" y="1752600"/>
            <a:ext cx="1619250" cy="285750"/>
          </a:xfrm>
          <a:prstGeom xmlns:a="http://schemas.openxmlformats.org/drawingml/2006/main" prst="roundRect">
            <a:avLst>
              <a:gd name="adj" fmla="val 40000"/>
            </a:avLst>
          </a:prstGeom>
          <a:solidFill xmlns:a="http://schemas.openxmlformats.org/drawingml/2006/main">
            <a:srgbClr val="081425"/>
          </a:solidFill>
          <a:ln xmlns:a="http://schemas.openxmlformats.org/drawingml/2006/main" w="9525">
            <a:solidFill>
              <a:srgbClr val="A855F7"/>
            </a:solidFill>
            <a:prstDash val="solid"/>
          </a:ln>
        </p:spPr>
      </p:sp>
      <p:sp>
        <p:nvSpPr>
          <p:cNvPr id="36" name="">
            <a:extLst xmlns:a="http://schemas.openxmlformats.org/drawingml/2006/main">
              <a:ext uri="{FF2B5EF4-FFF2-40B4-BE49-F238E27FC236}">
                <a16:creationId xmlns:a16="http://schemas.microsoft.com/office/drawing/2014/main" id="{056B311E-B32D-4A7E-A20C-63673CCEB507}"/>
              </a:ext>
            </a:extLst>
          </p:cNvPr>
          <p:cNvSpPr>
            <a:spLocks xmlns:a="http://schemas.openxmlformats.org/drawingml/2006/main" noGrp="1"/>
          </p:cNvSpPr>
          <p:nvPr/>
        </p:nvSpPr>
        <p:spPr>
          <a:xfrm xmlns:a="http://schemas.openxmlformats.org/drawingml/2006/main">
            <a:off x="723900" y="180975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A855F7"/>
                </a:solidFill>
              </a:defRPr>
            </a:pPr>
            <a:r>
              <a:rPr sz="900" b="1">
                <a:solidFill>
                  <a:srgbClr val="A855F7"/>
                </a:solidFill>
              </a:rPr>
              <a:t>WORKSPACE DIRECTION</a:t>
            </a:r>
          </a:p>
        </p:txBody>
      </p:sp>
      <p:sp>
        <p:nvSpPr>
          <p:cNvPr id="37" name="">
            <a:extLst xmlns:a="http://schemas.openxmlformats.org/drawingml/2006/main">
              <a:ext uri="{FF2B5EF4-FFF2-40B4-BE49-F238E27FC236}">
                <a16:creationId xmlns:a16="http://schemas.microsoft.com/office/drawing/2014/main" id="{770A6F9B-B13D-4519-9DF3-17FA3F5AC061}"/>
              </a:ext>
            </a:extLst>
          </p:cNvPr>
          <p:cNvSpPr>
            <a:spLocks xmlns:a="http://schemas.openxmlformats.org/drawingml/2006/main" noGrp="1"/>
          </p:cNvSpPr>
          <p:nvPr/>
        </p:nvSpPr>
        <p:spPr>
          <a:xfrm xmlns:a="http://schemas.openxmlformats.org/drawingml/2006/main">
            <a:off x="7677150" y="16192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FRESH CONTEXT PER ANSWER</a:t>
            </a:r>
          </a:p>
        </p:txBody>
      </p:sp>
      <p:sp>
        <p:nvSpPr>
          <p:cNvPr id="38" name="">
            <a:extLst xmlns:a="http://schemas.openxmlformats.org/drawingml/2006/main">
              <a:ext uri="{FF2B5EF4-FFF2-40B4-BE49-F238E27FC236}">
                <a16:creationId xmlns:a16="http://schemas.microsoft.com/office/drawing/2014/main" id="{D8E99BC5-5A73-4A36-B359-615EE5825437}"/>
              </a:ext>
            </a:extLst>
          </p:cNvPr>
          <p:cNvSpPr>
            <a:spLocks xmlns:a="http://schemas.openxmlformats.org/drawingml/2006/main" noGrp="1"/>
          </p:cNvSpPr>
          <p:nvPr/>
        </p:nvSpPr>
        <p:spPr>
          <a:xfrm xmlns:a="http://schemas.openxmlformats.org/drawingml/2006/main">
            <a:off x="7677150" y="2076450"/>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D6167B7-E9BE-427C-8B45-BBE496DDACBA}"/>
              </a:ext>
            </a:extLst>
          </p:cNvPr>
          <p:cNvSpPr>
            <a:spLocks xmlns:a="http://schemas.openxmlformats.org/drawingml/2006/main" noGrp="1"/>
          </p:cNvSpPr>
          <p:nvPr/>
        </p:nvSpPr>
        <p:spPr>
          <a:xfrm xmlns:a="http://schemas.openxmlformats.org/drawingml/2006/main">
            <a:off x="7886700" y="2000250"/>
            <a:ext cx="3409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4F8FF"/>
                </a:solidFill>
              </a:defRPr>
            </a:pPr>
            <a:r>
              <a:rPr sz="1275" b="0">
                <a:solidFill>
                  <a:srgbClr val="F4F8FF"/>
                </a:solidFill>
              </a:rPr>
              <a:t>Project rules + run progress</a:t>
            </a:r>
          </a:p>
        </p:txBody>
      </p:sp>
      <p:sp>
        <p:nvSpPr>
          <p:cNvPr id="40" name="">
            <a:extLst xmlns:a="http://schemas.openxmlformats.org/drawingml/2006/main">
              <a:ext uri="{FF2B5EF4-FFF2-40B4-BE49-F238E27FC236}">
                <a16:creationId xmlns:a16="http://schemas.microsoft.com/office/drawing/2014/main" id="{131453C0-310E-4DB4-99EB-F27F2F7DC443}"/>
              </a:ext>
            </a:extLst>
          </p:cNvPr>
          <p:cNvSpPr>
            <a:spLocks xmlns:a="http://schemas.openxmlformats.org/drawingml/2006/main" noGrp="1"/>
          </p:cNvSpPr>
          <p:nvPr/>
        </p:nvSpPr>
        <p:spPr>
          <a:xfrm xmlns:a="http://schemas.openxmlformats.org/drawingml/2006/main">
            <a:off x="7677150" y="2495550"/>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CF3E4AB-A993-4587-8C4D-AFAF64814FDB}"/>
              </a:ext>
            </a:extLst>
          </p:cNvPr>
          <p:cNvSpPr>
            <a:spLocks xmlns:a="http://schemas.openxmlformats.org/drawingml/2006/main" noGrp="1"/>
          </p:cNvSpPr>
          <p:nvPr/>
        </p:nvSpPr>
        <p:spPr>
          <a:xfrm xmlns:a="http://schemas.openxmlformats.org/drawingml/2006/main">
            <a:off x="7886700" y="2419350"/>
            <a:ext cx="3409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4F8FF"/>
                </a:solidFill>
              </a:defRPr>
            </a:pPr>
            <a:r>
              <a:rPr sz="1275" b="0">
                <a:solidFill>
                  <a:srgbClr val="F4F8FF"/>
                </a:solidFill>
              </a:rPr>
              <a:t>Pinned workflow snapshot</a:t>
            </a:r>
          </a:p>
        </p:txBody>
      </p:sp>
      <p:sp>
        <p:nvSpPr>
          <p:cNvPr id="42" name="">
            <a:extLst xmlns:a="http://schemas.openxmlformats.org/drawingml/2006/main">
              <a:ext uri="{FF2B5EF4-FFF2-40B4-BE49-F238E27FC236}">
                <a16:creationId xmlns:a16="http://schemas.microsoft.com/office/drawing/2014/main" id="{717F306E-A2CD-4B03-B2E0-22C04912D165}"/>
              </a:ext>
            </a:extLst>
          </p:cNvPr>
          <p:cNvSpPr>
            <a:spLocks xmlns:a="http://schemas.openxmlformats.org/drawingml/2006/main" noGrp="1"/>
          </p:cNvSpPr>
          <p:nvPr/>
        </p:nvSpPr>
        <p:spPr>
          <a:xfrm xmlns:a="http://schemas.openxmlformats.org/drawingml/2006/main">
            <a:off x="7677150" y="2914650"/>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1339CE65-CF31-43E4-87C1-184942C262FD}"/>
              </a:ext>
            </a:extLst>
          </p:cNvPr>
          <p:cNvSpPr>
            <a:spLocks xmlns:a="http://schemas.openxmlformats.org/drawingml/2006/main" noGrp="1"/>
          </p:cNvSpPr>
          <p:nvPr/>
        </p:nvSpPr>
        <p:spPr>
          <a:xfrm xmlns:a="http://schemas.openxmlformats.org/drawingml/2006/main">
            <a:off x="7886700" y="2838450"/>
            <a:ext cx="3409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4F8FF"/>
                </a:solidFill>
              </a:defRPr>
            </a:pPr>
            <a:r>
              <a:rPr sz="1275" b="0">
                <a:solidFill>
                  <a:srgbClr val="F4F8FF"/>
                </a:solidFill>
              </a:rPr>
              <a:t>Latest complete source</a:t>
            </a:r>
          </a:p>
        </p:txBody>
      </p:sp>
      <p:sp>
        <p:nvSpPr>
          <p:cNvPr id="44" name="">
            <a:extLst xmlns:a="http://schemas.openxmlformats.org/drawingml/2006/main">
              <a:ext uri="{FF2B5EF4-FFF2-40B4-BE49-F238E27FC236}">
                <a16:creationId xmlns:a16="http://schemas.microsoft.com/office/drawing/2014/main" id="{EA007C07-FD9B-4D1A-AAD8-1D1C85F5942E}"/>
              </a:ext>
            </a:extLst>
          </p:cNvPr>
          <p:cNvSpPr>
            <a:spLocks xmlns:a="http://schemas.openxmlformats.org/drawingml/2006/main" noGrp="1"/>
          </p:cNvSpPr>
          <p:nvPr/>
        </p:nvSpPr>
        <p:spPr>
          <a:xfrm xmlns:a="http://schemas.openxmlformats.org/drawingml/2006/main">
            <a:off x="7677150" y="3333750"/>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0FB51D34-F6AF-41C5-95B7-9189E7F083DB}"/>
              </a:ext>
            </a:extLst>
          </p:cNvPr>
          <p:cNvSpPr>
            <a:spLocks xmlns:a="http://schemas.openxmlformats.org/drawingml/2006/main" noGrp="1"/>
          </p:cNvSpPr>
          <p:nvPr/>
        </p:nvSpPr>
        <p:spPr>
          <a:xfrm xmlns:a="http://schemas.openxmlformats.org/drawingml/2006/main">
            <a:off x="7886700" y="3257550"/>
            <a:ext cx="3409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4F8FF"/>
                </a:solidFill>
              </a:defRPr>
            </a:pPr>
            <a:r>
              <a:rPr sz="1275" b="0">
                <a:solidFill>
                  <a:srgbClr val="F4F8FF"/>
                </a:solidFill>
              </a:rPr>
              <a:t>Versions + diagnostics</a:t>
            </a:r>
          </a:p>
        </p:txBody>
      </p:sp>
      <p:sp>
        <p:nvSpPr>
          <p:cNvPr id="46" name="">
            <a:extLst xmlns:a="http://schemas.openxmlformats.org/drawingml/2006/main">
              <a:ext uri="{FF2B5EF4-FFF2-40B4-BE49-F238E27FC236}">
                <a16:creationId xmlns:a16="http://schemas.microsoft.com/office/drawing/2014/main" id="{392A4950-BB69-4DB4-95EF-D7A43DA87B9B}"/>
              </a:ext>
            </a:extLst>
          </p:cNvPr>
          <p:cNvSpPr>
            <a:spLocks xmlns:a="http://schemas.openxmlformats.org/drawingml/2006/main" noGrp="1"/>
          </p:cNvSpPr>
          <p:nvPr/>
        </p:nvSpPr>
        <p:spPr>
          <a:xfrm xmlns:a="http://schemas.openxmlformats.org/drawingml/2006/main">
            <a:off x="7677150" y="3752850"/>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51B75367-76FC-4940-8EBD-C8C221D16D2B}"/>
              </a:ext>
            </a:extLst>
          </p:cNvPr>
          <p:cNvSpPr>
            <a:spLocks xmlns:a="http://schemas.openxmlformats.org/drawingml/2006/main" noGrp="1"/>
          </p:cNvSpPr>
          <p:nvPr/>
        </p:nvSpPr>
        <p:spPr>
          <a:xfrm xmlns:a="http://schemas.openxmlformats.org/drawingml/2006/main">
            <a:off x="7886700" y="3676650"/>
            <a:ext cx="3409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F4F8FF"/>
                </a:solidFill>
              </a:defRPr>
            </a:pPr>
            <a:r>
              <a:rPr sz="1275" b="0">
                <a:solidFill>
                  <a:srgbClr val="F4F8FF"/>
                </a:solidFill>
              </a:rPr>
              <a:t>Compiler output + recent chat</a:t>
            </a:r>
          </a:p>
        </p:txBody>
      </p:sp>
      <p:sp>
        <p:nvSpPr>
          <p:cNvPr id="48" name="">
            <a:extLst xmlns:a="http://schemas.openxmlformats.org/drawingml/2006/main">
              <a:ext uri="{FF2B5EF4-FFF2-40B4-BE49-F238E27FC236}">
                <a16:creationId xmlns:a16="http://schemas.microsoft.com/office/drawing/2014/main" id="{30A3CED6-C70A-449F-B087-B83476DF2042}"/>
              </a:ext>
            </a:extLst>
          </p:cNvPr>
          <p:cNvSpPr>
            <a:spLocks xmlns:a="http://schemas.openxmlformats.org/drawingml/2006/main" noGrp="1"/>
          </p:cNvSpPr>
          <p:nvPr/>
        </p:nvSpPr>
        <p:spPr>
          <a:xfrm xmlns:a="http://schemas.openxmlformats.org/drawingml/2006/main">
            <a:off x="7677150" y="4248150"/>
            <a:ext cx="3638550" cy="1581150"/>
          </a:xfrm>
          <a:prstGeom xmlns:a="http://schemas.openxmlformats.org/drawingml/2006/main" prst="roundRect">
            <a:avLst>
              <a:gd name="adj" fmla="val 7229"/>
            </a:avLst>
          </a:prstGeom>
          <a:solidFill xmlns:a="http://schemas.openxmlformats.org/drawingml/2006/main">
            <a:srgbClr val="0B1A2E"/>
          </a:solidFill>
          <a:ln xmlns:a="http://schemas.openxmlformats.org/drawingml/2006/main" w="9525">
            <a:solidFill>
              <a:srgbClr val="A855F7"/>
            </a:solidFill>
            <a:prstDash val="solid"/>
          </a:ln>
        </p:spPr>
      </p:sp>
      <p:sp>
        <p:nvSpPr>
          <p:cNvPr id="49" name="">
            <a:extLst xmlns:a="http://schemas.openxmlformats.org/drawingml/2006/main">
              <a:ext uri="{FF2B5EF4-FFF2-40B4-BE49-F238E27FC236}">
                <a16:creationId xmlns:a16="http://schemas.microsoft.com/office/drawing/2014/main" id="{8FD88039-E233-403D-8763-23E9C5E9C7F4}"/>
              </a:ext>
            </a:extLst>
          </p:cNvPr>
          <p:cNvSpPr>
            <a:spLocks xmlns:a="http://schemas.openxmlformats.org/drawingml/2006/main" noGrp="1"/>
          </p:cNvSpPr>
          <p:nvPr/>
        </p:nvSpPr>
        <p:spPr>
          <a:xfrm xmlns:a="http://schemas.openxmlformats.org/drawingml/2006/main">
            <a:off x="7886700" y="44386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855F7"/>
                </a:solidFill>
              </a:defRPr>
            </a:pPr>
            <a:r>
              <a:rPr sz="1050" b="1">
                <a:solidFill>
                  <a:srgbClr val="A855F7"/>
                </a:solidFill>
              </a:rPr>
              <a:t>SAFE FIX WORKFLOW</a:t>
            </a:r>
          </a:p>
        </p:txBody>
      </p:sp>
      <p:sp>
        <p:nvSpPr>
          <p:cNvPr id="50" name="">
            <a:extLst xmlns:a="http://schemas.openxmlformats.org/drawingml/2006/main">
              <a:ext uri="{FF2B5EF4-FFF2-40B4-BE49-F238E27FC236}">
                <a16:creationId xmlns:a16="http://schemas.microsoft.com/office/drawing/2014/main" id="{C414F632-199A-4244-B8B8-6C82CC223EA5}"/>
              </a:ext>
            </a:extLst>
          </p:cNvPr>
          <p:cNvSpPr>
            <a:spLocks xmlns:a="http://schemas.openxmlformats.org/drawingml/2006/main" noGrp="1"/>
          </p:cNvSpPr>
          <p:nvPr/>
        </p:nvSpPr>
        <p:spPr>
          <a:xfrm xmlns:a="http://schemas.openxmlformats.org/drawingml/2006/main">
            <a:off x="7886700" y="4810125"/>
            <a:ext cx="3181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4F8FF"/>
                </a:solidFill>
              </a:defRPr>
            </a:pPr>
            <a:r>
              <a:rPr sz="1275" b="1">
                <a:solidFill>
                  <a:srgbClr val="F4F8FF"/>
                </a:solidFill>
              </a:rPr>
              <a:t>1  Copilot proposes a complete file</a:t>
            </a:r>
          </a:p>
        </p:txBody>
      </p:sp>
      <p:sp>
        <p:nvSpPr>
          <p:cNvPr id="51" name="">
            <a:extLst xmlns:a="http://schemas.openxmlformats.org/drawingml/2006/main">
              <a:ext uri="{FF2B5EF4-FFF2-40B4-BE49-F238E27FC236}">
                <a16:creationId xmlns:a16="http://schemas.microsoft.com/office/drawing/2014/main" id="{D0A8FE33-87CF-4424-AA5A-DDAD33011149}"/>
              </a:ext>
            </a:extLst>
          </p:cNvPr>
          <p:cNvSpPr>
            <a:spLocks xmlns:a="http://schemas.openxmlformats.org/drawingml/2006/main" noGrp="1"/>
          </p:cNvSpPr>
          <p:nvPr/>
        </p:nvSpPr>
        <p:spPr>
          <a:xfrm xmlns:a="http://schemas.openxmlformats.org/drawingml/2006/main">
            <a:off x="7886700" y="5114925"/>
            <a:ext cx="3181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4F8FF"/>
                </a:solidFill>
              </a:defRPr>
            </a:pPr>
            <a:r>
              <a:rPr sz="1275" b="1">
                <a:solidFill>
                  <a:srgbClr val="F4F8FF"/>
                </a:solidFill>
              </a:rPr>
              <a:t>2  Proposal stays tied to its base version</a:t>
            </a:r>
          </a:p>
        </p:txBody>
      </p:sp>
      <p:sp>
        <p:nvSpPr>
          <p:cNvPr id="52" name="">
            <a:extLst xmlns:a="http://schemas.openxmlformats.org/drawingml/2006/main">
              <a:ext uri="{FF2B5EF4-FFF2-40B4-BE49-F238E27FC236}">
                <a16:creationId xmlns:a16="http://schemas.microsoft.com/office/drawing/2014/main" id="{17EAB14A-7BA4-410D-B437-C2524DCBD4D8}"/>
              </a:ext>
            </a:extLst>
          </p:cNvPr>
          <p:cNvSpPr>
            <a:spLocks xmlns:a="http://schemas.openxmlformats.org/drawingml/2006/main" noGrp="1"/>
          </p:cNvSpPr>
          <p:nvPr/>
        </p:nvSpPr>
        <p:spPr>
          <a:xfrm xmlns:a="http://schemas.openxmlformats.org/drawingml/2006/main">
            <a:off x="7886700" y="5419725"/>
            <a:ext cx="3181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4F8FF"/>
                </a:solidFill>
              </a:defRPr>
            </a:pPr>
            <a:r>
              <a:rPr sz="1200" b="1">
                <a:solidFill>
                  <a:srgbClr val="F4F8FF"/>
                </a:solidFill>
              </a:rPr>
              <a:t>3  Apply creates a new immutable version</a:t>
            </a:r>
          </a:p>
        </p:txBody>
      </p:sp>
    </p:spTree>
    <p:extLst>
      <p:ext uri="{BB962C8B-B14F-4D97-AF65-F5344CB8AC3E}">
        <p14:creationId xmlns:p14="http://schemas.microsoft.com/office/powerpoint/2010/main" val="1304055887"/>
      </p:ext>
    </p:extLst>
  </p:cSld>
</p:sld>
</file>

<file path=ppt/slides/slide7.xml><?xml version="1.0" encoding="utf-8"?>
<p:sld xmlns:p="http://schemas.openxmlformats.org/presentationml/2006/main">
  <p:cSld>
    <p:bg>
      <p:bgPr>
        <a:solidFill xmlns:a="http://schemas.openxmlformats.org/drawingml/2006/main">
          <a:srgbClr val="040812"/>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8F769C2E-1F1C-4F21-8D86-03E42B29B8D4}"/>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2AF9913-62F2-43F5-A5AA-7CF6D6C1BB17}"/>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8DB41C1-B340-4F67-B6BB-0D9967E48068}"/>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68A17C7-1DF1-474E-A1FA-2466A6D198B7}"/>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16BB42D-ADE4-42A7-BC30-782D00FBE68E}"/>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D79351E-2D8A-45DB-BF3A-0120EEB4980A}"/>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ADBF59C-53C6-4A00-B2B9-83EA2E16F96E}"/>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0B9E74C-70D5-445A-B23A-AFCF29A81ADF}"/>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FC29AF6-03E2-4D2E-B9DE-8DB7511C5EF3}"/>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F81F0AB-0F20-4988-BC3E-220E0D74A991}"/>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3112773-8888-41F6-87FC-39396F956B45}"/>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F2E2307-BDB8-42EE-92D9-C11202D4E25D}"/>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A4C3F22-FE31-45EC-87B8-5D59B75FDE70}"/>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9AAF2A1-2E9D-4EA1-8F60-BF33550D61D2}"/>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1D71D59-A353-4179-BFD4-7B3E4BDA15B7}"/>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E65E6C7-D0B9-4A72-AE5E-35E1556768F7}"/>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592ACC7-750B-4FEA-812F-772CEC7AB7B1}"/>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CDBE4BE-772A-4D00-802C-EE395E002FB5}"/>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DCA1C78-CF1C-4C4A-8148-8242F0A3C380}"/>
              </a:ext>
            </a:extLst>
          </p:cNvPr>
          <p:cNvSpPr>
            <a:spLocks xmlns:a="http://schemas.openxmlformats.org/drawingml/2006/main" noGrp="1"/>
          </p:cNvSpPr>
          <p:nvPr/>
        </p:nvSpPr>
        <p:spPr>
          <a:xfrm xmlns:a="http://schemas.openxmlformats.org/drawingml/2006/main">
            <a:off x="0" y="76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3259796-3293-4773-B93F-C44CC158E3C6}"/>
              </a:ext>
            </a:extLst>
          </p:cNvPr>
          <p:cNvSpPr>
            <a:spLocks xmlns:a="http://schemas.openxmlformats.org/drawingml/2006/main" noGrp="1"/>
          </p:cNvSpPr>
          <p:nvPr/>
        </p:nvSpPr>
        <p:spPr>
          <a:xfrm xmlns:a="http://schemas.openxmlformats.org/drawingml/2006/main">
            <a:off x="0" y="152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103BE3E-36E1-469B-9A11-ACA49624487D}"/>
              </a:ext>
            </a:extLst>
          </p:cNvPr>
          <p:cNvSpPr>
            <a:spLocks xmlns:a="http://schemas.openxmlformats.org/drawingml/2006/main" noGrp="1"/>
          </p:cNvSpPr>
          <p:nvPr/>
        </p:nvSpPr>
        <p:spPr>
          <a:xfrm xmlns:a="http://schemas.openxmlformats.org/drawingml/2006/main">
            <a:off x="0" y="228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7041139-87F0-406D-A585-8145DDA47DD9}"/>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4584482-20C4-4BEE-9A38-B2F5F2E3219C}"/>
              </a:ext>
            </a:extLst>
          </p:cNvPr>
          <p:cNvSpPr>
            <a:spLocks xmlns:a="http://schemas.openxmlformats.org/drawingml/2006/main" noGrp="1"/>
          </p:cNvSpPr>
          <p:nvPr/>
        </p:nvSpPr>
        <p:spPr>
          <a:xfrm xmlns:a="http://schemas.openxmlformats.org/drawingml/2006/main">
            <a:off x="0" y="3810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B69CC8C-A8E4-4364-A9BE-9C57F6E89F60}"/>
              </a:ext>
            </a:extLst>
          </p:cNvPr>
          <p:cNvSpPr>
            <a:spLocks xmlns:a="http://schemas.openxmlformats.org/drawingml/2006/main" noGrp="1"/>
          </p:cNvSpPr>
          <p:nvPr/>
        </p:nvSpPr>
        <p:spPr>
          <a:xfrm xmlns:a="http://schemas.openxmlformats.org/drawingml/2006/main">
            <a:off x="0" y="457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A46EE45-F34B-4325-A54B-C0B44674C884}"/>
              </a:ext>
            </a:extLst>
          </p:cNvPr>
          <p:cNvSpPr>
            <a:spLocks xmlns:a="http://schemas.openxmlformats.org/drawingml/2006/main" noGrp="1"/>
          </p:cNvSpPr>
          <p:nvPr/>
        </p:nvSpPr>
        <p:spPr>
          <a:xfrm xmlns:a="http://schemas.openxmlformats.org/drawingml/2006/main">
            <a:off x="0" y="533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8BE9F90-1AAB-497F-9187-B6C01F36DDFB}"/>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13EED58-A3D9-4A94-A5A3-FFC521694928}"/>
              </a:ext>
            </a:extLst>
          </p:cNvPr>
          <p:cNvSpPr>
            <a:spLocks xmlns:a="http://schemas.openxmlformats.org/drawingml/2006/main" noGrp="1"/>
          </p:cNvSpPr>
          <p:nvPr/>
        </p:nvSpPr>
        <p:spPr>
          <a:xfrm xmlns:a="http://schemas.openxmlformats.org/drawingml/2006/main">
            <a:off x="0" y="685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BAFA967-CE53-4573-B191-0446CB2D728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58C1510-EC3C-4D43-B9CE-7AF6498883B7}"/>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VALIDATION</a:t>
            </a:r>
          </a:p>
        </p:txBody>
      </p:sp>
      <p:sp>
        <p:nvSpPr>
          <p:cNvPr id="30" name="slide-7-title">
            <a:extLst xmlns:a="http://schemas.openxmlformats.org/drawingml/2006/main">
              <a:ext uri="{FF2B5EF4-FFF2-40B4-BE49-F238E27FC236}">
                <a16:creationId xmlns:a16="http://schemas.microsoft.com/office/drawing/2014/main" id="{CAACBC78-A976-45BB-BCEC-AB305449F0BC}"/>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4F8FF"/>
                </a:solidFill>
              </a:defRPr>
            </a:pPr>
            <a:r>
              <a:rPr sz="2700" b="1">
                <a:solidFill>
                  <a:srgbClr val="F4F8FF"/>
                </a:solidFill>
              </a:rPr>
              <a:t>Trust is a product feature, not a disclaimer</a:t>
            </a:r>
          </a:p>
        </p:txBody>
      </p:sp>
      <p:sp>
        <p:nvSpPr>
          <p:cNvPr id="31" name="">
            <a:extLst xmlns:a="http://schemas.openxmlformats.org/drawingml/2006/main">
              <a:ext uri="{FF2B5EF4-FFF2-40B4-BE49-F238E27FC236}">
                <a16:creationId xmlns:a16="http://schemas.microsoft.com/office/drawing/2014/main" id="{195AB452-50E5-4CB8-AE99-D358CC15BBF6}"/>
              </a:ext>
            </a:extLst>
          </p:cNvPr>
          <p:cNvSpPr>
            <a:spLocks xmlns:a="http://schemas.openxmlformats.org/drawingml/2006/main" noGrp="1"/>
          </p:cNvSpPr>
          <p:nvPr/>
        </p:nvSpPr>
        <p:spPr>
          <a:xfrm xmlns:a="http://schemas.openxmlformats.org/drawingml/2006/main">
            <a:off x="533400" y="1257300"/>
            <a:ext cx="11125200" cy="952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494A7FF-7DD9-4010-A779-99F0A636A2A4}"/>
              </a:ext>
            </a:extLst>
          </p:cNvPr>
          <p:cNvSpPr>
            <a:spLocks xmlns:a="http://schemas.openxmlformats.org/drawingml/2006/main" noGrp="1"/>
          </p:cNvSpPr>
          <p:nvPr/>
        </p:nvSpPr>
        <p:spPr>
          <a:xfrm xmlns:a="http://schemas.openxmlformats.org/drawingml/2006/main">
            <a:off x="533400" y="65341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4748B"/>
                </a:solidFill>
              </a:defRPr>
            </a:pPr>
            <a:r>
              <a:rPr sz="825" b="1">
                <a:solidFill>
                  <a:srgbClr val="64748B"/>
                </a:solidFill>
              </a:rPr>
              <a:t>AAA EAs BUILDER</a:t>
            </a:r>
          </a:p>
        </p:txBody>
      </p:sp>
      <p:sp>
        <p:nvSpPr>
          <p:cNvPr id="33" name="">
            <a:extLst xmlns:a="http://schemas.openxmlformats.org/drawingml/2006/main">
              <a:ext uri="{FF2B5EF4-FFF2-40B4-BE49-F238E27FC236}">
                <a16:creationId xmlns:a16="http://schemas.microsoft.com/office/drawing/2014/main" id="{15927818-E42A-4AFC-9A0B-83FBC8FA1AA1}"/>
              </a:ext>
            </a:extLst>
          </p:cNvPr>
          <p:cNvSpPr>
            <a:spLocks xmlns:a="http://schemas.openxmlformats.org/drawingml/2006/main" noGrp="1"/>
          </p:cNvSpPr>
          <p:nvPr/>
        </p:nvSpPr>
        <p:spPr>
          <a:xfrm xmlns:a="http://schemas.openxmlformats.org/drawingml/2006/main">
            <a:off x="11144250" y="65151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4748B"/>
                </a:solidFill>
              </a:defRPr>
            </a:pPr>
            <a:r>
              <a:rPr sz="825" b="1">
                <a:solidFill>
                  <a:srgbClr val="64748B"/>
                </a:solidFill>
              </a:rPr>
              <a:t>07</a:t>
            </a:r>
          </a:p>
        </p:txBody>
      </p:sp>
      <p:sp>
        <p:nvSpPr>
          <p:cNvPr id="34" name="">
            <a:extLst xmlns:a="http://schemas.openxmlformats.org/drawingml/2006/main">
              <a:ext uri="{FF2B5EF4-FFF2-40B4-BE49-F238E27FC236}">
                <a16:creationId xmlns:a16="http://schemas.microsoft.com/office/drawing/2014/main" id="{6A83D859-59FF-41D8-9CF0-0634CEC5B9ED}"/>
              </a:ext>
            </a:extLst>
          </p:cNvPr>
          <p:cNvSpPr>
            <a:spLocks xmlns:a="http://schemas.openxmlformats.org/drawingml/2006/main" noGrp="1"/>
          </p:cNvSpPr>
          <p:nvPr/>
        </p:nvSpPr>
        <p:spPr>
          <a:xfrm xmlns:a="http://schemas.openxmlformats.org/drawingml/2006/main">
            <a:off x="533400" y="15049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A9B7CC"/>
                </a:solidFill>
              </a:defRPr>
            </a:pPr>
            <a:r>
              <a:rPr sz="1650" b="0">
                <a:solidFill>
                  <a:srgbClr val="A9B7CC"/>
                </a:solidFill>
              </a:rPr>
              <a:t>Each state is labeled separately so AI review, static validation, compilation, and backtests are never conflated.</a:t>
            </a:r>
          </a:p>
        </p:txBody>
      </p:sp>
      <p:sp>
        <p:nvSpPr>
          <p:cNvPr id="35" name="">
            <a:extLst xmlns:a="http://schemas.openxmlformats.org/drawingml/2006/main">
              <a:ext uri="{FF2B5EF4-FFF2-40B4-BE49-F238E27FC236}">
                <a16:creationId xmlns:a16="http://schemas.microsoft.com/office/drawing/2014/main" id="{E95BD00D-19A8-43B5-B3F0-A38E6E67B938}"/>
              </a:ext>
            </a:extLst>
          </p:cNvPr>
          <p:cNvSpPr>
            <a:spLocks xmlns:a="http://schemas.openxmlformats.org/drawingml/2006/main" noGrp="1"/>
          </p:cNvSpPr>
          <p:nvPr/>
        </p:nvSpPr>
        <p:spPr>
          <a:xfrm xmlns:a="http://schemas.openxmlformats.org/drawingml/2006/main">
            <a:off x="533400" y="2266950"/>
            <a:ext cx="10287000" cy="704850"/>
          </a:xfrm>
          <a:prstGeom xmlns:a="http://schemas.openxmlformats.org/drawingml/2006/main" prst="roundRect">
            <a:avLst>
              <a:gd name="adj" fmla="val 16216"/>
            </a:avLst>
          </a:prstGeom>
          <a:solidFill xmlns:a="http://schemas.openxmlformats.org/drawingml/2006/main">
            <a:srgbClr val="081425"/>
          </a:solidFill>
          <a:ln xmlns:a="http://schemas.openxmlformats.org/drawingml/2006/main" w="9525">
            <a:solidFill>
              <a:srgbClr val="32D583"/>
            </a:solidFill>
            <a:prstDash val="solid"/>
          </a:ln>
        </p:spPr>
      </p:sp>
      <p:sp>
        <p:nvSpPr>
          <p:cNvPr id="36" name="">
            <a:extLst xmlns:a="http://schemas.openxmlformats.org/drawingml/2006/main">
              <a:ext uri="{FF2B5EF4-FFF2-40B4-BE49-F238E27FC236}">
                <a16:creationId xmlns:a16="http://schemas.microsoft.com/office/drawing/2014/main" id="{F022AD6B-7696-4C42-8C23-C8B0D22D6528}"/>
              </a:ext>
            </a:extLst>
          </p:cNvPr>
          <p:cNvSpPr>
            <a:spLocks xmlns:a="http://schemas.openxmlformats.org/drawingml/2006/main" noGrp="1"/>
          </p:cNvSpPr>
          <p:nvPr/>
        </p:nvSpPr>
        <p:spPr>
          <a:xfrm xmlns:a="http://schemas.openxmlformats.org/drawingml/2006/main">
            <a:off x="762000" y="24193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32D583"/>
                </a:solidFill>
              </a:defRPr>
            </a:pPr>
            <a:r>
              <a:rPr sz="1050" b="1">
                <a:solidFill>
                  <a:srgbClr val="32D583"/>
                </a:solidFill>
              </a:rPr>
              <a:t>LEVEL 1</a:t>
            </a:r>
          </a:p>
        </p:txBody>
      </p:sp>
      <p:sp>
        <p:nvSpPr>
          <p:cNvPr id="37" name="">
            <a:extLst xmlns:a="http://schemas.openxmlformats.org/drawingml/2006/main">
              <a:ext uri="{FF2B5EF4-FFF2-40B4-BE49-F238E27FC236}">
                <a16:creationId xmlns:a16="http://schemas.microsoft.com/office/drawing/2014/main" id="{61143D7C-F922-47BE-BF5F-378F48DFF355}"/>
              </a:ext>
            </a:extLst>
          </p:cNvPr>
          <p:cNvSpPr>
            <a:spLocks xmlns:a="http://schemas.openxmlformats.org/drawingml/2006/main" noGrp="1"/>
          </p:cNvSpPr>
          <p:nvPr/>
        </p:nvSpPr>
        <p:spPr>
          <a:xfrm xmlns:a="http://schemas.openxmlformats.org/drawingml/2006/main">
            <a:off x="1981200" y="239077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4F8FF"/>
                </a:solidFill>
              </a:defRPr>
            </a:pPr>
            <a:r>
              <a:rPr sz="1575" b="1">
                <a:solidFill>
                  <a:srgbClr val="F4F8FF"/>
                </a:solidFill>
              </a:rPr>
              <a:t>Source inspection</a:t>
            </a:r>
          </a:p>
        </p:txBody>
      </p:sp>
      <p:sp>
        <p:nvSpPr>
          <p:cNvPr id="38" name="">
            <a:extLst xmlns:a="http://schemas.openxmlformats.org/drawingml/2006/main">
              <a:ext uri="{FF2B5EF4-FFF2-40B4-BE49-F238E27FC236}">
                <a16:creationId xmlns:a16="http://schemas.microsoft.com/office/drawing/2014/main" id="{16F69CB8-C89C-4511-936B-7943CEDF7B89}"/>
              </a:ext>
            </a:extLst>
          </p:cNvPr>
          <p:cNvSpPr>
            <a:spLocks xmlns:a="http://schemas.openxmlformats.org/drawingml/2006/main" noGrp="1"/>
          </p:cNvSpPr>
          <p:nvPr/>
        </p:nvSpPr>
        <p:spPr>
          <a:xfrm xmlns:a="http://schemas.openxmlformats.org/drawingml/2006/main">
            <a:off x="4667250" y="240982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9B7CC"/>
                </a:solidFill>
              </a:defRPr>
            </a:pPr>
            <a:r>
              <a:rPr sz="1200" b="0">
                <a:solidFill>
                  <a:srgbClr val="A9B7CC"/>
                </a:solidFill>
              </a:rPr>
              <a:t>Required functions, size limits, forbidden patterns</a:t>
            </a:r>
          </a:p>
        </p:txBody>
      </p:sp>
      <p:sp>
        <p:nvSpPr>
          <p:cNvPr id="39" name="">
            <a:extLst xmlns:a="http://schemas.openxmlformats.org/drawingml/2006/main">
              <a:ext uri="{FF2B5EF4-FFF2-40B4-BE49-F238E27FC236}">
                <a16:creationId xmlns:a16="http://schemas.microsoft.com/office/drawing/2014/main" id="{2A3F3396-F036-4A27-85DD-A14DBB671B12}"/>
              </a:ext>
            </a:extLst>
          </p:cNvPr>
          <p:cNvSpPr>
            <a:spLocks xmlns:a="http://schemas.openxmlformats.org/drawingml/2006/main" noGrp="1"/>
          </p:cNvSpPr>
          <p:nvPr/>
        </p:nvSpPr>
        <p:spPr>
          <a:xfrm xmlns:a="http://schemas.openxmlformats.org/drawingml/2006/main">
            <a:off x="9525000" y="2457450"/>
            <a:ext cx="1143000" cy="285750"/>
          </a:xfrm>
          <a:prstGeom xmlns:a="http://schemas.openxmlformats.org/drawingml/2006/main" prst="roundRect">
            <a:avLst>
              <a:gd name="adj" fmla="val 40000"/>
            </a:avLst>
          </a:prstGeom>
          <a:solidFill xmlns:a="http://schemas.openxmlformats.org/drawingml/2006/main">
            <a:srgbClr val="081425"/>
          </a:solidFill>
          <a:ln xmlns:a="http://schemas.openxmlformats.org/drawingml/2006/main" w="9525">
            <a:solidFill>
              <a:srgbClr val="32D583"/>
            </a:solidFill>
            <a:prstDash val="solid"/>
          </a:ln>
        </p:spPr>
      </p:sp>
      <p:sp>
        <p:nvSpPr>
          <p:cNvPr id="40" name="">
            <a:extLst xmlns:a="http://schemas.openxmlformats.org/drawingml/2006/main">
              <a:ext uri="{FF2B5EF4-FFF2-40B4-BE49-F238E27FC236}">
                <a16:creationId xmlns:a16="http://schemas.microsoft.com/office/drawing/2014/main" id="{09345DCB-4865-49B9-838A-9EDAF70CF40C}"/>
              </a:ext>
            </a:extLst>
          </p:cNvPr>
          <p:cNvSpPr>
            <a:spLocks xmlns:a="http://schemas.openxmlformats.org/drawingml/2006/main" noGrp="1"/>
          </p:cNvSpPr>
          <p:nvPr/>
        </p:nvSpPr>
        <p:spPr>
          <a:xfrm xmlns:a="http://schemas.openxmlformats.org/drawingml/2006/main">
            <a:off x="9525000" y="25146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32D583"/>
                </a:solidFill>
              </a:defRPr>
            </a:pPr>
            <a:r>
              <a:rPr sz="900" b="1">
                <a:solidFill>
                  <a:srgbClr val="32D583"/>
                </a:solidFill>
              </a:rPr>
              <a:t>IMPLEMENTED</a:t>
            </a:r>
          </a:p>
        </p:txBody>
      </p:sp>
      <p:sp>
        <p:nvSpPr>
          <p:cNvPr id="41" name="">
            <a:extLst xmlns:a="http://schemas.openxmlformats.org/drawingml/2006/main">
              <a:ext uri="{FF2B5EF4-FFF2-40B4-BE49-F238E27FC236}">
                <a16:creationId xmlns:a16="http://schemas.microsoft.com/office/drawing/2014/main" id="{22BE470C-04B9-4522-B500-C012AD81EFDB}"/>
              </a:ext>
            </a:extLst>
          </p:cNvPr>
          <p:cNvSpPr>
            <a:spLocks xmlns:a="http://schemas.openxmlformats.org/drawingml/2006/main" noGrp="1"/>
          </p:cNvSpPr>
          <p:nvPr/>
        </p:nvSpPr>
        <p:spPr>
          <a:xfrm xmlns:a="http://schemas.openxmlformats.org/drawingml/2006/main">
            <a:off x="723900" y="3162300"/>
            <a:ext cx="9906000" cy="704850"/>
          </a:xfrm>
          <a:prstGeom xmlns:a="http://schemas.openxmlformats.org/drawingml/2006/main" prst="roundRect">
            <a:avLst>
              <a:gd name="adj" fmla="val 16216"/>
            </a:avLst>
          </a:prstGeom>
          <a:solidFill xmlns:a="http://schemas.openxmlformats.org/drawingml/2006/main">
            <a:srgbClr val="081425"/>
          </a:solidFill>
          <a:ln xmlns:a="http://schemas.openxmlformats.org/drawingml/2006/main" w="9525">
            <a:solidFill>
              <a:srgbClr val="32D583"/>
            </a:solidFill>
            <a:prstDash val="solid"/>
          </a:ln>
        </p:spPr>
      </p:sp>
      <p:sp>
        <p:nvSpPr>
          <p:cNvPr id="42" name="">
            <a:extLst xmlns:a="http://schemas.openxmlformats.org/drawingml/2006/main">
              <a:ext uri="{FF2B5EF4-FFF2-40B4-BE49-F238E27FC236}">
                <a16:creationId xmlns:a16="http://schemas.microsoft.com/office/drawing/2014/main" id="{8EBAF398-E128-4796-AAE7-71D6DA377C2C}"/>
              </a:ext>
            </a:extLst>
          </p:cNvPr>
          <p:cNvSpPr>
            <a:spLocks xmlns:a="http://schemas.openxmlformats.org/drawingml/2006/main" noGrp="1"/>
          </p:cNvSpPr>
          <p:nvPr/>
        </p:nvSpPr>
        <p:spPr>
          <a:xfrm xmlns:a="http://schemas.openxmlformats.org/drawingml/2006/main">
            <a:off x="952500" y="33147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32D583"/>
                </a:solidFill>
              </a:defRPr>
            </a:pPr>
            <a:r>
              <a:rPr sz="1050" b="1">
                <a:solidFill>
                  <a:srgbClr val="32D583"/>
                </a:solidFill>
              </a:rPr>
              <a:t>LEVEL 2</a:t>
            </a:r>
          </a:p>
        </p:txBody>
      </p:sp>
      <p:sp>
        <p:nvSpPr>
          <p:cNvPr id="43" name="">
            <a:extLst xmlns:a="http://schemas.openxmlformats.org/drawingml/2006/main">
              <a:ext uri="{FF2B5EF4-FFF2-40B4-BE49-F238E27FC236}">
                <a16:creationId xmlns:a16="http://schemas.microsoft.com/office/drawing/2014/main" id="{B92ED92D-759E-4E2B-A50B-A02046FB3065}"/>
              </a:ext>
            </a:extLst>
          </p:cNvPr>
          <p:cNvSpPr>
            <a:spLocks xmlns:a="http://schemas.openxmlformats.org/drawingml/2006/main" noGrp="1"/>
          </p:cNvSpPr>
          <p:nvPr/>
        </p:nvSpPr>
        <p:spPr>
          <a:xfrm xmlns:a="http://schemas.openxmlformats.org/drawingml/2006/main">
            <a:off x="2171700" y="32861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4F8FF"/>
                </a:solidFill>
              </a:defRPr>
            </a:pPr>
            <a:r>
              <a:rPr sz="1575" b="1">
                <a:solidFill>
                  <a:srgbClr val="F4F8FF"/>
                </a:solidFill>
              </a:rPr>
              <a:t>Structural diagnostics</a:t>
            </a:r>
          </a:p>
        </p:txBody>
      </p:sp>
      <p:sp>
        <p:nvSpPr>
          <p:cNvPr id="44" name="">
            <a:extLst xmlns:a="http://schemas.openxmlformats.org/drawingml/2006/main">
              <a:ext uri="{FF2B5EF4-FFF2-40B4-BE49-F238E27FC236}">
                <a16:creationId xmlns:a16="http://schemas.microsoft.com/office/drawing/2014/main" id="{D26052A1-CF2F-4980-9183-22FD12BEF736}"/>
              </a:ext>
            </a:extLst>
          </p:cNvPr>
          <p:cNvSpPr>
            <a:spLocks xmlns:a="http://schemas.openxmlformats.org/drawingml/2006/main" noGrp="1"/>
          </p:cNvSpPr>
          <p:nvPr/>
        </p:nvSpPr>
        <p:spPr>
          <a:xfrm xmlns:a="http://schemas.openxmlformats.org/drawingml/2006/main">
            <a:off x="4857750" y="3305175"/>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9B7CC"/>
                </a:solidFill>
              </a:defRPr>
            </a:pPr>
            <a:r>
              <a:rPr sz="1200" b="0">
                <a:solidFill>
                  <a:srgbClr val="A9B7CC"/>
                </a:solidFill>
              </a:rPr>
              <a:t>Platform-aware checks and structured warnings</a:t>
            </a:r>
          </a:p>
        </p:txBody>
      </p:sp>
      <p:sp>
        <p:nvSpPr>
          <p:cNvPr id="45" name="">
            <a:extLst xmlns:a="http://schemas.openxmlformats.org/drawingml/2006/main">
              <a:ext uri="{FF2B5EF4-FFF2-40B4-BE49-F238E27FC236}">
                <a16:creationId xmlns:a16="http://schemas.microsoft.com/office/drawing/2014/main" id="{72713A03-0BBE-4708-A85B-FC0BFE9CD350}"/>
              </a:ext>
            </a:extLst>
          </p:cNvPr>
          <p:cNvSpPr>
            <a:spLocks xmlns:a="http://schemas.openxmlformats.org/drawingml/2006/main" noGrp="1"/>
          </p:cNvSpPr>
          <p:nvPr/>
        </p:nvSpPr>
        <p:spPr>
          <a:xfrm xmlns:a="http://schemas.openxmlformats.org/drawingml/2006/main">
            <a:off x="9334500" y="3352800"/>
            <a:ext cx="1143000" cy="285750"/>
          </a:xfrm>
          <a:prstGeom xmlns:a="http://schemas.openxmlformats.org/drawingml/2006/main" prst="roundRect">
            <a:avLst>
              <a:gd name="adj" fmla="val 40000"/>
            </a:avLst>
          </a:prstGeom>
          <a:solidFill xmlns:a="http://schemas.openxmlformats.org/drawingml/2006/main">
            <a:srgbClr val="081425"/>
          </a:solidFill>
          <a:ln xmlns:a="http://schemas.openxmlformats.org/drawingml/2006/main" w="9525">
            <a:solidFill>
              <a:srgbClr val="32D583"/>
            </a:solidFill>
            <a:prstDash val="solid"/>
          </a:ln>
        </p:spPr>
      </p:sp>
      <p:sp>
        <p:nvSpPr>
          <p:cNvPr id="46" name="">
            <a:extLst xmlns:a="http://schemas.openxmlformats.org/drawingml/2006/main">
              <a:ext uri="{FF2B5EF4-FFF2-40B4-BE49-F238E27FC236}">
                <a16:creationId xmlns:a16="http://schemas.microsoft.com/office/drawing/2014/main" id="{B7E4EC46-AF2E-40B1-AAF3-3FD7BA6E6D9B}"/>
              </a:ext>
            </a:extLst>
          </p:cNvPr>
          <p:cNvSpPr>
            <a:spLocks xmlns:a="http://schemas.openxmlformats.org/drawingml/2006/main" noGrp="1"/>
          </p:cNvSpPr>
          <p:nvPr/>
        </p:nvSpPr>
        <p:spPr>
          <a:xfrm xmlns:a="http://schemas.openxmlformats.org/drawingml/2006/main">
            <a:off x="9334500" y="34099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32D583"/>
                </a:solidFill>
              </a:defRPr>
            </a:pPr>
            <a:r>
              <a:rPr sz="900" b="1">
                <a:solidFill>
                  <a:srgbClr val="32D583"/>
                </a:solidFill>
              </a:rPr>
              <a:t>IMPLEMENTED</a:t>
            </a:r>
          </a:p>
        </p:txBody>
      </p:sp>
      <p:sp>
        <p:nvSpPr>
          <p:cNvPr id="47" name="">
            <a:extLst xmlns:a="http://schemas.openxmlformats.org/drawingml/2006/main">
              <a:ext uri="{FF2B5EF4-FFF2-40B4-BE49-F238E27FC236}">
                <a16:creationId xmlns:a16="http://schemas.microsoft.com/office/drawing/2014/main" id="{9626C7F6-F0E8-47F2-900E-3B743A794C36}"/>
              </a:ext>
            </a:extLst>
          </p:cNvPr>
          <p:cNvSpPr>
            <a:spLocks xmlns:a="http://schemas.openxmlformats.org/drawingml/2006/main" noGrp="1"/>
          </p:cNvSpPr>
          <p:nvPr/>
        </p:nvSpPr>
        <p:spPr>
          <a:xfrm xmlns:a="http://schemas.openxmlformats.org/drawingml/2006/main">
            <a:off x="914400" y="4057650"/>
            <a:ext cx="9525000" cy="704850"/>
          </a:xfrm>
          <a:prstGeom xmlns:a="http://schemas.openxmlformats.org/drawingml/2006/main" prst="roundRect">
            <a:avLst>
              <a:gd name="adj" fmla="val 16216"/>
            </a:avLst>
          </a:prstGeom>
          <a:solidFill xmlns:a="http://schemas.openxmlformats.org/drawingml/2006/main">
            <a:srgbClr val="081425"/>
          </a:solidFill>
          <a:ln xmlns:a="http://schemas.openxmlformats.org/drawingml/2006/main" w="9525">
            <a:solidFill>
              <a:srgbClr val="F8B84E"/>
            </a:solidFill>
            <a:prstDash val="solid"/>
          </a:ln>
        </p:spPr>
      </p:sp>
      <p:sp>
        <p:nvSpPr>
          <p:cNvPr id="48" name="">
            <a:extLst xmlns:a="http://schemas.openxmlformats.org/drawingml/2006/main">
              <a:ext uri="{FF2B5EF4-FFF2-40B4-BE49-F238E27FC236}">
                <a16:creationId xmlns:a16="http://schemas.microsoft.com/office/drawing/2014/main" id="{1E2F289F-84F8-4C8B-B5DF-B998377097FE}"/>
              </a:ext>
            </a:extLst>
          </p:cNvPr>
          <p:cNvSpPr>
            <a:spLocks xmlns:a="http://schemas.openxmlformats.org/drawingml/2006/main" noGrp="1"/>
          </p:cNvSpPr>
          <p:nvPr/>
        </p:nvSpPr>
        <p:spPr>
          <a:xfrm xmlns:a="http://schemas.openxmlformats.org/drawingml/2006/main">
            <a:off x="1143000" y="42100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8B84E"/>
                </a:solidFill>
              </a:defRPr>
            </a:pPr>
            <a:r>
              <a:rPr sz="1050" b="1">
                <a:solidFill>
                  <a:srgbClr val="F8B84E"/>
                </a:solidFill>
              </a:rPr>
              <a:t>LEVEL 3</a:t>
            </a:r>
          </a:p>
        </p:txBody>
      </p:sp>
      <p:sp>
        <p:nvSpPr>
          <p:cNvPr id="49" name="">
            <a:extLst xmlns:a="http://schemas.openxmlformats.org/drawingml/2006/main">
              <a:ext uri="{FF2B5EF4-FFF2-40B4-BE49-F238E27FC236}">
                <a16:creationId xmlns:a16="http://schemas.microsoft.com/office/drawing/2014/main" id="{4568725B-0CC7-4D78-824F-8395AF340397}"/>
              </a:ext>
            </a:extLst>
          </p:cNvPr>
          <p:cNvSpPr>
            <a:spLocks xmlns:a="http://schemas.openxmlformats.org/drawingml/2006/main" noGrp="1"/>
          </p:cNvSpPr>
          <p:nvPr/>
        </p:nvSpPr>
        <p:spPr>
          <a:xfrm xmlns:a="http://schemas.openxmlformats.org/drawingml/2006/main">
            <a:off x="2362200" y="418147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4F8FF"/>
                </a:solidFill>
              </a:defRPr>
            </a:pPr>
            <a:r>
              <a:rPr sz="1575" b="1">
                <a:solidFill>
                  <a:srgbClr val="F4F8FF"/>
                </a:solidFill>
              </a:rPr>
              <a:t>MQL5 compilation</a:t>
            </a:r>
          </a:p>
        </p:txBody>
      </p:sp>
      <p:sp>
        <p:nvSpPr>
          <p:cNvPr id="50" name="">
            <a:extLst xmlns:a="http://schemas.openxmlformats.org/drawingml/2006/main">
              <a:ext uri="{FF2B5EF4-FFF2-40B4-BE49-F238E27FC236}">
                <a16:creationId xmlns:a16="http://schemas.microsoft.com/office/drawing/2014/main" id="{DB65866E-3467-431B-93F7-6519C2FE3ED4}"/>
              </a:ext>
            </a:extLst>
          </p:cNvPr>
          <p:cNvSpPr>
            <a:spLocks xmlns:a="http://schemas.openxmlformats.org/drawingml/2006/main" noGrp="1"/>
          </p:cNvSpPr>
          <p:nvPr/>
        </p:nvSpPr>
        <p:spPr>
          <a:xfrm xmlns:a="http://schemas.openxmlformats.org/drawingml/2006/main">
            <a:off x="5048250" y="420052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9B7CC"/>
                </a:solidFill>
              </a:defRPr>
            </a:pPr>
            <a:r>
              <a:rPr sz="1200" b="0">
                <a:solidFill>
                  <a:srgbClr val="A9B7CC"/>
                </a:solidFill>
              </a:rPr>
              <a:t>Isolated allowlisted MetaEditor worker</a:t>
            </a:r>
          </a:p>
        </p:txBody>
      </p:sp>
      <p:sp>
        <p:nvSpPr>
          <p:cNvPr id="51" name="">
            <a:extLst xmlns:a="http://schemas.openxmlformats.org/drawingml/2006/main">
              <a:ext uri="{FF2B5EF4-FFF2-40B4-BE49-F238E27FC236}">
                <a16:creationId xmlns:a16="http://schemas.microsoft.com/office/drawing/2014/main" id="{B9A107A9-A591-4578-8D36-4807DFFABC9D}"/>
              </a:ext>
            </a:extLst>
          </p:cNvPr>
          <p:cNvSpPr>
            <a:spLocks xmlns:a="http://schemas.openxmlformats.org/drawingml/2006/main" noGrp="1"/>
          </p:cNvSpPr>
          <p:nvPr/>
        </p:nvSpPr>
        <p:spPr>
          <a:xfrm xmlns:a="http://schemas.openxmlformats.org/drawingml/2006/main">
            <a:off x="9144000" y="4248150"/>
            <a:ext cx="1143000" cy="285750"/>
          </a:xfrm>
          <a:prstGeom xmlns:a="http://schemas.openxmlformats.org/drawingml/2006/main" prst="roundRect">
            <a:avLst>
              <a:gd name="adj" fmla="val 40000"/>
            </a:avLst>
          </a:prstGeom>
          <a:solidFill xmlns:a="http://schemas.openxmlformats.org/drawingml/2006/main">
            <a:srgbClr val="081425"/>
          </a:solidFill>
          <a:ln xmlns:a="http://schemas.openxmlformats.org/drawingml/2006/main" w="9525">
            <a:solidFill>
              <a:srgbClr val="F8B84E"/>
            </a:solidFill>
            <a:prstDash val="solid"/>
          </a:ln>
        </p:spPr>
      </p:sp>
      <p:sp>
        <p:nvSpPr>
          <p:cNvPr id="52" name="">
            <a:extLst xmlns:a="http://schemas.openxmlformats.org/drawingml/2006/main">
              <a:ext uri="{FF2B5EF4-FFF2-40B4-BE49-F238E27FC236}">
                <a16:creationId xmlns:a16="http://schemas.microsoft.com/office/drawing/2014/main" id="{86E569EF-F05E-470F-AD28-AC93FB0EB02F}"/>
              </a:ext>
            </a:extLst>
          </p:cNvPr>
          <p:cNvSpPr>
            <a:spLocks xmlns:a="http://schemas.openxmlformats.org/drawingml/2006/main" noGrp="1"/>
          </p:cNvSpPr>
          <p:nvPr/>
        </p:nvSpPr>
        <p:spPr>
          <a:xfrm xmlns:a="http://schemas.openxmlformats.org/drawingml/2006/main">
            <a:off x="9144000" y="43053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8B84E"/>
                </a:solidFill>
              </a:defRPr>
            </a:pPr>
            <a:r>
              <a:rPr sz="900" b="1">
                <a:solidFill>
                  <a:srgbClr val="F8B84E"/>
                </a:solidFill>
              </a:rPr>
              <a:t>OPTIONAL</a:t>
            </a:r>
          </a:p>
        </p:txBody>
      </p:sp>
      <p:sp>
        <p:nvSpPr>
          <p:cNvPr id="53" name="">
            <a:extLst xmlns:a="http://schemas.openxmlformats.org/drawingml/2006/main">
              <a:ext uri="{FF2B5EF4-FFF2-40B4-BE49-F238E27FC236}">
                <a16:creationId xmlns:a16="http://schemas.microsoft.com/office/drawing/2014/main" id="{E396CA41-2C78-440C-8415-AA763F4ACB22}"/>
              </a:ext>
            </a:extLst>
          </p:cNvPr>
          <p:cNvSpPr>
            <a:spLocks xmlns:a="http://schemas.openxmlformats.org/drawingml/2006/main" noGrp="1"/>
          </p:cNvSpPr>
          <p:nvPr/>
        </p:nvSpPr>
        <p:spPr>
          <a:xfrm xmlns:a="http://schemas.openxmlformats.org/drawingml/2006/main">
            <a:off x="1104900" y="4953000"/>
            <a:ext cx="9144000" cy="704850"/>
          </a:xfrm>
          <a:prstGeom xmlns:a="http://schemas.openxmlformats.org/drawingml/2006/main" prst="roundRect">
            <a:avLst>
              <a:gd name="adj" fmla="val 16216"/>
            </a:avLst>
          </a:prstGeom>
          <a:solidFill xmlns:a="http://schemas.openxmlformats.org/drawingml/2006/main">
            <a:srgbClr val="081425"/>
          </a:solidFill>
          <a:ln xmlns:a="http://schemas.openxmlformats.org/drawingml/2006/main" w="9525">
            <a:solidFill>
              <a:srgbClr val="A855F7"/>
            </a:solidFill>
            <a:prstDash val="solid"/>
          </a:ln>
        </p:spPr>
      </p:sp>
      <p:sp>
        <p:nvSpPr>
          <p:cNvPr id="54" name="">
            <a:extLst xmlns:a="http://schemas.openxmlformats.org/drawingml/2006/main">
              <a:ext uri="{FF2B5EF4-FFF2-40B4-BE49-F238E27FC236}">
                <a16:creationId xmlns:a16="http://schemas.microsoft.com/office/drawing/2014/main" id="{7D0EBDB5-1488-4FB9-8E32-33406574D5D6}"/>
              </a:ext>
            </a:extLst>
          </p:cNvPr>
          <p:cNvSpPr>
            <a:spLocks xmlns:a="http://schemas.openxmlformats.org/drawingml/2006/main" noGrp="1"/>
          </p:cNvSpPr>
          <p:nvPr/>
        </p:nvSpPr>
        <p:spPr>
          <a:xfrm xmlns:a="http://schemas.openxmlformats.org/drawingml/2006/main">
            <a:off x="1333500" y="51054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855F7"/>
                </a:solidFill>
              </a:defRPr>
            </a:pPr>
            <a:r>
              <a:rPr sz="1050" b="1">
                <a:solidFill>
                  <a:srgbClr val="A855F7"/>
                </a:solidFill>
              </a:rPr>
              <a:t>LEVEL 4</a:t>
            </a:r>
          </a:p>
        </p:txBody>
      </p:sp>
      <p:sp>
        <p:nvSpPr>
          <p:cNvPr id="55" name="">
            <a:extLst xmlns:a="http://schemas.openxmlformats.org/drawingml/2006/main">
              <a:ext uri="{FF2B5EF4-FFF2-40B4-BE49-F238E27FC236}">
                <a16:creationId xmlns:a16="http://schemas.microsoft.com/office/drawing/2014/main" id="{2CC5E448-468A-4C9B-B249-AD1BA6A0A3C3}"/>
              </a:ext>
            </a:extLst>
          </p:cNvPr>
          <p:cNvSpPr>
            <a:spLocks xmlns:a="http://schemas.openxmlformats.org/drawingml/2006/main" noGrp="1"/>
          </p:cNvSpPr>
          <p:nvPr/>
        </p:nvSpPr>
        <p:spPr>
          <a:xfrm xmlns:a="http://schemas.openxmlformats.org/drawingml/2006/main">
            <a:off x="2552700" y="50768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4F8FF"/>
                </a:solidFill>
              </a:defRPr>
            </a:pPr>
            <a:r>
              <a:rPr sz="1575" b="1">
                <a:solidFill>
                  <a:srgbClr val="F4F8FF"/>
                </a:solidFill>
              </a:rPr>
              <a:t>Declared backtest</a:t>
            </a:r>
          </a:p>
        </p:txBody>
      </p:sp>
      <p:sp>
        <p:nvSpPr>
          <p:cNvPr id="56" name="">
            <a:extLst xmlns:a="http://schemas.openxmlformats.org/drawingml/2006/main">
              <a:ext uri="{FF2B5EF4-FFF2-40B4-BE49-F238E27FC236}">
                <a16:creationId xmlns:a16="http://schemas.microsoft.com/office/drawing/2014/main" id="{48280731-5E8B-42EA-8F11-A458AD598252}"/>
              </a:ext>
            </a:extLst>
          </p:cNvPr>
          <p:cNvSpPr>
            <a:spLocks xmlns:a="http://schemas.openxmlformats.org/drawingml/2006/main" noGrp="1"/>
          </p:cNvSpPr>
          <p:nvPr/>
        </p:nvSpPr>
        <p:spPr>
          <a:xfrm xmlns:a="http://schemas.openxmlformats.org/drawingml/2006/main">
            <a:off x="5238750" y="5095875"/>
            <a:ext cx="352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9B7CC"/>
                </a:solidFill>
              </a:defRPr>
            </a:pPr>
            <a:r>
              <a:rPr sz="1200" b="0">
                <a:solidFill>
                  <a:srgbClr val="A9B7CC"/>
                </a:solidFill>
              </a:rPr>
              <a:t>Data, spread, dates, settings, and evidence lineage</a:t>
            </a:r>
          </a:p>
        </p:txBody>
      </p:sp>
      <p:sp>
        <p:nvSpPr>
          <p:cNvPr id="57" name="">
            <a:extLst xmlns:a="http://schemas.openxmlformats.org/drawingml/2006/main">
              <a:ext uri="{FF2B5EF4-FFF2-40B4-BE49-F238E27FC236}">
                <a16:creationId xmlns:a16="http://schemas.microsoft.com/office/drawing/2014/main" id="{11E134E0-00E1-4EA7-ADA2-EE7C5627C553}"/>
              </a:ext>
            </a:extLst>
          </p:cNvPr>
          <p:cNvSpPr>
            <a:spLocks xmlns:a="http://schemas.openxmlformats.org/drawingml/2006/main" noGrp="1"/>
          </p:cNvSpPr>
          <p:nvPr/>
        </p:nvSpPr>
        <p:spPr>
          <a:xfrm xmlns:a="http://schemas.openxmlformats.org/drawingml/2006/main">
            <a:off x="8953500" y="5143500"/>
            <a:ext cx="1143000" cy="285750"/>
          </a:xfrm>
          <a:prstGeom xmlns:a="http://schemas.openxmlformats.org/drawingml/2006/main" prst="roundRect">
            <a:avLst>
              <a:gd name="adj" fmla="val 40000"/>
            </a:avLst>
          </a:prstGeom>
          <a:solidFill xmlns:a="http://schemas.openxmlformats.org/drawingml/2006/main">
            <a:srgbClr val="081425"/>
          </a:solidFill>
          <a:ln xmlns:a="http://schemas.openxmlformats.org/drawingml/2006/main" w="9525">
            <a:solidFill>
              <a:srgbClr val="A855F7"/>
            </a:solidFill>
            <a:prstDash val="solid"/>
          </a:ln>
        </p:spPr>
      </p:sp>
      <p:sp>
        <p:nvSpPr>
          <p:cNvPr id="58" name="">
            <a:extLst xmlns:a="http://schemas.openxmlformats.org/drawingml/2006/main">
              <a:ext uri="{FF2B5EF4-FFF2-40B4-BE49-F238E27FC236}">
                <a16:creationId xmlns:a16="http://schemas.microsoft.com/office/drawing/2014/main" id="{FFE40DD1-7710-4ECD-9A3F-D3CE8E488B7D}"/>
              </a:ext>
            </a:extLst>
          </p:cNvPr>
          <p:cNvSpPr>
            <a:spLocks xmlns:a="http://schemas.openxmlformats.org/drawingml/2006/main" noGrp="1"/>
          </p:cNvSpPr>
          <p:nvPr/>
        </p:nvSpPr>
        <p:spPr>
          <a:xfrm xmlns:a="http://schemas.openxmlformats.org/drawingml/2006/main">
            <a:off x="8953500" y="52006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A855F7"/>
                </a:solidFill>
              </a:defRPr>
            </a:pPr>
            <a:r>
              <a:rPr sz="900" b="1">
                <a:solidFill>
                  <a:srgbClr val="A855F7"/>
                </a:solidFill>
              </a:rPr>
              <a:t>ROADMAP</a:t>
            </a:r>
          </a:p>
        </p:txBody>
      </p:sp>
      <p:sp>
        <p:nvSpPr>
          <p:cNvPr id="59" name="">
            <a:extLst xmlns:a="http://schemas.openxmlformats.org/drawingml/2006/main">
              <a:ext uri="{FF2B5EF4-FFF2-40B4-BE49-F238E27FC236}">
                <a16:creationId xmlns:a16="http://schemas.microsoft.com/office/drawing/2014/main" id="{7D6F61DB-2D54-40A0-9B42-DCA4EE62B0B0}"/>
              </a:ext>
            </a:extLst>
          </p:cNvPr>
          <p:cNvSpPr>
            <a:spLocks xmlns:a="http://schemas.openxmlformats.org/drawingml/2006/main" noGrp="1"/>
          </p:cNvSpPr>
          <p:nvPr/>
        </p:nvSpPr>
        <p:spPr>
          <a:xfrm xmlns:a="http://schemas.openxmlformats.org/drawingml/2006/main">
            <a:off x="533400" y="60198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8B84E"/>
                </a:solidFill>
              </a:defRPr>
            </a:pPr>
            <a:r>
              <a:rPr sz="1275" b="1">
                <a:solidFill>
                  <a:srgbClr val="F8B84E"/>
                </a:solidFill>
              </a:rPr>
              <a:t>Safety boundary: generated code is downloaded for controlled testing; it is not executed inside the web application.</a:t>
            </a:r>
          </a:p>
        </p:txBody>
      </p:sp>
    </p:spTree>
    <p:extLst>
      <p:ext uri="{BB962C8B-B14F-4D97-AF65-F5344CB8AC3E}">
        <p14:creationId xmlns:p14="http://schemas.microsoft.com/office/powerpoint/2010/main" val="1600512111"/>
      </p:ext>
    </p:extLst>
  </p:cSld>
</p:sld>
</file>

<file path=ppt/slides/slide8.xml><?xml version="1.0" encoding="utf-8"?>
<p:sld xmlns:p="http://schemas.openxmlformats.org/presentationml/2006/main">
  <p:cSld>
    <p:bg>
      <p:bgPr>
        <a:solidFill xmlns:a="http://schemas.openxmlformats.org/drawingml/2006/main">
          <a:srgbClr val="040812"/>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C5E5587F-9CBF-459C-9C38-799793D1493B}"/>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866BF4-2F38-4A73-8CE1-9F32815695C7}"/>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7BA0159-EADB-4A4A-BDFB-5F19F39DA901}"/>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5D6E846-8CF0-4245-AE18-4839D56A99FE}"/>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4CB3BA-F77E-4660-81F1-D3F3AE0DE32C}"/>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62DCDD4-8FD9-4B39-9659-7E8A88AD53EF}"/>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4AAC1AF-02A3-47EE-A7B8-7080225E6C05}"/>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476E46F-0970-483E-8587-999AC1698364}"/>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4C4F68A-6FCD-402D-822A-FEC9D20214E3}"/>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86D68F1-13EA-4C76-8EF7-B258F8A23F44}"/>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B8E964D-72F2-411B-84A6-757C4B26B313}"/>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F0FA9CD-1C7C-41E2-9AF6-9DEA200AC70B}"/>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CA25A0C-C02C-4FEB-A6D3-E8F10DBC345E}"/>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88A8E1C-8B11-452D-A3F9-66B05630E8E3}"/>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115742D-7E20-4DD0-8EF4-22A988E63627}"/>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416C513-A302-42D0-8676-FB0A147DE03E}"/>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C68A089-3BFE-4362-A99D-D1650E5895F4}"/>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6CF843E-E0F9-42A3-9EFC-A95C95503D22}"/>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0E95FC2-685D-40BE-97D3-44B5A76C2210}"/>
              </a:ext>
            </a:extLst>
          </p:cNvPr>
          <p:cNvSpPr>
            <a:spLocks xmlns:a="http://schemas.openxmlformats.org/drawingml/2006/main" noGrp="1"/>
          </p:cNvSpPr>
          <p:nvPr/>
        </p:nvSpPr>
        <p:spPr>
          <a:xfrm xmlns:a="http://schemas.openxmlformats.org/drawingml/2006/main">
            <a:off x="0" y="76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F832A9E-87E0-4993-9BDA-EF47F9DC1662}"/>
              </a:ext>
            </a:extLst>
          </p:cNvPr>
          <p:cNvSpPr>
            <a:spLocks xmlns:a="http://schemas.openxmlformats.org/drawingml/2006/main" noGrp="1"/>
          </p:cNvSpPr>
          <p:nvPr/>
        </p:nvSpPr>
        <p:spPr>
          <a:xfrm xmlns:a="http://schemas.openxmlformats.org/drawingml/2006/main">
            <a:off x="0" y="152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67FAF8A-62E6-44E9-B794-C7A145FECAC1}"/>
              </a:ext>
            </a:extLst>
          </p:cNvPr>
          <p:cNvSpPr>
            <a:spLocks xmlns:a="http://schemas.openxmlformats.org/drawingml/2006/main" noGrp="1"/>
          </p:cNvSpPr>
          <p:nvPr/>
        </p:nvSpPr>
        <p:spPr>
          <a:xfrm xmlns:a="http://schemas.openxmlformats.org/drawingml/2006/main">
            <a:off x="0" y="228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6BAD711-8F48-4DF2-B26F-A2C7E2BF834D}"/>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8854110-1492-4439-8CB4-9450F5ABB864}"/>
              </a:ext>
            </a:extLst>
          </p:cNvPr>
          <p:cNvSpPr>
            <a:spLocks xmlns:a="http://schemas.openxmlformats.org/drawingml/2006/main" noGrp="1"/>
          </p:cNvSpPr>
          <p:nvPr/>
        </p:nvSpPr>
        <p:spPr>
          <a:xfrm xmlns:a="http://schemas.openxmlformats.org/drawingml/2006/main">
            <a:off x="0" y="3810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A55F040-13C9-4CC9-B2E7-AE111F2B8FFA}"/>
              </a:ext>
            </a:extLst>
          </p:cNvPr>
          <p:cNvSpPr>
            <a:spLocks xmlns:a="http://schemas.openxmlformats.org/drawingml/2006/main" noGrp="1"/>
          </p:cNvSpPr>
          <p:nvPr/>
        </p:nvSpPr>
        <p:spPr>
          <a:xfrm xmlns:a="http://schemas.openxmlformats.org/drawingml/2006/main">
            <a:off x="0" y="457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AABBF95-DC94-4F73-B9EA-40A13D12FC6F}"/>
              </a:ext>
            </a:extLst>
          </p:cNvPr>
          <p:cNvSpPr>
            <a:spLocks xmlns:a="http://schemas.openxmlformats.org/drawingml/2006/main" noGrp="1"/>
          </p:cNvSpPr>
          <p:nvPr/>
        </p:nvSpPr>
        <p:spPr>
          <a:xfrm xmlns:a="http://schemas.openxmlformats.org/drawingml/2006/main">
            <a:off x="0" y="533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C88CC54-444D-482A-BAAD-7962925593ED}"/>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BD6DAA3-344F-4AC3-B7C0-3B70553303A0}"/>
              </a:ext>
            </a:extLst>
          </p:cNvPr>
          <p:cNvSpPr>
            <a:spLocks xmlns:a="http://schemas.openxmlformats.org/drawingml/2006/main" noGrp="1"/>
          </p:cNvSpPr>
          <p:nvPr/>
        </p:nvSpPr>
        <p:spPr>
          <a:xfrm xmlns:a="http://schemas.openxmlformats.org/drawingml/2006/main">
            <a:off x="0" y="685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C035A9A-DA64-4D43-9A59-2E592FBE359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C21D051-8BF6-4D8C-8CE9-F256071945F1}"/>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COMMERCE</a:t>
            </a:r>
          </a:p>
        </p:txBody>
      </p:sp>
      <p:sp>
        <p:nvSpPr>
          <p:cNvPr id="30" name="slide-8-title">
            <a:extLst xmlns:a="http://schemas.openxmlformats.org/drawingml/2006/main">
              <a:ext uri="{FF2B5EF4-FFF2-40B4-BE49-F238E27FC236}">
                <a16:creationId xmlns:a16="http://schemas.microsoft.com/office/drawing/2014/main" id="{8C16AAB0-3F23-4AE6-8302-091A676E3255}"/>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4F8FF"/>
                </a:solidFill>
              </a:defRPr>
            </a:pPr>
            <a:r>
              <a:rPr sz="2700" b="1">
                <a:solidFill>
                  <a:srgbClr val="F4F8FF"/>
                </a:solidFill>
              </a:rPr>
              <a:t>The marketplace monetizes reusable automation with visible evidence</a:t>
            </a:r>
          </a:p>
        </p:txBody>
      </p:sp>
      <p:sp>
        <p:nvSpPr>
          <p:cNvPr id="31" name="">
            <a:extLst xmlns:a="http://schemas.openxmlformats.org/drawingml/2006/main">
              <a:ext uri="{FF2B5EF4-FFF2-40B4-BE49-F238E27FC236}">
                <a16:creationId xmlns:a16="http://schemas.microsoft.com/office/drawing/2014/main" id="{1DD8DACF-975C-446F-B89C-DF82A943C8EC}"/>
              </a:ext>
            </a:extLst>
          </p:cNvPr>
          <p:cNvSpPr>
            <a:spLocks xmlns:a="http://schemas.openxmlformats.org/drawingml/2006/main" noGrp="1"/>
          </p:cNvSpPr>
          <p:nvPr/>
        </p:nvSpPr>
        <p:spPr>
          <a:xfrm xmlns:a="http://schemas.openxmlformats.org/drawingml/2006/main">
            <a:off x="533400" y="1257300"/>
            <a:ext cx="11125200" cy="952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6A70CE8-5F2F-4026-8E7A-094504CC8C9E}"/>
              </a:ext>
            </a:extLst>
          </p:cNvPr>
          <p:cNvSpPr>
            <a:spLocks xmlns:a="http://schemas.openxmlformats.org/drawingml/2006/main" noGrp="1"/>
          </p:cNvSpPr>
          <p:nvPr/>
        </p:nvSpPr>
        <p:spPr>
          <a:xfrm xmlns:a="http://schemas.openxmlformats.org/drawingml/2006/main">
            <a:off x="533400" y="65341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4748B"/>
                </a:solidFill>
              </a:defRPr>
            </a:pPr>
            <a:r>
              <a:rPr sz="825" b="1">
                <a:solidFill>
                  <a:srgbClr val="64748B"/>
                </a:solidFill>
              </a:rPr>
              <a:t>AAA EAs BUILDER</a:t>
            </a:r>
          </a:p>
        </p:txBody>
      </p:sp>
      <p:sp>
        <p:nvSpPr>
          <p:cNvPr id="33" name="">
            <a:extLst xmlns:a="http://schemas.openxmlformats.org/drawingml/2006/main">
              <a:ext uri="{FF2B5EF4-FFF2-40B4-BE49-F238E27FC236}">
                <a16:creationId xmlns:a16="http://schemas.microsoft.com/office/drawing/2014/main" id="{0D634EE3-11C3-48C6-9EDE-94DD034944AC}"/>
              </a:ext>
            </a:extLst>
          </p:cNvPr>
          <p:cNvSpPr>
            <a:spLocks xmlns:a="http://schemas.openxmlformats.org/drawingml/2006/main" noGrp="1"/>
          </p:cNvSpPr>
          <p:nvPr/>
        </p:nvSpPr>
        <p:spPr>
          <a:xfrm xmlns:a="http://schemas.openxmlformats.org/drawingml/2006/main">
            <a:off x="11144250" y="65151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4748B"/>
                </a:solidFill>
              </a:defRPr>
            </a:pPr>
            <a:r>
              <a:rPr sz="825" b="1">
                <a:solidFill>
                  <a:srgbClr val="64748B"/>
                </a:solidFill>
              </a:rPr>
              <a:t>08</a:t>
            </a:r>
          </a:p>
        </p:txBody>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b7ea8a5d45184c98"/>
          <a:stretch xmlns:a="http://schemas.openxmlformats.org/drawingml/2006/main"/>
        </p:blipFill>
        <p:spPr>
          <a:xfrm xmlns:a="http://schemas.openxmlformats.org/drawingml/2006/main">
            <a:off x="533400" y="1707874"/>
            <a:ext cx="7334250" cy="4128052"/>
          </a:xfrm>
          <a:prstGeom xmlns:a="http://schemas.openxmlformats.org/drawingml/2006/main" prst="roundRect">
            <a:avLst>
              <a:gd name="adj" fmla="val 2542"/>
            </a:avLst>
          </a:prstGeom>
        </p:spPr>
      </p:pic>
      <p:sp>
        <p:nvSpPr>
          <p:cNvPr id="35" name="">
            <a:extLst xmlns:a="http://schemas.openxmlformats.org/drawingml/2006/main">
              <a:ext uri="{FF2B5EF4-FFF2-40B4-BE49-F238E27FC236}">
                <a16:creationId xmlns:a16="http://schemas.microsoft.com/office/drawing/2014/main" id="{07BE9640-D048-475E-8B67-0C9C96778926}"/>
              </a:ext>
            </a:extLst>
          </p:cNvPr>
          <p:cNvSpPr>
            <a:spLocks xmlns:a="http://schemas.openxmlformats.org/drawingml/2006/main" noGrp="1"/>
          </p:cNvSpPr>
          <p:nvPr/>
        </p:nvSpPr>
        <p:spPr>
          <a:xfrm xmlns:a="http://schemas.openxmlformats.org/drawingml/2006/main">
            <a:off x="533400" y="1524000"/>
            <a:ext cx="7334250" cy="47625"/>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6476644-39C1-4523-BAE5-17096E0631D8}"/>
              </a:ext>
            </a:extLst>
          </p:cNvPr>
          <p:cNvSpPr>
            <a:spLocks xmlns:a="http://schemas.openxmlformats.org/drawingml/2006/main" noGrp="1"/>
          </p:cNvSpPr>
          <p:nvPr/>
        </p:nvSpPr>
        <p:spPr>
          <a:xfrm xmlns:a="http://schemas.openxmlformats.org/drawingml/2006/main">
            <a:off x="723900" y="1733550"/>
            <a:ext cx="1657350" cy="285750"/>
          </a:xfrm>
          <a:prstGeom xmlns:a="http://schemas.openxmlformats.org/drawingml/2006/main" prst="roundRect">
            <a:avLst>
              <a:gd name="adj" fmla="val 40000"/>
            </a:avLst>
          </a:prstGeom>
          <a:solidFill xmlns:a="http://schemas.openxmlformats.org/drawingml/2006/main">
            <a:srgbClr val="081425"/>
          </a:solidFill>
          <a:ln xmlns:a="http://schemas.openxmlformats.org/drawingml/2006/main" w="9525">
            <a:solidFill>
              <a:srgbClr val="F8B84E"/>
            </a:solidFill>
            <a:prstDash val="solid"/>
          </a:ln>
        </p:spPr>
      </p:sp>
      <p:sp>
        <p:nvSpPr>
          <p:cNvPr id="37" name="">
            <a:extLst xmlns:a="http://schemas.openxmlformats.org/drawingml/2006/main">
              <a:ext uri="{FF2B5EF4-FFF2-40B4-BE49-F238E27FC236}">
                <a16:creationId xmlns:a16="http://schemas.microsoft.com/office/drawing/2014/main" id="{106985DE-A534-4109-8310-A3435ADB8D79}"/>
              </a:ext>
            </a:extLst>
          </p:cNvPr>
          <p:cNvSpPr>
            <a:spLocks xmlns:a="http://schemas.openxmlformats.org/drawingml/2006/main" noGrp="1"/>
          </p:cNvSpPr>
          <p:nvPr/>
        </p:nvSpPr>
        <p:spPr>
          <a:xfrm xmlns:a="http://schemas.openxmlformats.org/drawingml/2006/main">
            <a:off x="723900" y="1790700"/>
            <a:ext cx="1657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8B84E"/>
                </a:solidFill>
              </a:defRPr>
            </a:pPr>
            <a:r>
              <a:rPr sz="900" b="1">
                <a:solidFill>
                  <a:srgbClr val="F8B84E"/>
                </a:solidFill>
              </a:rPr>
              <a:t>FICTIONAL DEMO DATA</a:t>
            </a:r>
          </a:p>
        </p:txBody>
      </p:sp>
      <p:sp>
        <p:nvSpPr>
          <p:cNvPr id="38" name="">
            <a:extLst xmlns:a="http://schemas.openxmlformats.org/drawingml/2006/main">
              <a:ext uri="{FF2B5EF4-FFF2-40B4-BE49-F238E27FC236}">
                <a16:creationId xmlns:a16="http://schemas.microsoft.com/office/drawing/2014/main" id="{1ED8AC1A-4439-4AF5-A1B9-10DA59D5F39C}"/>
              </a:ext>
            </a:extLst>
          </p:cNvPr>
          <p:cNvSpPr>
            <a:spLocks xmlns:a="http://schemas.openxmlformats.org/drawingml/2006/main" noGrp="1"/>
          </p:cNvSpPr>
          <p:nvPr/>
        </p:nvSpPr>
        <p:spPr>
          <a:xfrm xmlns:a="http://schemas.openxmlformats.org/drawingml/2006/main">
            <a:off x="8248650" y="16192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EVIDENCE BEFORE PURCHASE</a:t>
            </a:r>
          </a:p>
        </p:txBody>
      </p:sp>
      <p:sp>
        <p:nvSpPr>
          <p:cNvPr id="39" name="">
            <a:extLst xmlns:a="http://schemas.openxmlformats.org/drawingml/2006/main">
              <a:ext uri="{FF2B5EF4-FFF2-40B4-BE49-F238E27FC236}">
                <a16:creationId xmlns:a16="http://schemas.microsoft.com/office/drawing/2014/main" id="{FDB3D79D-DBB3-445B-A6B1-DC3E05CAD6DF}"/>
              </a:ext>
            </a:extLst>
          </p:cNvPr>
          <p:cNvSpPr>
            <a:spLocks xmlns:a="http://schemas.openxmlformats.org/drawingml/2006/main" noGrp="1"/>
          </p:cNvSpPr>
          <p:nvPr/>
        </p:nvSpPr>
        <p:spPr>
          <a:xfrm xmlns:a="http://schemas.openxmlformats.org/drawingml/2006/main">
            <a:off x="8248650" y="2114550"/>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66F05B39-CAE7-451F-8363-185E5981CBE1}"/>
              </a:ext>
            </a:extLst>
          </p:cNvPr>
          <p:cNvSpPr>
            <a:spLocks xmlns:a="http://schemas.openxmlformats.org/drawingml/2006/main" noGrp="1"/>
          </p:cNvSpPr>
          <p:nvPr/>
        </p:nvSpPr>
        <p:spPr>
          <a:xfrm xmlns:a="http://schemas.openxmlformats.org/drawingml/2006/main">
            <a:off x="8458200" y="2038350"/>
            <a:ext cx="2838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Profit factor, win rate, drawdown, trades</a:t>
            </a:r>
          </a:p>
        </p:txBody>
      </p:sp>
      <p:sp>
        <p:nvSpPr>
          <p:cNvPr id="41" name="">
            <a:extLst xmlns:a="http://schemas.openxmlformats.org/drawingml/2006/main">
              <a:ext uri="{FF2B5EF4-FFF2-40B4-BE49-F238E27FC236}">
                <a16:creationId xmlns:a16="http://schemas.microsoft.com/office/drawing/2014/main" id="{2063FE8C-B88C-4CB3-BFD7-7BB04BAB9B2E}"/>
              </a:ext>
            </a:extLst>
          </p:cNvPr>
          <p:cNvSpPr>
            <a:spLocks xmlns:a="http://schemas.openxmlformats.org/drawingml/2006/main" noGrp="1"/>
          </p:cNvSpPr>
          <p:nvPr/>
        </p:nvSpPr>
        <p:spPr>
          <a:xfrm xmlns:a="http://schemas.openxmlformats.org/drawingml/2006/main">
            <a:off x="8248650" y="2647950"/>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9E44DABF-9D4B-4785-BDEF-3D2922D3C9FB}"/>
              </a:ext>
            </a:extLst>
          </p:cNvPr>
          <p:cNvSpPr>
            <a:spLocks xmlns:a="http://schemas.openxmlformats.org/drawingml/2006/main" noGrp="1"/>
          </p:cNvSpPr>
          <p:nvPr/>
        </p:nvSpPr>
        <p:spPr>
          <a:xfrm xmlns:a="http://schemas.openxmlformats.org/drawingml/2006/main">
            <a:off x="8458200" y="2571750"/>
            <a:ext cx="2838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Test period and modelling assumptions</a:t>
            </a:r>
          </a:p>
        </p:txBody>
      </p:sp>
      <p:sp>
        <p:nvSpPr>
          <p:cNvPr id="43" name="">
            <a:extLst xmlns:a="http://schemas.openxmlformats.org/drawingml/2006/main">
              <a:ext uri="{FF2B5EF4-FFF2-40B4-BE49-F238E27FC236}">
                <a16:creationId xmlns:a16="http://schemas.microsoft.com/office/drawing/2014/main" id="{5DA84643-1397-4B90-97EF-57D8AFA97DEA}"/>
              </a:ext>
            </a:extLst>
          </p:cNvPr>
          <p:cNvSpPr>
            <a:spLocks xmlns:a="http://schemas.openxmlformats.org/drawingml/2006/main" noGrp="1"/>
          </p:cNvSpPr>
          <p:nvPr/>
        </p:nvSpPr>
        <p:spPr>
          <a:xfrm xmlns:a="http://schemas.openxmlformats.org/drawingml/2006/main">
            <a:off x="8248650" y="3181350"/>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50B963C6-D810-41DA-A939-04973D5C4B56}"/>
              </a:ext>
            </a:extLst>
          </p:cNvPr>
          <p:cNvSpPr>
            <a:spLocks xmlns:a="http://schemas.openxmlformats.org/drawingml/2006/main" noGrp="1"/>
          </p:cNvSpPr>
          <p:nvPr/>
        </p:nvSpPr>
        <p:spPr>
          <a:xfrm xmlns:a="http://schemas.openxmlformats.org/drawingml/2006/main">
            <a:off x="8458200" y="3105150"/>
            <a:ext cx="2838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Verification state and report lineage</a:t>
            </a:r>
          </a:p>
        </p:txBody>
      </p:sp>
      <p:sp>
        <p:nvSpPr>
          <p:cNvPr id="45" name="">
            <a:extLst xmlns:a="http://schemas.openxmlformats.org/drawingml/2006/main">
              <a:ext uri="{FF2B5EF4-FFF2-40B4-BE49-F238E27FC236}">
                <a16:creationId xmlns:a16="http://schemas.microsoft.com/office/drawing/2014/main" id="{FCF0D590-7865-4E40-BFAA-9814FFE4AB0E}"/>
              </a:ext>
            </a:extLst>
          </p:cNvPr>
          <p:cNvSpPr>
            <a:spLocks xmlns:a="http://schemas.openxmlformats.org/drawingml/2006/main" noGrp="1"/>
          </p:cNvSpPr>
          <p:nvPr/>
        </p:nvSpPr>
        <p:spPr>
          <a:xfrm xmlns:a="http://schemas.openxmlformats.org/drawingml/2006/main">
            <a:off x="8248650" y="3714750"/>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945E10A3-BD20-49BB-93CD-2C762E6CA69F}"/>
              </a:ext>
            </a:extLst>
          </p:cNvPr>
          <p:cNvSpPr>
            <a:spLocks xmlns:a="http://schemas.openxmlformats.org/drawingml/2006/main" noGrp="1"/>
          </p:cNvSpPr>
          <p:nvPr/>
        </p:nvSpPr>
        <p:spPr>
          <a:xfrm xmlns:a="http://schemas.openxmlformats.org/drawingml/2006/main">
            <a:off x="8458200" y="3638550"/>
            <a:ext cx="2838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Equity and drawdown visualization</a:t>
            </a:r>
          </a:p>
        </p:txBody>
      </p:sp>
      <p:sp>
        <p:nvSpPr>
          <p:cNvPr id="47" name="">
            <a:extLst xmlns:a="http://schemas.openxmlformats.org/drawingml/2006/main">
              <a:ext uri="{FF2B5EF4-FFF2-40B4-BE49-F238E27FC236}">
                <a16:creationId xmlns:a16="http://schemas.microsoft.com/office/drawing/2014/main" id="{D5D472FE-3D6A-4657-AC6C-F4E6A66A8CBD}"/>
              </a:ext>
            </a:extLst>
          </p:cNvPr>
          <p:cNvSpPr>
            <a:spLocks xmlns:a="http://schemas.openxmlformats.org/drawingml/2006/main" noGrp="1"/>
          </p:cNvSpPr>
          <p:nvPr/>
        </p:nvSpPr>
        <p:spPr>
          <a:xfrm xmlns:a="http://schemas.openxmlformats.org/drawingml/2006/main">
            <a:off x="8248650" y="4248150"/>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CD52D46E-B69D-4883-8C95-67A444638671}"/>
              </a:ext>
            </a:extLst>
          </p:cNvPr>
          <p:cNvSpPr>
            <a:spLocks xmlns:a="http://schemas.openxmlformats.org/drawingml/2006/main" noGrp="1"/>
          </p:cNvSpPr>
          <p:nvPr/>
        </p:nvSpPr>
        <p:spPr>
          <a:xfrm xmlns:a="http://schemas.openxmlformats.org/drawingml/2006/main">
            <a:off x="8458200" y="4171950"/>
            <a:ext cx="2838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Version, compatibility, support, source policy</a:t>
            </a:r>
          </a:p>
        </p:txBody>
      </p:sp>
      <p:sp>
        <p:nvSpPr>
          <p:cNvPr id="49" name="">
            <a:extLst xmlns:a="http://schemas.openxmlformats.org/drawingml/2006/main">
              <a:ext uri="{FF2B5EF4-FFF2-40B4-BE49-F238E27FC236}">
                <a16:creationId xmlns:a16="http://schemas.microsoft.com/office/drawing/2014/main" id="{2BFC4B3F-9380-48FC-9181-DAC7EB41C020}"/>
              </a:ext>
            </a:extLst>
          </p:cNvPr>
          <p:cNvSpPr>
            <a:spLocks xmlns:a="http://schemas.openxmlformats.org/drawingml/2006/main" noGrp="1"/>
          </p:cNvSpPr>
          <p:nvPr/>
        </p:nvSpPr>
        <p:spPr>
          <a:xfrm xmlns:a="http://schemas.openxmlformats.org/drawingml/2006/main">
            <a:off x="8248650" y="4953000"/>
            <a:ext cx="3048000" cy="1066800"/>
          </a:xfrm>
          <a:prstGeom xmlns:a="http://schemas.openxmlformats.org/drawingml/2006/main" prst="roundRect">
            <a:avLst>
              <a:gd name="adj" fmla="val 10714"/>
            </a:avLst>
          </a:prstGeom>
          <a:solidFill xmlns:a="http://schemas.openxmlformats.org/drawingml/2006/main">
            <a:srgbClr val="0B1A2E"/>
          </a:solidFill>
          <a:ln xmlns:a="http://schemas.openxmlformats.org/drawingml/2006/main" w="9525">
            <a:solidFill>
              <a:srgbClr val="193452"/>
            </a:solidFill>
            <a:prstDash val="solid"/>
          </a:ln>
        </p:spPr>
      </p:sp>
      <p:sp>
        <p:nvSpPr>
          <p:cNvPr id="50" name="">
            <a:extLst xmlns:a="http://schemas.openxmlformats.org/drawingml/2006/main">
              <a:ext uri="{FF2B5EF4-FFF2-40B4-BE49-F238E27FC236}">
                <a16:creationId xmlns:a16="http://schemas.microsoft.com/office/drawing/2014/main" id="{3ED6F139-8DF4-46C6-8A80-3F3D094D5617}"/>
              </a:ext>
            </a:extLst>
          </p:cNvPr>
          <p:cNvSpPr>
            <a:spLocks xmlns:a="http://schemas.openxmlformats.org/drawingml/2006/main" noGrp="1"/>
          </p:cNvSpPr>
          <p:nvPr/>
        </p:nvSpPr>
        <p:spPr>
          <a:xfrm xmlns:a="http://schemas.openxmlformats.org/drawingml/2006/main">
            <a:off x="8458200" y="51435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855F7"/>
                </a:solidFill>
              </a:defRPr>
            </a:pPr>
            <a:r>
              <a:rPr sz="1050" b="1">
                <a:solidFill>
                  <a:srgbClr val="A855F7"/>
                </a:solidFill>
              </a:rPr>
              <a:t>NEXT COMMERCE MILESTONE</a:t>
            </a:r>
          </a:p>
        </p:txBody>
      </p:sp>
      <p:sp>
        <p:nvSpPr>
          <p:cNvPr id="51" name="">
            <a:extLst xmlns:a="http://schemas.openxmlformats.org/drawingml/2006/main">
              <a:ext uri="{FF2B5EF4-FFF2-40B4-BE49-F238E27FC236}">
                <a16:creationId xmlns:a16="http://schemas.microsoft.com/office/drawing/2014/main" id="{08E4D14F-1DB1-4440-A932-2094232559FB}"/>
              </a:ext>
            </a:extLst>
          </p:cNvPr>
          <p:cNvSpPr>
            <a:spLocks xmlns:a="http://schemas.openxmlformats.org/drawingml/2006/main" noGrp="1"/>
          </p:cNvSpPr>
          <p:nvPr/>
        </p:nvSpPr>
        <p:spPr>
          <a:xfrm xmlns:a="http://schemas.openxmlformats.org/drawingml/2006/main">
            <a:off x="8458200" y="546735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4F8FF"/>
                </a:solidFill>
              </a:defRPr>
            </a:pPr>
            <a:r>
              <a:rPr sz="1275" b="1">
                <a:solidFill>
                  <a:srgbClr val="F4F8FF"/>
                </a:solidFill>
              </a:rPr>
              <a:t>Checkout → order → entitlement → protected download</a:t>
            </a:r>
          </a:p>
        </p:txBody>
      </p:sp>
    </p:spTree>
    <p:extLst>
      <p:ext uri="{BB962C8B-B14F-4D97-AF65-F5344CB8AC3E}">
        <p14:creationId xmlns:p14="http://schemas.microsoft.com/office/powerpoint/2010/main" val="122319915"/>
      </p:ext>
    </p:extLst>
  </p:cSld>
</p:sld>
</file>

<file path=ppt/slides/slide9.xml><?xml version="1.0" encoding="utf-8"?>
<p:sld xmlns:p="http://schemas.openxmlformats.org/presentationml/2006/main">
  <p:cSld>
    <p:bg>
      <p:bgPr>
        <a:solidFill xmlns:a="http://schemas.openxmlformats.org/drawingml/2006/main">
          <a:srgbClr val="040812"/>
        </a:solidFill>
      </p:bgPr>
    </p:bg>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A2CDFAD1-F6A0-4E53-BCBF-C65DBD1CBED2}"/>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56C9E14-F5F5-4C21-A5BE-68D8FEC493AB}"/>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48F1D79-F825-4070-AB88-1D885DE688F4}"/>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4E300F4-3F9C-4DAE-9995-EDA3BE319A7D}"/>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CBCDAF7-EDDA-4CAE-85B8-BEA2EF3EE1DD}"/>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4DF2F5A-25C9-4DAF-81B9-1F054FC9293C}"/>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1F75310-FAAB-4E27-A5A7-6144D3BB3281}"/>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E3C1DA9-DB5D-4166-B115-5D419B263B36}"/>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506D8F7-F44D-41B8-B6BF-6751FC95B03F}"/>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1AB6C99-A873-4A2F-AD10-F32F8EE01709}"/>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5B26414-C4F9-48A0-B7C7-097F5B2FB1CC}"/>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ADE2AA5-8739-431C-A59C-65B2900F0C1F}"/>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C01D8F8-D214-4159-B87C-C0BFEB025E98}"/>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9445C7B-EB5E-4D26-9C75-7BCA0425BB12}"/>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AAD1FD0-3AF7-4AE1-BB7B-E1BC1CCD58C8}"/>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CEA8F41-F400-40D6-B166-84F70A062B0C}"/>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01A857B-0C06-497D-A338-BB24C279B495}"/>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6A69518-801C-4FEE-8883-2308E02BC002}"/>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FB88A9E-AC47-4D38-8A58-6B3DB94369D5}"/>
              </a:ext>
            </a:extLst>
          </p:cNvPr>
          <p:cNvSpPr>
            <a:spLocks xmlns:a="http://schemas.openxmlformats.org/drawingml/2006/main" noGrp="1"/>
          </p:cNvSpPr>
          <p:nvPr/>
        </p:nvSpPr>
        <p:spPr>
          <a:xfrm xmlns:a="http://schemas.openxmlformats.org/drawingml/2006/main">
            <a:off x="0" y="76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FC586F1-FEBA-4255-818A-2BB7A7E58758}"/>
              </a:ext>
            </a:extLst>
          </p:cNvPr>
          <p:cNvSpPr>
            <a:spLocks xmlns:a="http://schemas.openxmlformats.org/drawingml/2006/main" noGrp="1"/>
          </p:cNvSpPr>
          <p:nvPr/>
        </p:nvSpPr>
        <p:spPr>
          <a:xfrm xmlns:a="http://schemas.openxmlformats.org/drawingml/2006/main">
            <a:off x="0" y="152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0BDB607-C661-4BF3-A0AF-BC4750679E6F}"/>
              </a:ext>
            </a:extLst>
          </p:cNvPr>
          <p:cNvSpPr>
            <a:spLocks xmlns:a="http://schemas.openxmlformats.org/drawingml/2006/main" noGrp="1"/>
          </p:cNvSpPr>
          <p:nvPr/>
        </p:nvSpPr>
        <p:spPr>
          <a:xfrm xmlns:a="http://schemas.openxmlformats.org/drawingml/2006/main">
            <a:off x="0" y="228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D754725-0D0A-43AD-BFFC-CF92F3B24E5C}"/>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8621E66-9909-49B1-A398-124D284CAD39}"/>
              </a:ext>
            </a:extLst>
          </p:cNvPr>
          <p:cNvSpPr>
            <a:spLocks xmlns:a="http://schemas.openxmlformats.org/drawingml/2006/main" noGrp="1"/>
          </p:cNvSpPr>
          <p:nvPr/>
        </p:nvSpPr>
        <p:spPr>
          <a:xfrm xmlns:a="http://schemas.openxmlformats.org/drawingml/2006/main">
            <a:off x="0" y="3810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77874D6-FFAA-4FF5-AC7C-3A47CE73BB49}"/>
              </a:ext>
            </a:extLst>
          </p:cNvPr>
          <p:cNvSpPr>
            <a:spLocks xmlns:a="http://schemas.openxmlformats.org/drawingml/2006/main" noGrp="1"/>
          </p:cNvSpPr>
          <p:nvPr/>
        </p:nvSpPr>
        <p:spPr>
          <a:xfrm xmlns:a="http://schemas.openxmlformats.org/drawingml/2006/main">
            <a:off x="0" y="457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A995E8C-CF7B-4BF6-AE3A-0C0D0BE5E223}"/>
              </a:ext>
            </a:extLst>
          </p:cNvPr>
          <p:cNvSpPr>
            <a:spLocks xmlns:a="http://schemas.openxmlformats.org/drawingml/2006/main" noGrp="1"/>
          </p:cNvSpPr>
          <p:nvPr/>
        </p:nvSpPr>
        <p:spPr>
          <a:xfrm xmlns:a="http://schemas.openxmlformats.org/drawingml/2006/main">
            <a:off x="0" y="533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A56E432-1654-4FF0-958B-7E1033623220}"/>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35E723A-EFB9-4208-9FD6-B47BD3B49ABF}"/>
              </a:ext>
            </a:extLst>
          </p:cNvPr>
          <p:cNvSpPr>
            <a:spLocks xmlns:a="http://schemas.openxmlformats.org/drawingml/2006/main" noGrp="1"/>
          </p:cNvSpPr>
          <p:nvPr/>
        </p:nvSpPr>
        <p:spPr>
          <a:xfrm xmlns:a="http://schemas.openxmlformats.org/drawingml/2006/main">
            <a:off x="0" y="685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180F765-46A0-4CFF-9C04-6189241B8D7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B91054B-7A6B-42DB-BCF9-B059592F9703}"/>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UNFOLD ADMIN</a:t>
            </a:r>
          </a:p>
        </p:txBody>
      </p:sp>
      <p:sp>
        <p:nvSpPr>
          <p:cNvPr id="30" name="slide-9-title">
            <a:extLst xmlns:a="http://schemas.openxmlformats.org/drawingml/2006/main">
              <a:ext uri="{FF2B5EF4-FFF2-40B4-BE49-F238E27FC236}">
                <a16:creationId xmlns:a16="http://schemas.microsoft.com/office/drawing/2014/main" id="{26060AD1-7832-48EA-AD1C-E10A6077CA55}"/>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4F8FF"/>
                </a:solidFill>
              </a:defRPr>
            </a:pPr>
            <a:r>
              <a:rPr sz="2700" b="1">
                <a:solidFill>
                  <a:srgbClr val="F4F8FF"/>
                </a:solidFill>
              </a:rPr>
              <a:t>The admin panel is the product’s operating system</a:t>
            </a:r>
          </a:p>
        </p:txBody>
      </p:sp>
      <p:sp>
        <p:nvSpPr>
          <p:cNvPr id="31" name="">
            <a:extLst xmlns:a="http://schemas.openxmlformats.org/drawingml/2006/main">
              <a:ext uri="{FF2B5EF4-FFF2-40B4-BE49-F238E27FC236}">
                <a16:creationId xmlns:a16="http://schemas.microsoft.com/office/drawing/2014/main" id="{51F6F53B-7A73-4053-831B-38B86EF30FD0}"/>
              </a:ext>
            </a:extLst>
          </p:cNvPr>
          <p:cNvSpPr>
            <a:spLocks xmlns:a="http://schemas.openxmlformats.org/drawingml/2006/main" noGrp="1"/>
          </p:cNvSpPr>
          <p:nvPr/>
        </p:nvSpPr>
        <p:spPr>
          <a:xfrm xmlns:a="http://schemas.openxmlformats.org/drawingml/2006/main">
            <a:off x="533400" y="1257300"/>
            <a:ext cx="11125200" cy="952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DCF6599-4652-4A4F-BBC0-272B31B15DD6}"/>
              </a:ext>
            </a:extLst>
          </p:cNvPr>
          <p:cNvSpPr>
            <a:spLocks xmlns:a="http://schemas.openxmlformats.org/drawingml/2006/main" noGrp="1"/>
          </p:cNvSpPr>
          <p:nvPr/>
        </p:nvSpPr>
        <p:spPr>
          <a:xfrm xmlns:a="http://schemas.openxmlformats.org/drawingml/2006/main">
            <a:off x="533400" y="65341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4748B"/>
                </a:solidFill>
              </a:defRPr>
            </a:pPr>
            <a:r>
              <a:rPr sz="825" b="1">
                <a:solidFill>
                  <a:srgbClr val="64748B"/>
                </a:solidFill>
              </a:rPr>
              <a:t>AAA EAs BUILDER</a:t>
            </a:r>
          </a:p>
        </p:txBody>
      </p:sp>
      <p:sp>
        <p:nvSpPr>
          <p:cNvPr id="33" name="">
            <a:extLst xmlns:a="http://schemas.openxmlformats.org/drawingml/2006/main">
              <a:ext uri="{FF2B5EF4-FFF2-40B4-BE49-F238E27FC236}">
                <a16:creationId xmlns:a16="http://schemas.microsoft.com/office/drawing/2014/main" id="{F0E876D7-76BD-4A13-9D60-7AF5E82BA3C1}"/>
              </a:ext>
            </a:extLst>
          </p:cNvPr>
          <p:cNvSpPr>
            <a:spLocks xmlns:a="http://schemas.openxmlformats.org/drawingml/2006/main" noGrp="1"/>
          </p:cNvSpPr>
          <p:nvPr/>
        </p:nvSpPr>
        <p:spPr>
          <a:xfrm xmlns:a="http://schemas.openxmlformats.org/drawingml/2006/main">
            <a:off x="11144250" y="65151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4748B"/>
                </a:solidFill>
              </a:defRPr>
            </a:pPr>
            <a:r>
              <a:rPr sz="825" b="1">
                <a:solidFill>
                  <a:srgbClr val="64748B"/>
                </a:solidFill>
              </a:rPr>
              <a:t>09</a:t>
            </a:r>
          </a:p>
        </p:txBody>
      </p:sp>
      <p:sp>
        <p:nvSpPr>
          <p:cNvPr id="34" name="">
            <a:extLst xmlns:a="http://schemas.openxmlformats.org/drawingml/2006/main">
              <a:ext uri="{FF2B5EF4-FFF2-40B4-BE49-F238E27FC236}">
                <a16:creationId xmlns:a16="http://schemas.microsoft.com/office/drawing/2014/main" id="{24079469-543A-49DC-A297-7A19890741A6}"/>
              </a:ext>
            </a:extLst>
          </p:cNvPr>
          <p:cNvSpPr>
            <a:spLocks xmlns:a="http://schemas.openxmlformats.org/drawingml/2006/main" noGrp="1"/>
          </p:cNvSpPr>
          <p:nvPr/>
        </p:nvSpPr>
        <p:spPr>
          <a:xfrm xmlns:a="http://schemas.openxmlformats.org/drawingml/2006/main">
            <a:off x="533400" y="1504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A9B7CC"/>
                </a:solidFill>
              </a:defRPr>
            </a:pPr>
            <a:r>
              <a:rPr sz="1650" b="0">
                <a:solidFill>
                  <a:srgbClr val="A9B7CC"/>
                </a:solidFill>
              </a:rPr>
              <a:t>A private Django Unfold console controls AI supply, workflow policy, product operations, and evidence governance.</a:t>
            </a:r>
          </a:p>
        </p:txBody>
      </p:sp>
      <p:sp>
        <p:nvSpPr>
          <p:cNvPr id="35" name="">
            <a:extLst xmlns:a="http://schemas.openxmlformats.org/drawingml/2006/main">
              <a:ext uri="{FF2B5EF4-FFF2-40B4-BE49-F238E27FC236}">
                <a16:creationId xmlns:a16="http://schemas.microsoft.com/office/drawing/2014/main" id="{2AA67C6B-98CB-432D-84CD-5A654756074B}"/>
              </a:ext>
            </a:extLst>
          </p:cNvPr>
          <p:cNvSpPr>
            <a:spLocks xmlns:a="http://schemas.openxmlformats.org/drawingml/2006/main" noGrp="1"/>
          </p:cNvSpPr>
          <p:nvPr/>
        </p:nvSpPr>
        <p:spPr>
          <a:xfrm xmlns:a="http://schemas.openxmlformats.org/drawingml/2006/main">
            <a:off x="533400" y="2247900"/>
            <a:ext cx="2438400" cy="3143250"/>
          </a:xfrm>
          <a:prstGeom xmlns:a="http://schemas.openxmlformats.org/drawingml/2006/main" prst="roundRect">
            <a:avLst>
              <a:gd name="adj" fmla="val 4688"/>
            </a:avLst>
          </a:prstGeom>
          <a:solidFill xmlns:a="http://schemas.openxmlformats.org/drawingml/2006/main">
            <a:srgbClr val="081425"/>
          </a:solidFill>
          <a:ln xmlns:a="http://schemas.openxmlformats.org/drawingml/2006/main" w="9525">
            <a:solidFill>
              <a:srgbClr val="10DFF2"/>
            </a:solidFill>
            <a:prstDash val="solid"/>
          </a:ln>
        </p:spPr>
      </p:sp>
      <p:sp>
        <p:nvSpPr>
          <p:cNvPr id="36" name="">
            <a:extLst xmlns:a="http://schemas.openxmlformats.org/drawingml/2006/main">
              <a:ext uri="{FF2B5EF4-FFF2-40B4-BE49-F238E27FC236}">
                <a16:creationId xmlns:a16="http://schemas.microsoft.com/office/drawing/2014/main" id="{CF34AD77-11BA-4CC4-82EA-86C30B0005A0}"/>
              </a:ext>
            </a:extLst>
          </p:cNvPr>
          <p:cNvSpPr>
            <a:spLocks xmlns:a="http://schemas.openxmlformats.org/drawingml/2006/main" noGrp="1"/>
          </p:cNvSpPr>
          <p:nvPr/>
        </p:nvSpPr>
        <p:spPr>
          <a:xfrm xmlns:a="http://schemas.openxmlformats.org/drawingml/2006/main">
            <a:off x="742950" y="24574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AI SUPPLY</a:t>
            </a:r>
          </a:p>
        </p:txBody>
      </p:sp>
      <p:sp>
        <p:nvSpPr>
          <p:cNvPr id="37" name="">
            <a:extLst xmlns:a="http://schemas.openxmlformats.org/drawingml/2006/main">
              <a:ext uri="{FF2B5EF4-FFF2-40B4-BE49-F238E27FC236}">
                <a16:creationId xmlns:a16="http://schemas.microsoft.com/office/drawing/2014/main" id="{1F9138BC-52C6-40DD-88A4-2710E30844E9}"/>
              </a:ext>
            </a:extLst>
          </p:cNvPr>
          <p:cNvSpPr>
            <a:spLocks xmlns:a="http://schemas.openxmlformats.org/drawingml/2006/main" noGrp="1"/>
          </p:cNvSpPr>
          <p:nvPr/>
        </p:nvSpPr>
        <p:spPr>
          <a:xfrm xmlns:a="http://schemas.openxmlformats.org/drawingml/2006/main">
            <a:off x="742950" y="3028950"/>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A0A9F76-332A-4F16-A2F1-E83754076415}"/>
              </a:ext>
            </a:extLst>
          </p:cNvPr>
          <p:cNvSpPr>
            <a:spLocks xmlns:a="http://schemas.openxmlformats.org/drawingml/2006/main" noGrp="1"/>
          </p:cNvSpPr>
          <p:nvPr/>
        </p:nvSpPr>
        <p:spPr>
          <a:xfrm xmlns:a="http://schemas.openxmlformats.org/drawingml/2006/main">
            <a:off x="952500" y="2952750"/>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Gateways + encrypted keys</a:t>
            </a:r>
          </a:p>
        </p:txBody>
      </p:sp>
      <p:sp>
        <p:nvSpPr>
          <p:cNvPr id="39" name="">
            <a:extLst xmlns:a="http://schemas.openxmlformats.org/drawingml/2006/main">
              <a:ext uri="{FF2B5EF4-FFF2-40B4-BE49-F238E27FC236}">
                <a16:creationId xmlns:a16="http://schemas.microsoft.com/office/drawing/2014/main" id="{7FF78507-16DF-4F1A-A2A7-3F2BC9431262}"/>
              </a:ext>
            </a:extLst>
          </p:cNvPr>
          <p:cNvSpPr>
            <a:spLocks xmlns:a="http://schemas.openxmlformats.org/drawingml/2006/main" noGrp="1"/>
          </p:cNvSpPr>
          <p:nvPr/>
        </p:nvSpPr>
        <p:spPr>
          <a:xfrm xmlns:a="http://schemas.openxmlformats.org/drawingml/2006/main">
            <a:off x="742950" y="3552825"/>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8E093257-5161-4CD5-A20C-59AD27A2F19F}"/>
              </a:ext>
            </a:extLst>
          </p:cNvPr>
          <p:cNvSpPr>
            <a:spLocks xmlns:a="http://schemas.openxmlformats.org/drawingml/2006/main" noGrp="1"/>
          </p:cNvSpPr>
          <p:nvPr/>
        </p:nvSpPr>
        <p:spPr>
          <a:xfrm xmlns:a="http://schemas.openxmlformats.org/drawingml/2006/main">
            <a:off x="952500" y="3476625"/>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Provider/model identifiers</a:t>
            </a:r>
          </a:p>
        </p:txBody>
      </p:sp>
      <p:sp>
        <p:nvSpPr>
          <p:cNvPr id="41" name="">
            <a:extLst xmlns:a="http://schemas.openxmlformats.org/drawingml/2006/main">
              <a:ext uri="{FF2B5EF4-FFF2-40B4-BE49-F238E27FC236}">
                <a16:creationId xmlns:a16="http://schemas.microsoft.com/office/drawing/2014/main" id="{C3BF9BE2-33C6-4153-99BD-96BF727CC3AE}"/>
              </a:ext>
            </a:extLst>
          </p:cNvPr>
          <p:cNvSpPr>
            <a:spLocks xmlns:a="http://schemas.openxmlformats.org/drawingml/2006/main" noGrp="1"/>
          </p:cNvSpPr>
          <p:nvPr/>
        </p:nvSpPr>
        <p:spPr>
          <a:xfrm xmlns:a="http://schemas.openxmlformats.org/drawingml/2006/main">
            <a:off x="742950" y="4076700"/>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8874243-F5D2-4022-A0FA-23F459282638}"/>
              </a:ext>
            </a:extLst>
          </p:cNvPr>
          <p:cNvSpPr>
            <a:spLocks xmlns:a="http://schemas.openxmlformats.org/drawingml/2006/main" noGrp="1"/>
          </p:cNvSpPr>
          <p:nvPr/>
        </p:nvSpPr>
        <p:spPr>
          <a:xfrm xmlns:a="http://schemas.openxmlformats.org/drawingml/2006/main">
            <a:off x="952500" y="4000500"/>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Budgets, priority, health</a:t>
            </a:r>
          </a:p>
        </p:txBody>
      </p:sp>
      <p:sp>
        <p:nvSpPr>
          <p:cNvPr id="43" name="">
            <a:extLst xmlns:a="http://schemas.openxmlformats.org/drawingml/2006/main">
              <a:ext uri="{FF2B5EF4-FFF2-40B4-BE49-F238E27FC236}">
                <a16:creationId xmlns:a16="http://schemas.microsoft.com/office/drawing/2014/main" id="{6C3CF6A0-D624-40D5-A3C4-A59532FDA794}"/>
              </a:ext>
            </a:extLst>
          </p:cNvPr>
          <p:cNvSpPr>
            <a:spLocks xmlns:a="http://schemas.openxmlformats.org/drawingml/2006/main" noGrp="1"/>
          </p:cNvSpPr>
          <p:nvPr/>
        </p:nvSpPr>
        <p:spPr>
          <a:xfrm xmlns:a="http://schemas.openxmlformats.org/drawingml/2006/main">
            <a:off x="742950" y="4600575"/>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D4D9879-626B-4A4E-BB5C-931A8F86D087}"/>
              </a:ext>
            </a:extLst>
          </p:cNvPr>
          <p:cNvSpPr>
            <a:spLocks xmlns:a="http://schemas.openxmlformats.org/drawingml/2006/main" noGrp="1"/>
          </p:cNvSpPr>
          <p:nvPr/>
        </p:nvSpPr>
        <p:spPr>
          <a:xfrm xmlns:a="http://schemas.openxmlformats.org/drawingml/2006/main">
            <a:off x="952500" y="4524375"/>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Fallback + capabilities</a:t>
            </a:r>
          </a:p>
        </p:txBody>
      </p:sp>
      <p:sp>
        <p:nvSpPr>
          <p:cNvPr id="45" name="">
            <a:extLst xmlns:a="http://schemas.openxmlformats.org/drawingml/2006/main">
              <a:ext uri="{FF2B5EF4-FFF2-40B4-BE49-F238E27FC236}">
                <a16:creationId xmlns:a16="http://schemas.microsoft.com/office/drawing/2014/main" id="{D09100A3-57F6-454D-8B30-7B1A7A0CEA10}"/>
              </a:ext>
            </a:extLst>
          </p:cNvPr>
          <p:cNvSpPr>
            <a:spLocks xmlns:a="http://schemas.openxmlformats.org/drawingml/2006/main" noGrp="1"/>
          </p:cNvSpPr>
          <p:nvPr/>
        </p:nvSpPr>
        <p:spPr>
          <a:xfrm xmlns:a="http://schemas.openxmlformats.org/drawingml/2006/main">
            <a:off x="3352800" y="2247900"/>
            <a:ext cx="2438400" cy="3143250"/>
          </a:xfrm>
          <a:prstGeom xmlns:a="http://schemas.openxmlformats.org/drawingml/2006/main" prst="roundRect">
            <a:avLst>
              <a:gd name="adj" fmla="val 4688"/>
            </a:avLst>
          </a:prstGeom>
          <a:solidFill xmlns:a="http://schemas.openxmlformats.org/drawingml/2006/main">
            <a:srgbClr val="081425"/>
          </a:solidFill>
          <a:ln xmlns:a="http://schemas.openxmlformats.org/drawingml/2006/main" w="9525">
            <a:solidFill>
              <a:srgbClr val="A855F7"/>
            </a:solidFill>
            <a:prstDash val="solid"/>
          </a:ln>
        </p:spPr>
      </p:sp>
      <p:sp>
        <p:nvSpPr>
          <p:cNvPr id="46" name="">
            <a:extLst xmlns:a="http://schemas.openxmlformats.org/drawingml/2006/main">
              <a:ext uri="{FF2B5EF4-FFF2-40B4-BE49-F238E27FC236}">
                <a16:creationId xmlns:a16="http://schemas.microsoft.com/office/drawing/2014/main" id="{D3A526C7-6C49-4B8F-9D9A-2C2C7D827858}"/>
              </a:ext>
            </a:extLst>
          </p:cNvPr>
          <p:cNvSpPr>
            <a:spLocks xmlns:a="http://schemas.openxmlformats.org/drawingml/2006/main" noGrp="1"/>
          </p:cNvSpPr>
          <p:nvPr/>
        </p:nvSpPr>
        <p:spPr>
          <a:xfrm xmlns:a="http://schemas.openxmlformats.org/drawingml/2006/main">
            <a:off x="3562350" y="24574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855F7"/>
                </a:solidFill>
              </a:defRPr>
            </a:pPr>
            <a:r>
              <a:rPr sz="1050" b="1">
                <a:solidFill>
                  <a:srgbClr val="A855F7"/>
                </a:solidFill>
              </a:rPr>
              <a:t>REASONING</a:t>
            </a:r>
          </a:p>
        </p:txBody>
      </p:sp>
      <p:sp>
        <p:nvSpPr>
          <p:cNvPr id="47" name="">
            <a:extLst xmlns:a="http://schemas.openxmlformats.org/drawingml/2006/main">
              <a:ext uri="{FF2B5EF4-FFF2-40B4-BE49-F238E27FC236}">
                <a16:creationId xmlns:a16="http://schemas.microsoft.com/office/drawing/2014/main" id="{21E60426-33DA-4931-83C1-E2FD7BB34DEC}"/>
              </a:ext>
            </a:extLst>
          </p:cNvPr>
          <p:cNvSpPr>
            <a:spLocks xmlns:a="http://schemas.openxmlformats.org/drawingml/2006/main" noGrp="1"/>
          </p:cNvSpPr>
          <p:nvPr/>
        </p:nvSpPr>
        <p:spPr>
          <a:xfrm xmlns:a="http://schemas.openxmlformats.org/drawingml/2006/main">
            <a:off x="3562350" y="3028950"/>
            <a:ext cx="76200" cy="76200"/>
          </a:xfrm>
          <a:prstGeom xmlns:a="http://schemas.openxmlformats.org/drawingml/2006/main" prst="ellipse">
            <a:avLst/>
          </a:prstGeom>
          <a:solidFill xmlns:a="http://schemas.openxmlformats.org/drawingml/2006/main">
            <a:srgbClr val="A855F7"/>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48D57863-763B-48C6-9DA0-252195FAE7A0}"/>
              </a:ext>
            </a:extLst>
          </p:cNvPr>
          <p:cNvSpPr>
            <a:spLocks xmlns:a="http://schemas.openxmlformats.org/drawingml/2006/main" noGrp="1"/>
          </p:cNvSpPr>
          <p:nvPr/>
        </p:nvSpPr>
        <p:spPr>
          <a:xfrm xmlns:a="http://schemas.openxmlformats.org/drawingml/2006/main">
            <a:off x="3771900" y="2952750"/>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Versioned system prompts</a:t>
            </a:r>
          </a:p>
        </p:txBody>
      </p:sp>
      <p:sp>
        <p:nvSpPr>
          <p:cNvPr id="49" name="">
            <a:extLst xmlns:a="http://schemas.openxmlformats.org/drawingml/2006/main">
              <a:ext uri="{FF2B5EF4-FFF2-40B4-BE49-F238E27FC236}">
                <a16:creationId xmlns:a16="http://schemas.microsoft.com/office/drawing/2014/main" id="{6568B0D7-0452-4009-924C-65F006E8D7CF}"/>
              </a:ext>
            </a:extLst>
          </p:cNvPr>
          <p:cNvSpPr>
            <a:spLocks xmlns:a="http://schemas.openxmlformats.org/drawingml/2006/main" noGrp="1"/>
          </p:cNvSpPr>
          <p:nvPr/>
        </p:nvSpPr>
        <p:spPr>
          <a:xfrm xmlns:a="http://schemas.openxmlformats.org/drawingml/2006/main">
            <a:off x="3562350" y="3552825"/>
            <a:ext cx="76200" cy="76200"/>
          </a:xfrm>
          <a:prstGeom xmlns:a="http://schemas.openxmlformats.org/drawingml/2006/main" prst="ellipse">
            <a:avLst/>
          </a:prstGeom>
          <a:solidFill xmlns:a="http://schemas.openxmlformats.org/drawingml/2006/main">
            <a:srgbClr val="A855F7"/>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23EFD18-4069-4B5B-A740-EAC800B1346B}"/>
              </a:ext>
            </a:extLst>
          </p:cNvPr>
          <p:cNvSpPr>
            <a:spLocks xmlns:a="http://schemas.openxmlformats.org/drawingml/2006/main" noGrp="1"/>
          </p:cNvSpPr>
          <p:nvPr/>
        </p:nvSpPr>
        <p:spPr>
          <a:xfrm xmlns:a="http://schemas.openxmlformats.org/drawingml/2006/main">
            <a:off x="3771900" y="3476625"/>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Agent definitions</a:t>
            </a:r>
          </a:p>
        </p:txBody>
      </p:sp>
      <p:sp>
        <p:nvSpPr>
          <p:cNvPr id="51" name="">
            <a:extLst xmlns:a="http://schemas.openxmlformats.org/drawingml/2006/main">
              <a:ext uri="{FF2B5EF4-FFF2-40B4-BE49-F238E27FC236}">
                <a16:creationId xmlns:a16="http://schemas.microsoft.com/office/drawing/2014/main" id="{B41B9ABB-0313-4CBA-97CD-E96474388B4F}"/>
              </a:ext>
            </a:extLst>
          </p:cNvPr>
          <p:cNvSpPr>
            <a:spLocks xmlns:a="http://schemas.openxmlformats.org/drawingml/2006/main" noGrp="1"/>
          </p:cNvSpPr>
          <p:nvPr/>
        </p:nvSpPr>
        <p:spPr>
          <a:xfrm xmlns:a="http://schemas.openxmlformats.org/drawingml/2006/main">
            <a:off x="3562350" y="4076700"/>
            <a:ext cx="76200" cy="76200"/>
          </a:xfrm>
          <a:prstGeom xmlns:a="http://schemas.openxmlformats.org/drawingml/2006/main" prst="ellipse">
            <a:avLst/>
          </a:prstGeom>
          <a:solidFill xmlns:a="http://schemas.openxmlformats.org/drawingml/2006/main">
            <a:srgbClr val="A855F7"/>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9783695-6506-4733-B1B9-B0E908CBA4CA}"/>
              </a:ext>
            </a:extLst>
          </p:cNvPr>
          <p:cNvSpPr>
            <a:spLocks xmlns:a="http://schemas.openxmlformats.org/drawingml/2006/main" noGrp="1"/>
          </p:cNvSpPr>
          <p:nvPr/>
        </p:nvSpPr>
        <p:spPr>
          <a:xfrm xmlns:a="http://schemas.openxmlformats.org/drawingml/2006/main">
            <a:off x="3771900" y="4000500"/>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Typed schemas + limits</a:t>
            </a:r>
          </a:p>
        </p:txBody>
      </p:sp>
      <p:sp>
        <p:nvSpPr>
          <p:cNvPr id="53" name="">
            <a:extLst xmlns:a="http://schemas.openxmlformats.org/drawingml/2006/main">
              <a:ext uri="{FF2B5EF4-FFF2-40B4-BE49-F238E27FC236}">
                <a16:creationId xmlns:a16="http://schemas.microsoft.com/office/drawing/2014/main" id="{C8EC2991-8CDC-4D7B-8067-3C894766C834}"/>
              </a:ext>
            </a:extLst>
          </p:cNvPr>
          <p:cNvSpPr>
            <a:spLocks xmlns:a="http://schemas.openxmlformats.org/drawingml/2006/main" noGrp="1"/>
          </p:cNvSpPr>
          <p:nvPr/>
        </p:nvSpPr>
        <p:spPr>
          <a:xfrm xmlns:a="http://schemas.openxmlformats.org/drawingml/2006/main">
            <a:off x="3562350" y="4600575"/>
            <a:ext cx="76200" cy="76200"/>
          </a:xfrm>
          <a:prstGeom xmlns:a="http://schemas.openxmlformats.org/drawingml/2006/main" prst="ellipse">
            <a:avLst/>
          </a:prstGeom>
          <a:solidFill xmlns:a="http://schemas.openxmlformats.org/drawingml/2006/main">
            <a:srgbClr val="A855F7"/>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7ED835B5-6779-4138-8647-605CDBC2591D}"/>
              </a:ext>
            </a:extLst>
          </p:cNvPr>
          <p:cNvSpPr>
            <a:spLocks xmlns:a="http://schemas.openxmlformats.org/drawingml/2006/main" noGrp="1"/>
          </p:cNvSpPr>
          <p:nvPr/>
        </p:nvSpPr>
        <p:spPr>
          <a:xfrm xmlns:a="http://schemas.openxmlformats.org/drawingml/2006/main">
            <a:off x="3771900" y="4524375"/>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Published workflows</a:t>
            </a:r>
          </a:p>
        </p:txBody>
      </p:sp>
      <p:sp>
        <p:nvSpPr>
          <p:cNvPr id="55" name="">
            <a:extLst xmlns:a="http://schemas.openxmlformats.org/drawingml/2006/main">
              <a:ext uri="{FF2B5EF4-FFF2-40B4-BE49-F238E27FC236}">
                <a16:creationId xmlns:a16="http://schemas.microsoft.com/office/drawing/2014/main" id="{A8BC44C2-25BD-4283-8716-D184D54F8814}"/>
              </a:ext>
            </a:extLst>
          </p:cNvPr>
          <p:cNvSpPr>
            <a:spLocks xmlns:a="http://schemas.openxmlformats.org/drawingml/2006/main" noGrp="1"/>
          </p:cNvSpPr>
          <p:nvPr/>
        </p:nvSpPr>
        <p:spPr>
          <a:xfrm xmlns:a="http://schemas.openxmlformats.org/drawingml/2006/main">
            <a:off x="6172200" y="2247900"/>
            <a:ext cx="2438400" cy="3143250"/>
          </a:xfrm>
          <a:prstGeom xmlns:a="http://schemas.openxmlformats.org/drawingml/2006/main" prst="roundRect">
            <a:avLst>
              <a:gd name="adj" fmla="val 4688"/>
            </a:avLst>
          </a:prstGeom>
          <a:solidFill xmlns:a="http://schemas.openxmlformats.org/drawingml/2006/main">
            <a:srgbClr val="081425"/>
          </a:solidFill>
          <a:ln xmlns:a="http://schemas.openxmlformats.org/drawingml/2006/main" w="9525">
            <a:solidFill>
              <a:srgbClr val="32D583"/>
            </a:solidFill>
            <a:prstDash val="solid"/>
          </a:ln>
        </p:spPr>
      </p:sp>
      <p:sp>
        <p:nvSpPr>
          <p:cNvPr id="56" name="">
            <a:extLst xmlns:a="http://schemas.openxmlformats.org/drawingml/2006/main">
              <a:ext uri="{FF2B5EF4-FFF2-40B4-BE49-F238E27FC236}">
                <a16:creationId xmlns:a16="http://schemas.microsoft.com/office/drawing/2014/main" id="{DF4E678D-5379-45C4-9661-89ED6B0A95B5}"/>
              </a:ext>
            </a:extLst>
          </p:cNvPr>
          <p:cNvSpPr>
            <a:spLocks xmlns:a="http://schemas.openxmlformats.org/drawingml/2006/main" noGrp="1"/>
          </p:cNvSpPr>
          <p:nvPr/>
        </p:nvSpPr>
        <p:spPr>
          <a:xfrm xmlns:a="http://schemas.openxmlformats.org/drawingml/2006/main">
            <a:off x="6381750" y="24574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32D583"/>
                </a:solidFill>
              </a:defRPr>
            </a:pPr>
            <a:r>
              <a:rPr sz="1050" b="1">
                <a:solidFill>
                  <a:srgbClr val="32D583"/>
                </a:solidFill>
              </a:rPr>
              <a:t>OPERATIONS</a:t>
            </a:r>
          </a:p>
        </p:txBody>
      </p:sp>
      <p:sp>
        <p:nvSpPr>
          <p:cNvPr id="57" name="">
            <a:extLst xmlns:a="http://schemas.openxmlformats.org/drawingml/2006/main">
              <a:ext uri="{FF2B5EF4-FFF2-40B4-BE49-F238E27FC236}">
                <a16:creationId xmlns:a16="http://schemas.microsoft.com/office/drawing/2014/main" id="{D9A85843-E7A5-4AA3-B744-CA30BD0BF428}"/>
              </a:ext>
            </a:extLst>
          </p:cNvPr>
          <p:cNvSpPr>
            <a:spLocks xmlns:a="http://schemas.openxmlformats.org/drawingml/2006/main" noGrp="1"/>
          </p:cNvSpPr>
          <p:nvPr/>
        </p:nvSpPr>
        <p:spPr>
          <a:xfrm xmlns:a="http://schemas.openxmlformats.org/drawingml/2006/main">
            <a:off x="6381750" y="3028950"/>
            <a:ext cx="76200" cy="76200"/>
          </a:xfrm>
          <a:prstGeom xmlns:a="http://schemas.openxmlformats.org/drawingml/2006/main" prst="ellipse">
            <a:avLst/>
          </a:prstGeom>
          <a:solidFill xmlns:a="http://schemas.openxmlformats.org/drawingml/2006/main">
            <a:srgbClr val="32D583"/>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6001C825-E341-426D-9358-B198F6F2B53F}"/>
              </a:ext>
            </a:extLst>
          </p:cNvPr>
          <p:cNvSpPr>
            <a:spLocks xmlns:a="http://schemas.openxmlformats.org/drawingml/2006/main" noGrp="1"/>
          </p:cNvSpPr>
          <p:nvPr/>
        </p:nvSpPr>
        <p:spPr>
          <a:xfrm xmlns:a="http://schemas.openxmlformats.org/drawingml/2006/main">
            <a:off x="6591300" y="2952750"/>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Users + projects</a:t>
            </a:r>
          </a:p>
        </p:txBody>
      </p:sp>
      <p:sp>
        <p:nvSpPr>
          <p:cNvPr id="59" name="">
            <a:extLst xmlns:a="http://schemas.openxmlformats.org/drawingml/2006/main">
              <a:ext uri="{FF2B5EF4-FFF2-40B4-BE49-F238E27FC236}">
                <a16:creationId xmlns:a16="http://schemas.microsoft.com/office/drawing/2014/main" id="{4B931121-CC6C-4C62-AEAC-724A206C53E3}"/>
              </a:ext>
            </a:extLst>
          </p:cNvPr>
          <p:cNvSpPr>
            <a:spLocks xmlns:a="http://schemas.openxmlformats.org/drawingml/2006/main" noGrp="1"/>
          </p:cNvSpPr>
          <p:nvPr/>
        </p:nvSpPr>
        <p:spPr>
          <a:xfrm xmlns:a="http://schemas.openxmlformats.org/drawingml/2006/main">
            <a:off x="6381750" y="3552825"/>
            <a:ext cx="76200" cy="76200"/>
          </a:xfrm>
          <a:prstGeom xmlns:a="http://schemas.openxmlformats.org/drawingml/2006/main" prst="ellipse">
            <a:avLst/>
          </a:prstGeom>
          <a:solidFill xmlns:a="http://schemas.openxmlformats.org/drawingml/2006/main">
            <a:srgbClr val="32D583"/>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C28C4D7A-FD76-44CB-82C8-EEEA128F8403}"/>
              </a:ext>
            </a:extLst>
          </p:cNvPr>
          <p:cNvSpPr>
            <a:spLocks xmlns:a="http://schemas.openxmlformats.org/drawingml/2006/main" noGrp="1"/>
          </p:cNvSpPr>
          <p:nvPr/>
        </p:nvSpPr>
        <p:spPr>
          <a:xfrm xmlns:a="http://schemas.openxmlformats.org/drawingml/2006/main">
            <a:off x="6591300" y="3476625"/>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Runs, tokens, cost</a:t>
            </a:r>
          </a:p>
        </p:txBody>
      </p:sp>
      <p:sp>
        <p:nvSpPr>
          <p:cNvPr id="61" name="">
            <a:extLst xmlns:a="http://schemas.openxmlformats.org/drawingml/2006/main">
              <a:ext uri="{FF2B5EF4-FFF2-40B4-BE49-F238E27FC236}">
                <a16:creationId xmlns:a16="http://schemas.microsoft.com/office/drawing/2014/main" id="{64FB7226-B571-48F3-B313-5B656D530366}"/>
              </a:ext>
            </a:extLst>
          </p:cNvPr>
          <p:cNvSpPr>
            <a:spLocks xmlns:a="http://schemas.openxmlformats.org/drawingml/2006/main" noGrp="1"/>
          </p:cNvSpPr>
          <p:nvPr/>
        </p:nvSpPr>
        <p:spPr>
          <a:xfrm xmlns:a="http://schemas.openxmlformats.org/drawingml/2006/main">
            <a:off x="6381750" y="4076700"/>
            <a:ext cx="76200" cy="76200"/>
          </a:xfrm>
          <a:prstGeom xmlns:a="http://schemas.openxmlformats.org/drawingml/2006/main" prst="ellipse">
            <a:avLst/>
          </a:prstGeom>
          <a:solidFill xmlns:a="http://schemas.openxmlformats.org/drawingml/2006/main">
            <a:srgbClr val="32D583"/>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EE02B57D-5717-4C59-909D-805897128C23}"/>
              </a:ext>
            </a:extLst>
          </p:cNvPr>
          <p:cNvSpPr>
            <a:spLocks xmlns:a="http://schemas.openxmlformats.org/drawingml/2006/main" noGrp="1"/>
          </p:cNvSpPr>
          <p:nvPr/>
        </p:nvSpPr>
        <p:spPr>
          <a:xfrm xmlns:a="http://schemas.openxmlformats.org/drawingml/2006/main">
            <a:off x="6591300" y="4000500"/>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Code versions + diagnostics</a:t>
            </a:r>
          </a:p>
        </p:txBody>
      </p:sp>
      <p:sp>
        <p:nvSpPr>
          <p:cNvPr id="63" name="">
            <a:extLst xmlns:a="http://schemas.openxmlformats.org/drawingml/2006/main">
              <a:ext uri="{FF2B5EF4-FFF2-40B4-BE49-F238E27FC236}">
                <a16:creationId xmlns:a16="http://schemas.microsoft.com/office/drawing/2014/main" id="{7D4024B5-072E-4DF1-A7FD-D065C0D90EF7}"/>
              </a:ext>
            </a:extLst>
          </p:cNvPr>
          <p:cNvSpPr>
            <a:spLocks xmlns:a="http://schemas.openxmlformats.org/drawingml/2006/main" noGrp="1"/>
          </p:cNvSpPr>
          <p:nvPr/>
        </p:nvSpPr>
        <p:spPr>
          <a:xfrm xmlns:a="http://schemas.openxmlformats.org/drawingml/2006/main">
            <a:off x="6381750" y="4600575"/>
            <a:ext cx="76200" cy="76200"/>
          </a:xfrm>
          <a:prstGeom xmlns:a="http://schemas.openxmlformats.org/drawingml/2006/main" prst="ellipse">
            <a:avLst/>
          </a:prstGeom>
          <a:solidFill xmlns:a="http://schemas.openxmlformats.org/drawingml/2006/main">
            <a:srgbClr val="32D583"/>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246DBA56-54D8-491D-92E3-18B3098100B1}"/>
              </a:ext>
            </a:extLst>
          </p:cNvPr>
          <p:cNvSpPr>
            <a:spLocks xmlns:a="http://schemas.openxmlformats.org/drawingml/2006/main" noGrp="1"/>
          </p:cNvSpPr>
          <p:nvPr/>
        </p:nvSpPr>
        <p:spPr>
          <a:xfrm xmlns:a="http://schemas.openxmlformats.org/drawingml/2006/main">
            <a:off x="6591300" y="4524375"/>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Chat + proposals</a:t>
            </a:r>
          </a:p>
        </p:txBody>
      </p:sp>
      <p:sp>
        <p:nvSpPr>
          <p:cNvPr id="65" name="">
            <a:extLst xmlns:a="http://schemas.openxmlformats.org/drawingml/2006/main">
              <a:ext uri="{FF2B5EF4-FFF2-40B4-BE49-F238E27FC236}">
                <a16:creationId xmlns:a16="http://schemas.microsoft.com/office/drawing/2014/main" id="{68AED86B-76AD-4FD3-90C9-8DE1D4B257C0}"/>
              </a:ext>
            </a:extLst>
          </p:cNvPr>
          <p:cNvSpPr>
            <a:spLocks xmlns:a="http://schemas.openxmlformats.org/drawingml/2006/main" noGrp="1"/>
          </p:cNvSpPr>
          <p:nvPr/>
        </p:nvSpPr>
        <p:spPr>
          <a:xfrm xmlns:a="http://schemas.openxmlformats.org/drawingml/2006/main">
            <a:off x="8991600" y="2247900"/>
            <a:ext cx="2438400" cy="3143250"/>
          </a:xfrm>
          <a:prstGeom xmlns:a="http://schemas.openxmlformats.org/drawingml/2006/main" prst="roundRect">
            <a:avLst>
              <a:gd name="adj" fmla="val 4688"/>
            </a:avLst>
          </a:prstGeom>
          <a:solidFill xmlns:a="http://schemas.openxmlformats.org/drawingml/2006/main">
            <a:srgbClr val="081425"/>
          </a:solidFill>
          <a:ln xmlns:a="http://schemas.openxmlformats.org/drawingml/2006/main" w="9525">
            <a:solidFill>
              <a:srgbClr val="F8B84E"/>
            </a:solidFill>
            <a:prstDash val="solid"/>
          </a:ln>
        </p:spPr>
      </p:sp>
      <p:sp>
        <p:nvSpPr>
          <p:cNvPr id="66" name="">
            <a:extLst xmlns:a="http://schemas.openxmlformats.org/drawingml/2006/main">
              <a:ext uri="{FF2B5EF4-FFF2-40B4-BE49-F238E27FC236}">
                <a16:creationId xmlns:a16="http://schemas.microsoft.com/office/drawing/2014/main" id="{AC48D60D-C46A-4A31-91C3-1EBC2F6D200A}"/>
              </a:ext>
            </a:extLst>
          </p:cNvPr>
          <p:cNvSpPr>
            <a:spLocks xmlns:a="http://schemas.openxmlformats.org/drawingml/2006/main" noGrp="1"/>
          </p:cNvSpPr>
          <p:nvPr/>
        </p:nvSpPr>
        <p:spPr>
          <a:xfrm xmlns:a="http://schemas.openxmlformats.org/drawingml/2006/main">
            <a:off x="9201150" y="24574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8B84E"/>
                </a:solidFill>
              </a:defRPr>
            </a:pPr>
            <a:r>
              <a:rPr sz="1050" b="1">
                <a:solidFill>
                  <a:srgbClr val="F8B84E"/>
                </a:solidFill>
              </a:rPr>
              <a:t>COMMERCE</a:t>
            </a:r>
          </a:p>
        </p:txBody>
      </p:sp>
      <p:sp>
        <p:nvSpPr>
          <p:cNvPr id="67" name="">
            <a:extLst xmlns:a="http://schemas.openxmlformats.org/drawingml/2006/main">
              <a:ext uri="{FF2B5EF4-FFF2-40B4-BE49-F238E27FC236}">
                <a16:creationId xmlns:a16="http://schemas.microsoft.com/office/drawing/2014/main" id="{C9193E10-C864-43ED-8664-1947DCBFB0BE}"/>
              </a:ext>
            </a:extLst>
          </p:cNvPr>
          <p:cNvSpPr>
            <a:spLocks xmlns:a="http://schemas.openxmlformats.org/drawingml/2006/main" noGrp="1"/>
          </p:cNvSpPr>
          <p:nvPr/>
        </p:nvSpPr>
        <p:spPr>
          <a:xfrm xmlns:a="http://schemas.openxmlformats.org/drawingml/2006/main">
            <a:off x="9201150" y="3028950"/>
            <a:ext cx="76200" cy="76200"/>
          </a:xfrm>
          <a:prstGeom xmlns:a="http://schemas.openxmlformats.org/drawingml/2006/main" prst="ellipse">
            <a:avLst/>
          </a:prstGeom>
          <a:solidFill xmlns:a="http://schemas.openxmlformats.org/drawingml/2006/main">
            <a:srgbClr val="F8B84E"/>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7B1E5254-67AC-45D9-AD9A-BF3FB9A819A2}"/>
              </a:ext>
            </a:extLst>
          </p:cNvPr>
          <p:cNvSpPr>
            <a:spLocks xmlns:a="http://schemas.openxmlformats.org/drawingml/2006/main" noGrp="1"/>
          </p:cNvSpPr>
          <p:nvPr/>
        </p:nvSpPr>
        <p:spPr>
          <a:xfrm xmlns:a="http://schemas.openxmlformats.org/drawingml/2006/main">
            <a:off x="9410700" y="2952750"/>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Products + pricing</a:t>
            </a:r>
          </a:p>
        </p:txBody>
      </p:sp>
      <p:sp>
        <p:nvSpPr>
          <p:cNvPr id="69" name="">
            <a:extLst xmlns:a="http://schemas.openxmlformats.org/drawingml/2006/main">
              <a:ext uri="{FF2B5EF4-FFF2-40B4-BE49-F238E27FC236}">
                <a16:creationId xmlns:a16="http://schemas.microsoft.com/office/drawing/2014/main" id="{C4D98A99-3336-45A0-BA52-4324FD039E3A}"/>
              </a:ext>
            </a:extLst>
          </p:cNvPr>
          <p:cNvSpPr>
            <a:spLocks xmlns:a="http://schemas.openxmlformats.org/drawingml/2006/main" noGrp="1"/>
          </p:cNvSpPr>
          <p:nvPr/>
        </p:nvSpPr>
        <p:spPr>
          <a:xfrm xmlns:a="http://schemas.openxmlformats.org/drawingml/2006/main">
            <a:off x="9201150" y="3552825"/>
            <a:ext cx="76200" cy="76200"/>
          </a:xfrm>
          <a:prstGeom xmlns:a="http://schemas.openxmlformats.org/drawingml/2006/main" prst="ellipse">
            <a:avLst/>
          </a:prstGeom>
          <a:solidFill xmlns:a="http://schemas.openxmlformats.org/drawingml/2006/main">
            <a:srgbClr val="F8B84E"/>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793FC2D8-A231-4365-BD60-F557D7129AEF}"/>
              </a:ext>
            </a:extLst>
          </p:cNvPr>
          <p:cNvSpPr>
            <a:spLocks xmlns:a="http://schemas.openxmlformats.org/drawingml/2006/main" noGrp="1"/>
          </p:cNvSpPr>
          <p:nvPr/>
        </p:nvSpPr>
        <p:spPr>
          <a:xfrm xmlns:a="http://schemas.openxmlformats.org/drawingml/2006/main">
            <a:off x="9410700" y="3476625"/>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Publishing status</a:t>
            </a:r>
          </a:p>
        </p:txBody>
      </p:sp>
      <p:sp>
        <p:nvSpPr>
          <p:cNvPr id="71" name="">
            <a:extLst xmlns:a="http://schemas.openxmlformats.org/drawingml/2006/main">
              <a:ext uri="{FF2B5EF4-FFF2-40B4-BE49-F238E27FC236}">
                <a16:creationId xmlns:a16="http://schemas.microsoft.com/office/drawing/2014/main" id="{E5FBFB80-1116-425F-89FF-1533DAD5369D}"/>
              </a:ext>
            </a:extLst>
          </p:cNvPr>
          <p:cNvSpPr>
            <a:spLocks xmlns:a="http://schemas.openxmlformats.org/drawingml/2006/main" noGrp="1"/>
          </p:cNvSpPr>
          <p:nvPr/>
        </p:nvSpPr>
        <p:spPr>
          <a:xfrm xmlns:a="http://schemas.openxmlformats.org/drawingml/2006/main">
            <a:off x="9201150" y="4076700"/>
            <a:ext cx="76200" cy="76200"/>
          </a:xfrm>
          <a:prstGeom xmlns:a="http://schemas.openxmlformats.org/drawingml/2006/main" prst="ellipse">
            <a:avLst/>
          </a:prstGeom>
          <a:solidFill xmlns:a="http://schemas.openxmlformats.org/drawingml/2006/main">
            <a:srgbClr val="F8B84E"/>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84C6888F-CA91-4B8A-AE82-77A7BB898F5A}"/>
              </a:ext>
            </a:extLst>
          </p:cNvPr>
          <p:cNvSpPr>
            <a:spLocks xmlns:a="http://schemas.openxmlformats.org/drawingml/2006/main" noGrp="1"/>
          </p:cNvSpPr>
          <p:nvPr/>
        </p:nvSpPr>
        <p:spPr>
          <a:xfrm xmlns:a="http://schemas.openxmlformats.org/drawingml/2006/main">
            <a:off x="9410700" y="4000500"/>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Test evidence</a:t>
            </a:r>
          </a:p>
        </p:txBody>
      </p:sp>
      <p:sp>
        <p:nvSpPr>
          <p:cNvPr id="73" name="">
            <a:extLst xmlns:a="http://schemas.openxmlformats.org/drawingml/2006/main">
              <a:ext uri="{FF2B5EF4-FFF2-40B4-BE49-F238E27FC236}">
                <a16:creationId xmlns:a16="http://schemas.microsoft.com/office/drawing/2014/main" id="{F74DE31F-1E54-4863-B050-94DA7E1BF379}"/>
              </a:ext>
            </a:extLst>
          </p:cNvPr>
          <p:cNvSpPr>
            <a:spLocks xmlns:a="http://schemas.openxmlformats.org/drawingml/2006/main" noGrp="1"/>
          </p:cNvSpPr>
          <p:nvPr/>
        </p:nvSpPr>
        <p:spPr>
          <a:xfrm xmlns:a="http://schemas.openxmlformats.org/drawingml/2006/main">
            <a:off x="9201150" y="4600575"/>
            <a:ext cx="76200" cy="76200"/>
          </a:xfrm>
          <a:prstGeom xmlns:a="http://schemas.openxmlformats.org/drawingml/2006/main" prst="ellipse">
            <a:avLst/>
          </a:prstGeom>
          <a:solidFill xmlns:a="http://schemas.openxmlformats.org/drawingml/2006/main">
            <a:srgbClr val="F8B84E"/>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FE225E8C-6429-4510-A50F-80C3210C0F77}"/>
              </a:ext>
            </a:extLst>
          </p:cNvPr>
          <p:cNvSpPr>
            <a:spLocks xmlns:a="http://schemas.openxmlformats.org/drawingml/2006/main" noGrp="1"/>
          </p:cNvSpPr>
          <p:nvPr/>
        </p:nvSpPr>
        <p:spPr>
          <a:xfrm xmlns:a="http://schemas.openxmlformats.org/drawingml/2006/main">
            <a:off x="9410700" y="4524375"/>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F4F8FF"/>
                </a:solidFill>
              </a:defRPr>
            </a:pPr>
            <a:r>
              <a:rPr sz="1200" b="0">
                <a:solidFill>
                  <a:srgbClr val="F4F8FF"/>
                </a:solidFill>
              </a:rPr>
              <a:t>Verification labels</a:t>
            </a:r>
          </a:p>
        </p:txBody>
      </p:sp>
      <p:sp>
        <p:nvSpPr>
          <p:cNvPr id="75" name="">
            <a:extLst xmlns:a="http://schemas.openxmlformats.org/drawingml/2006/main">
              <a:ext uri="{FF2B5EF4-FFF2-40B4-BE49-F238E27FC236}">
                <a16:creationId xmlns:a16="http://schemas.microsoft.com/office/drawing/2014/main" id="{54D8CEFD-32C2-478C-88A5-A6A3E73C0FF0}"/>
              </a:ext>
            </a:extLst>
          </p:cNvPr>
          <p:cNvSpPr>
            <a:spLocks xmlns:a="http://schemas.openxmlformats.org/drawingml/2006/main" noGrp="1"/>
          </p:cNvSpPr>
          <p:nvPr/>
        </p:nvSpPr>
        <p:spPr>
          <a:xfrm xmlns:a="http://schemas.openxmlformats.org/drawingml/2006/main">
            <a:off x="533400" y="5676900"/>
            <a:ext cx="10896600" cy="495300"/>
          </a:xfrm>
          <a:prstGeom xmlns:a="http://schemas.openxmlformats.org/drawingml/2006/main" prst="roundRect">
            <a:avLst>
              <a:gd name="adj" fmla="val 23077"/>
            </a:avLst>
          </a:prstGeom>
          <a:solidFill xmlns:a="http://schemas.openxmlformats.org/drawingml/2006/main">
            <a:srgbClr val="0B1A2E"/>
          </a:solidFill>
          <a:ln xmlns:a="http://schemas.openxmlformats.org/drawingml/2006/main" w="9525">
            <a:solidFill>
              <a:srgbClr val="193452"/>
            </a:solidFill>
            <a:prstDash val="solid"/>
          </a:ln>
        </p:spPr>
      </p:sp>
      <p:sp>
        <p:nvSpPr>
          <p:cNvPr id="76" name="">
            <a:extLst xmlns:a="http://schemas.openxmlformats.org/drawingml/2006/main">
              <a:ext uri="{FF2B5EF4-FFF2-40B4-BE49-F238E27FC236}">
                <a16:creationId xmlns:a16="http://schemas.microsoft.com/office/drawing/2014/main" id="{8949AC45-5FA1-42B0-B00D-771C3F7BF64A}"/>
              </a:ext>
            </a:extLst>
          </p:cNvPr>
          <p:cNvSpPr>
            <a:spLocks xmlns:a="http://schemas.openxmlformats.org/drawingml/2006/main" noGrp="1"/>
          </p:cNvSpPr>
          <p:nvPr/>
        </p:nvSpPr>
        <p:spPr>
          <a:xfrm xmlns:a="http://schemas.openxmlformats.org/drawingml/2006/main">
            <a:off x="723900" y="5829300"/>
            <a:ext cx="1051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A9B7CC"/>
                </a:solidFill>
              </a:defRPr>
            </a:pPr>
            <a:r>
              <a:rPr sz="1200" b="1">
                <a:solidFill>
                  <a:srgbClr val="A9B7CC"/>
                </a:solidFill>
              </a:rPr>
              <a:t>Governance by design: write-only secrets  •  versioned publishing  •  searchable audit records  •  existing runs keep pinned configuration</a:t>
            </a:r>
          </a:p>
        </p:txBody>
      </p:sp>
    </p:spTree>
    <p:extLst>
      <p:ext uri="{BB962C8B-B14F-4D97-AF65-F5344CB8AC3E}">
        <p14:creationId xmlns:p14="http://schemas.microsoft.com/office/powerpoint/2010/main" val="1869588077"/>
      </p:ext>
    </p:extLst>
  </p:cSld>
</p:sld>
</file>

<file path=ppt/slides/slide10.xml><?xml version="1.0" encoding="utf-8"?>
<p:sld xmlns:p="http://schemas.openxmlformats.org/presentationml/2006/main">
  <p:cSld>
    <p:bg>
      <p:bgPr>
        <a:solidFill xmlns:a="http://schemas.openxmlformats.org/drawingml/2006/main">
          <a:srgbClr val="040812"/>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C305D9D3-CE59-4096-8CE9-BD2F787C9963}"/>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607F2B3-5FC6-4A57-9C1C-B9DF6C338FAD}"/>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AE91E88-39A1-4134-A678-CF4352C5BC91}"/>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23F379E-D94E-48DF-9885-285C46EBDC74}"/>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D29AA5C-9BBC-4F9F-87FD-81BD50D40577}"/>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BDBDD75-53E8-47C8-866A-192A75A341B2}"/>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EE94B4-404A-43BF-9FBD-6C674CC63C14}"/>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4B8B36D-36FD-4D6A-BE82-9C43A68C9FD2}"/>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A986123-11D0-46C0-90B4-4ADAAF619795}"/>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8723E0D-24EC-4737-87DE-EE71E25263E2}"/>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A2FE98C-7652-4A03-A2DF-9BCC91C62653}"/>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852747E-6BDC-4CC3-BC68-BBE21E36423E}"/>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B568FA2-D890-43E3-A907-113054CCEA74}"/>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197AD31-710A-4B7C-8FD1-A477F3779F93}"/>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566939D-1F3E-4EB4-87E9-4F545B657467}"/>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418E03E-0C20-4285-AE2A-8C385B5C09F3}"/>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F4DF249-EA6C-41EB-A2AB-38C7DDBA7E92}"/>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3671D8C-2F6A-47C2-A710-9BD6E63F5F70}"/>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117B0FD-9E98-4149-8F44-1DD22A384ACA}"/>
              </a:ext>
            </a:extLst>
          </p:cNvPr>
          <p:cNvSpPr>
            <a:spLocks xmlns:a="http://schemas.openxmlformats.org/drawingml/2006/main" noGrp="1"/>
          </p:cNvSpPr>
          <p:nvPr/>
        </p:nvSpPr>
        <p:spPr>
          <a:xfrm xmlns:a="http://schemas.openxmlformats.org/drawingml/2006/main">
            <a:off x="0" y="76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40F92EB-6873-44F1-8C6A-D3D683CAF88E}"/>
              </a:ext>
            </a:extLst>
          </p:cNvPr>
          <p:cNvSpPr>
            <a:spLocks xmlns:a="http://schemas.openxmlformats.org/drawingml/2006/main" noGrp="1"/>
          </p:cNvSpPr>
          <p:nvPr/>
        </p:nvSpPr>
        <p:spPr>
          <a:xfrm xmlns:a="http://schemas.openxmlformats.org/drawingml/2006/main">
            <a:off x="0" y="152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BD68B8A-35BC-4869-990E-124CA7AF4C65}"/>
              </a:ext>
            </a:extLst>
          </p:cNvPr>
          <p:cNvSpPr>
            <a:spLocks xmlns:a="http://schemas.openxmlformats.org/drawingml/2006/main" noGrp="1"/>
          </p:cNvSpPr>
          <p:nvPr/>
        </p:nvSpPr>
        <p:spPr>
          <a:xfrm xmlns:a="http://schemas.openxmlformats.org/drawingml/2006/main">
            <a:off x="0" y="228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8B13FC1-8050-40FE-9A43-5EF047C5E872}"/>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1721AC7-2732-4847-9704-372A2D221C03}"/>
              </a:ext>
            </a:extLst>
          </p:cNvPr>
          <p:cNvSpPr>
            <a:spLocks xmlns:a="http://schemas.openxmlformats.org/drawingml/2006/main" noGrp="1"/>
          </p:cNvSpPr>
          <p:nvPr/>
        </p:nvSpPr>
        <p:spPr>
          <a:xfrm xmlns:a="http://schemas.openxmlformats.org/drawingml/2006/main">
            <a:off x="0" y="3810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EC17E21-2F6A-49CB-9D9A-6AA75804FBF3}"/>
              </a:ext>
            </a:extLst>
          </p:cNvPr>
          <p:cNvSpPr>
            <a:spLocks xmlns:a="http://schemas.openxmlformats.org/drawingml/2006/main" noGrp="1"/>
          </p:cNvSpPr>
          <p:nvPr/>
        </p:nvSpPr>
        <p:spPr>
          <a:xfrm xmlns:a="http://schemas.openxmlformats.org/drawingml/2006/main">
            <a:off x="0" y="457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9910675-12A6-47C4-BD59-1889E6758F4B}"/>
              </a:ext>
            </a:extLst>
          </p:cNvPr>
          <p:cNvSpPr>
            <a:spLocks xmlns:a="http://schemas.openxmlformats.org/drawingml/2006/main" noGrp="1"/>
          </p:cNvSpPr>
          <p:nvPr/>
        </p:nvSpPr>
        <p:spPr>
          <a:xfrm xmlns:a="http://schemas.openxmlformats.org/drawingml/2006/main">
            <a:off x="0" y="533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639555C-5AE1-4988-B64F-E48636B50928}"/>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4A739EF-9929-4753-A43C-D258DF56185C}"/>
              </a:ext>
            </a:extLst>
          </p:cNvPr>
          <p:cNvSpPr>
            <a:spLocks xmlns:a="http://schemas.openxmlformats.org/drawingml/2006/main" noGrp="1"/>
          </p:cNvSpPr>
          <p:nvPr/>
        </p:nvSpPr>
        <p:spPr>
          <a:xfrm xmlns:a="http://schemas.openxmlformats.org/drawingml/2006/main">
            <a:off x="0" y="685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D71AC14-4457-43A9-9275-B8391182F93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CF19992-5ABE-42E8-94BB-CA303593BA12}"/>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DATA LINEAGE</a:t>
            </a:r>
          </a:p>
        </p:txBody>
      </p:sp>
      <p:sp>
        <p:nvSpPr>
          <p:cNvPr id="30" name="slide-10-title">
            <a:extLst xmlns:a="http://schemas.openxmlformats.org/drawingml/2006/main">
              <a:ext uri="{FF2B5EF4-FFF2-40B4-BE49-F238E27FC236}">
                <a16:creationId xmlns:a16="http://schemas.microsoft.com/office/drawing/2014/main" id="{3525F8F1-389A-4CF8-9B39-300A87080309}"/>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4F8FF"/>
                </a:solidFill>
              </a:defRPr>
            </a:pPr>
            <a:r>
              <a:rPr sz="2700" b="1">
                <a:solidFill>
                  <a:srgbClr val="F4F8FF"/>
                </a:solidFill>
              </a:rPr>
              <a:t>Every generation carries an auditable chain of custody</a:t>
            </a:r>
          </a:p>
        </p:txBody>
      </p:sp>
      <p:sp>
        <p:nvSpPr>
          <p:cNvPr id="31" name="">
            <a:extLst xmlns:a="http://schemas.openxmlformats.org/drawingml/2006/main">
              <a:ext uri="{FF2B5EF4-FFF2-40B4-BE49-F238E27FC236}">
                <a16:creationId xmlns:a16="http://schemas.microsoft.com/office/drawing/2014/main" id="{5DD8BB52-62D8-47FD-8388-292DC5631C8F}"/>
              </a:ext>
            </a:extLst>
          </p:cNvPr>
          <p:cNvSpPr>
            <a:spLocks xmlns:a="http://schemas.openxmlformats.org/drawingml/2006/main" noGrp="1"/>
          </p:cNvSpPr>
          <p:nvPr/>
        </p:nvSpPr>
        <p:spPr>
          <a:xfrm xmlns:a="http://schemas.openxmlformats.org/drawingml/2006/main">
            <a:off x="533400" y="1257300"/>
            <a:ext cx="11125200" cy="952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EF9FBD0-52EE-4010-99E1-42B0AA75F190}"/>
              </a:ext>
            </a:extLst>
          </p:cNvPr>
          <p:cNvSpPr>
            <a:spLocks xmlns:a="http://schemas.openxmlformats.org/drawingml/2006/main" noGrp="1"/>
          </p:cNvSpPr>
          <p:nvPr/>
        </p:nvSpPr>
        <p:spPr>
          <a:xfrm xmlns:a="http://schemas.openxmlformats.org/drawingml/2006/main">
            <a:off x="533400" y="65341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4748B"/>
                </a:solidFill>
              </a:defRPr>
            </a:pPr>
            <a:r>
              <a:rPr sz="825" b="1">
                <a:solidFill>
                  <a:srgbClr val="64748B"/>
                </a:solidFill>
              </a:rPr>
              <a:t>AAA EAs BUILDER</a:t>
            </a:r>
          </a:p>
        </p:txBody>
      </p:sp>
      <p:sp>
        <p:nvSpPr>
          <p:cNvPr id="33" name="">
            <a:extLst xmlns:a="http://schemas.openxmlformats.org/drawingml/2006/main">
              <a:ext uri="{FF2B5EF4-FFF2-40B4-BE49-F238E27FC236}">
                <a16:creationId xmlns:a16="http://schemas.microsoft.com/office/drawing/2014/main" id="{E580E396-5476-46C2-9F94-65F2806623A3}"/>
              </a:ext>
            </a:extLst>
          </p:cNvPr>
          <p:cNvSpPr>
            <a:spLocks xmlns:a="http://schemas.openxmlformats.org/drawingml/2006/main" noGrp="1"/>
          </p:cNvSpPr>
          <p:nvPr/>
        </p:nvSpPr>
        <p:spPr>
          <a:xfrm xmlns:a="http://schemas.openxmlformats.org/drawingml/2006/main">
            <a:off x="11144250" y="65151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4748B"/>
                </a:solidFill>
              </a:defRPr>
            </a:pPr>
            <a:r>
              <a:rPr sz="825" b="1">
                <a:solidFill>
                  <a:srgbClr val="64748B"/>
                </a:solidFill>
              </a:rPr>
              <a:t>10</a:t>
            </a:r>
          </a:p>
        </p:txBody>
      </p:sp>
      <p:sp>
        <p:nvSpPr>
          <p:cNvPr id="34" name="">
            <a:extLst xmlns:a="http://schemas.openxmlformats.org/drawingml/2006/main">
              <a:ext uri="{FF2B5EF4-FFF2-40B4-BE49-F238E27FC236}">
                <a16:creationId xmlns:a16="http://schemas.microsoft.com/office/drawing/2014/main" id="{2B02643A-CED3-4A82-A9B7-6D70CD9566AD}"/>
              </a:ext>
            </a:extLst>
          </p:cNvPr>
          <p:cNvSpPr>
            <a:spLocks xmlns:a="http://schemas.openxmlformats.org/drawingml/2006/main" noGrp="1"/>
          </p:cNvSpPr>
          <p:nvPr/>
        </p:nvSpPr>
        <p:spPr>
          <a:xfrm xmlns:a="http://schemas.openxmlformats.org/drawingml/2006/main">
            <a:off x="533400" y="15049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A9B7CC"/>
                </a:solidFill>
              </a:defRPr>
            </a:pPr>
            <a:r>
              <a:rPr sz="1650" b="0">
                <a:solidFill>
                  <a:srgbClr val="A9B7CC"/>
                </a:solidFill>
              </a:rPr>
              <a:t>The system records what was requested, what configuration ran, what code changed, and what evidence supports the result.</a:t>
            </a:r>
          </a:p>
        </p:txBody>
      </p:sp>
      <p:sp>
        <p:nvSpPr>
          <p:cNvPr id="35" name="">
            <a:extLst xmlns:a="http://schemas.openxmlformats.org/drawingml/2006/main">
              <a:ext uri="{FF2B5EF4-FFF2-40B4-BE49-F238E27FC236}">
                <a16:creationId xmlns:a16="http://schemas.microsoft.com/office/drawing/2014/main" id="{F47E04DD-8470-4AD2-8390-4F1B110B5CF4}"/>
              </a:ext>
            </a:extLst>
          </p:cNvPr>
          <p:cNvSpPr>
            <a:spLocks xmlns:a="http://schemas.openxmlformats.org/drawingml/2006/main" noGrp="1"/>
          </p:cNvSpPr>
          <p:nvPr/>
        </p:nvSpPr>
        <p:spPr>
          <a:xfrm xmlns:a="http://schemas.openxmlformats.org/drawingml/2006/main">
            <a:off x="1809750" y="3067050"/>
            <a:ext cx="533400" cy="2857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DECFF951-2F5A-483A-B0B2-40245FA0F90D}"/>
              </a:ext>
            </a:extLst>
          </p:cNvPr>
          <p:cNvSpPr>
            <a:spLocks xmlns:a="http://schemas.openxmlformats.org/drawingml/2006/main" noGrp="1"/>
          </p:cNvSpPr>
          <p:nvPr/>
        </p:nvSpPr>
        <p:spPr>
          <a:xfrm xmlns:a="http://schemas.openxmlformats.org/drawingml/2006/main">
            <a:off x="2000250" y="2857500"/>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0DFF2"/>
                </a:solidFill>
              </a:defRPr>
            </a:pPr>
            <a:r>
              <a:rPr sz="1725" b="1">
                <a:solidFill>
                  <a:srgbClr val="10DFF2"/>
                </a:solidFill>
              </a:rPr>
              <a:t>→</a:t>
            </a:r>
          </a:p>
        </p:txBody>
      </p:sp>
      <p:sp>
        <p:nvSpPr>
          <p:cNvPr id="37" name="">
            <a:extLst xmlns:a="http://schemas.openxmlformats.org/drawingml/2006/main">
              <a:ext uri="{FF2B5EF4-FFF2-40B4-BE49-F238E27FC236}">
                <a16:creationId xmlns:a16="http://schemas.microsoft.com/office/drawing/2014/main" id="{3B923B06-1273-4FBD-B0EB-FE99759DBA1A}"/>
              </a:ext>
            </a:extLst>
          </p:cNvPr>
          <p:cNvSpPr>
            <a:spLocks xmlns:a="http://schemas.openxmlformats.org/drawingml/2006/main" noGrp="1"/>
          </p:cNvSpPr>
          <p:nvPr/>
        </p:nvSpPr>
        <p:spPr>
          <a:xfrm xmlns:a="http://schemas.openxmlformats.org/drawingml/2006/main">
            <a:off x="3762375" y="3067050"/>
            <a:ext cx="533400" cy="2857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9EAAA22-4089-4C3A-A7A1-3AFCE2B526CE}"/>
              </a:ext>
            </a:extLst>
          </p:cNvPr>
          <p:cNvSpPr>
            <a:spLocks xmlns:a="http://schemas.openxmlformats.org/drawingml/2006/main" noGrp="1"/>
          </p:cNvSpPr>
          <p:nvPr/>
        </p:nvSpPr>
        <p:spPr>
          <a:xfrm xmlns:a="http://schemas.openxmlformats.org/drawingml/2006/main">
            <a:off x="3952875" y="2857500"/>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0DFF2"/>
                </a:solidFill>
              </a:defRPr>
            </a:pPr>
            <a:r>
              <a:rPr sz="1725" b="1">
                <a:solidFill>
                  <a:srgbClr val="10DFF2"/>
                </a:solidFill>
              </a:rPr>
              <a:t>→</a:t>
            </a:r>
          </a:p>
        </p:txBody>
      </p:sp>
      <p:sp>
        <p:nvSpPr>
          <p:cNvPr id="39" name="">
            <a:extLst xmlns:a="http://schemas.openxmlformats.org/drawingml/2006/main">
              <a:ext uri="{FF2B5EF4-FFF2-40B4-BE49-F238E27FC236}">
                <a16:creationId xmlns:a16="http://schemas.microsoft.com/office/drawing/2014/main" id="{98726279-F7C2-4640-BBFD-314431F63D03}"/>
              </a:ext>
            </a:extLst>
          </p:cNvPr>
          <p:cNvSpPr>
            <a:spLocks xmlns:a="http://schemas.openxmlformats.org/drawingml/2006/main" noGrp="1"/>
          </p:cNvSpPr>
          <p:nvPr/>
        </p:nvSpPr>
        <p:spPr>
          <a:xfrm xmlns:a="http://schemas.openxmlformats.org/drawingml/2006/main">
            <a:off x="5715000" y="3067050"/>
            <a:ext cx="533400" cy="2857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5293261-DAE0-442F-893D-F3B731008738}"/>
              </a:ext>
            </a:extLst>
          </p:cNvPr>
          <p:cNvSpPr>
            <a:spLocks xmlns:a="http://schemas.openxmlformats.org/drawingml/2006/main" noGrp="1"/>
          </p:cNvSpPr>
          <p:nvPr/>
        </p:nvSpPr>
        <p:spPr>
          <a:xfrm xmlns:a="http://schemas.openxmlformats.org/drawingml/2006/main">
            <a:off x="5905500" y="2857500"/>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0DFF2"/>
                </a:solidFill>
              </a:defRPr>
            </a:pPr>
            <a:r>
              <a:rPr sz="1725" b="1">
                <a:solidFill>
                  <a:srgbClr val="10DFF2"/>
                </a:solidFill>
              </a:rPr>
              <a:t>→</a:t>
            </a:r>
          </a:p>
        </p:txBody>
      </p:sp>
      <p:sp>
        <p:nvSpPr>
          <p:cNvPr id="41" name="">
            <a:extLst xmlns:a="http://schemas.openxmlformats.org/drawingml/2006/main">
              <a:ext uri="{FF2B5EF4-FFF2-40B4-BE49-F238E27FC236}">
                <a16:creationId xmlns:a16="http://schemas.microsoft.com/office/drawing/2014/main" id="{96554902-A5C1-4278-AA4F-B6C5DB8CF438}"/>
              </a:ext>
            </a:extLst>
          </p:cNvPr>
          <p:cNvSpPr>
            <a:spLocks xmlns:a="http://schemas.openxmlformats.org/drawingml/2006/main" noGrp="1"/>
          </p:cNvSpPr>
          <p:nvPr/>
        </p:nvSpPr>
        <p:spPr>
          <a:xfrm xmlns:a="http://schemas.openxmlformats.org/drawingml/2006/main">
            <a:off x="7667625" y="3067050"/>
            <a:ext cx="533400" cy="2857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9A9D7258-072C-4DEE-B579-CA01D45B7781}"/>
              </a:ext>
            </a:extLst>
          </p:cNvPr>
          <p:cNvSpPr>
            <a:spLocks xmlns:a="http://schemas.openxmlformats.org/drawingml/2006/main" noGrp="1"/>
          </p:cNvSpPr>
          <p:nvPr/>
        </p:nvSpPr>
        <p:spPr>
          <a:xfrm xmlns:a="http://schemas.openxmlformats.org/drawingml/2006/main">
            <a:off x="7858125" y="2857500"/>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0DFF2"/>
                </a:solidFill>
              </a:defRPr>
            </a:pPr>
            <a:r>
              <a:rPr sz="1725" b="1">
                <a:solidFill>
                  <a:srgbClr val="10DFF2"/>
                </a:solidFill>
              </a:rPr>
              <a:t>→</a:t>
            </a:r>
          </a:p>
        </p:txBody>
      </p:sp>
      <p:sp>
        <p:nvSpPr>
          <p:cNvPr id="43" name="">
            <a:extLst xmlns:a="http://schemas.openxmlformats.org/drawingml/2006/main">
              <a:ext uri="{FF2B5EF4-FFF2-40B4-BE49-F238E27FC236}">
                <a16:creationId xmlns:a16="http://schemas.microsoft.com/office/drawing/2014/main" id="{79F70F19-A918-4D11-A58A-0F281BDD9F64}"/>
              </a:ext>
            </a:extLst>
          </p:cNvPr>
          <p:cNvSpPr>
            <a:spLocks xmlns:a="http://schemas.openxmlformats.org/drawingml/2006/main" noGrp="1"/>
          </p:cNvSpPr>
          <p:nvPr/>
        </p:nvSpPr>
        <p:spPr>
          <a:xfrm xmlns:a="http://schemas.openxmlformats.org/drawingml/2006/main">
            <a:off x="9620250" y="3067050"/>
            <a:ext cx="533400" cy="2857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A6748870-DCB7-47E5-886D-C48EB61F8797}"/>
              </a:ext>
            </a:extLst>
          </p:cNvPr>
          <p:cNvSpPr>
            <a:spLocks xmlns:a="http://schemas.openxmlformats.org/drawingml/2006/main" noGrp="1"/>
          </p:cNvSpPr>
          <p:nvPr/>
        </p:nvSpPr>
        <p:spPr>
          <a:xfrm xmlns:a="http://schemas.openxmlformats.org/drawingml/2006/main">
            <a:off x="9810750" y="2857500"/>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0DFF2"/>
                </a:solidFill>
              </a:defRPr>
            </a:pPr>
            <a:r>
              <a:rPr sz="1725" b="1">
                <a:solidFill>
                  <a:srgbClr val="10DFF2"/>
                </a:solidFill>
              </a:rPr>
              <a:t>→</a:t>
            </a:r>
          </a:p>
        </p:txBody>
      </p:sp>
      <p:sp>
        <p:nvSpPr>
          <p:cNvPr id="45" name="">
            <a:extLst xmlns:a="http://schemas.openxmlformats.org/drawingml/2006/main">
              <a:ext uri="{FF2B5EF4-FFF2-40B4-BE49-F238E27FC236}">
                <a16:creationId xmlns:a16="http://schemas.microsoft.com/office/drawing/2014/main" id="{2BBAEFC1-2D47-4032-8568-DC1489A4B094}"/>
              </a:ext>
            </a:extLst>
          </p:cNvPr>
          <p:cNvSpPr>
            <a:spLocks xmlns:a="http://schemas.openxmlformats.org/drawingml/2006/main" noGrp="1"/>
          </p:cNvSpPr>
          <p:nvPr/>
        </p:nvSpPr>
        <p:spPr>
          <a:xfrm xmlns:a="http://schemas.openxmlformats.org/drawingml/2006/main">
            <a:off x="533400" y="2343150"/>
            <a:ext cx="1466850" cy="1485900"/>
          </a:xfrm>
          <a:prstGeom xmlns:a="http://schemas.openxmlformats.org/drawingml/2006/main" prst="roundRect">
            <a:avLst>
              <a:gd name="adj" fmla="val 7792"/>
            </a:avLst>
          </a:prstGeom>
          <a:solidFill xmlns:a="http://schemas.openxmlformats.org/drawingml/2006/main">
            <a:srgbClr val="081425"/>
          </a:solidFill>
          <a:ln xmlns:a="http://schemas.openxmlformats.org/drawingml/2006/main" w="9525">
            <a:solidFill>
              <a:srgbClr val="10DFF2"/>
            </a:solidFill>
            <a:prstDash val="solid"/>
          </a:ln>
        </p:spPr>
      </p:sp>
      <p:sp>
        <p:nvSpPr>
          <p:cNvPr id="46" name="">
            <a:extLst xmlns:a="http://schemas.openxmlformats.org/drawingml/2006/main">
              <a:ext uri="{FF2B5EF4-FFF2-40B4-BE49-F238E27FC236}">
                <a16:creationId xmlns:a16="http://schemas.microsoft.com/office/drawing/2014/main" id="{465E075A-837E-4D21-BCBB-36637C1A2C8E}"/>
              </a:ext>
            </a:extLst>
          </p:cNvPr>
          <p:cNvSpPr>
            <a:spLocks xmlns:a="http://schemas.openxmlformats.org/drawingml/2006/main" noGrp="1"/>
          </p:cNvSpPr>
          <p:nvPr/>
        </p:nvSpPr>
        <p:spPr>
          <a:xfrm xmlns:a="http://schemas.openxmlformats.org/drawingml/2006/main">
            <a:off x="704850" y="2533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ADMIN</a:t>
            </a:r>
          </a:p>
        </p:txBody>
      </p:sp>
      <p:sp>
        <p:nvSpPr>
          <p:cNvPr id="47" name="">
            <a:extLst xmlns:a="http://schemas.openxmlformats.org/drawingml/2006/main">
              <a:ext uri="{FF2B5EF4-FFF2-40B4-BE49-F238E27FC236}">
                <a16:creationId xmlns:a16="http://schemas.microsoft.com/office/drawing/2014/main" id="{F9FA0833-B081-4724-9507-09DC83E83257}"/>
              </a:ext>
            </a:extLst>
          </p:cNvPr>
          <p:cNvSpPr>
            <a:spLocks xmlns:a="http://schemas.openxmlformats.org/drawingml/2006/main" noGrp="1"/>
          </p:cNvSpPr>
          <p:nvPr/>
        </p:nvSpPr>
        <p:spPr>
          <a:xfrm xmlns:a="http://schemas.openxmlformats.org/drawingml/2006/main">
            <a:off x="704850" y="2952750"/>
            <a:ext cx="1123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4F8FF"/>
                </a:solidFill>
              </a:defRPr>
            </a:pPr>
            <a:r>
              <a:rPr sz="1350" b="1">
                <a:solidFill>
                  <a:srgbClr val="F4F8FF"/>
                </a:solidFill>
              </a:rPr>
              <a:t>Published</a:t>
            </a:r>
          </a:p>
          <a:p xmlns:a="http://schemas.openxmlformats.org/drawingml/2006/main">
            <a:pPr algn="l">
              <a:defRPr sz="1350" b="1">
                <a:solidFill>
                  <a:srgbClr val="F4F8FF"/>
                </a:solidFill>
              </a:defRPr>
            </a:pPr>
            <a:r>
              <a:rPr sz="1350" b="1">
                <a:solidFill>
                  <a:srgbClr val="F4F8FF"/>
                </a:solidFill>
              </a:rPr>
              <a:t>config</a:t>
            </a:r>
          </a:p>
        </p:txBody>
      </p:sp>
      <p:sp>
        <p:nvSpPr>
          <p:cNvPr id="48" name="">
            <a:extLst xmlns:a="http://schemas.openxmlformats.org/drawingml/2006/main">
              <a:ext uri="{FF2B5EF4-FFF2-40B4-BE49-F238E27FC236}">
                <a16:creationId xmlns:a16="http://schemas.microsoft.com/office/drawing/2014/main" id="{60F1395D-53EE-4956-BE93-677A5866AEF0}"/>
              </a:ext>
            </a:extLst>
          </p:cNvPr>
          <p:cNvSpPr>
            <a:spLocks xmlns:a="http://schemas.openxmlformats.org/drawingml/2006/main" noGrp="1"/>
          </p:cNvSpPr>
          <p:nvPr/>
        </p:nvSpPr>
        <p:spPr>
          <a:xfrm xmlns:a="http://schemas.openxmlformats.org/drawingml/2006/main">
            <a:off x="2486025" y="2343150"/>
            <a:ext cx="1466850" cy="1485900"/>
          </a:xfrm>
          <a:prstGeom xmlns:a="http://schemas.openxmlformats.org/drawingml/2006/main" prst="roundRect">
            <a:avLst>
              <a:gd name="adj" fmla="val 7792"/>
            </a:avLst>
          </a:prstGeom>
          <a:solidFill xmlns:a="http://schemas.openxmlformats.org/drawingml/2006/main">
            <a:srgbClr val="081425"/>
          </a:solidFill>
          <a:ln xmlns:a="http://schemas.openxmlformats.org/drawingml/2006/main" w="9525">
            <a:solidFill>
              <a:srgbClr val="A855F7"/>
            </a:solidFill>
            <a:prstDash val="solid"/>
          </a:ln>
        </p:spPr>
      </p:sp>
      <p:sp>
        <p:nvSpPr>
          <p:cNvPr id="49" name="">
            <a:extLst xmlns:a="http://schemas.openxmlformats.org/drawingml/2006/main">
              <a:ext uri="{FF2B5EF4-FFF2-40B4-BE49-F238E27FC236}">
                <a16:creationId xmlns:a16="http://schemas.microsoft.com/office/drawing/2014/main" id="{441F84EA-BF6B-4698-84FF-507A9B9DB2F0}"/>
              </a:ext>
            </a:extLst>
          </p:cNvPr>
          <p:cNvSpPr>
            <a:spLocks xmlns:a="http://schemas.openxmlformats.org/drawingml/2006/main" noGrp="1"/>
          </p:cNvSpPr>
          <p:nvPr/>
        </p:nvSpPr>
        <p:spPr>
          <a:xfrm xmlns:a="http://schemas.openxmlformats.org/drawingml/2006/main">
            <a:off x="2657475" y="2533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855F7"/>
                </a:solidFill>
              </a:defRPr>
            </a:pPr>
            <a:r>
              <a:rPr sz="1050" b="1">
                <a:solidFill>
                  <a:srgbClr val="A855F7"/>
                </a:solidFill>
              </a:rPr>
              <a:t>RUN</a:t>
            </a:r>
          </a:p>
        </p:txBody>
      </p:sp>
      <p:sp>
        <p:nvSpPr>
          <p:cNvPr id="50" name="">
            <a:extLst xmlns:a="http://schemas.openxmlformats.org/drawingml/2006/main">
              <a:ext uri="{FF2B5EF4-FFF2-40B4-BE49-F238E27FC236}">
                <a16:creationId xmlns:a16="http://schemas.microsoft.com/office/drawing/2014/main" id="{CD85E759-19A6-4294-9346-7378B73B216E}"/>
              </a:ext>
            </a:extLst>
          </p:cNvPr>
          <p:cNvSpPr>
            <a:spLocks xmlns:a="http://schemas.openxmlformats.org/drawingml/2006/main" noGrp="1"/>
          </p:cNvSpPr>
          <p:nvPr/>
        </p:nvSpPr>
        <p:spPr>
          <a:xfrm xmlns:a="http://schemas.openxmlformats.org/drawingml/2006/main">
            <a:off x="2657475" y="2952750"/>
            <a:ext cx="1123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4F8FF"/>
                </a:solidFill>
              </a:defRPr>
            </a:pPr>
            <a:r>
              <a:rPr sz="1350" b="1">
                <a:solidFill>
                  <a:srgbClr val="F4F8FF"/>
                </a:solidFill>
              </a:rPr>
              <a:t>Pinned workflow</a:t>
            </a:r>
          </a:p>
          <a:p xmlns:a="http://schemas.openxmlformats.org/drawingml/2006/main">
            <a:pPr algn="l">
              <a:defRPr sz="1350" b="1">
                <a:solidFill>
                  <a:srgbClr val="F4F8FF"/>
                </a:solidFill>
              </a:defRPr>
            </a:pPr>
            <a:r>
              <a:rPr sz="1350" b="1">
                <a:solidFill>
                  <a:srgbClr val="F4F8FF"/>
                </a:solidFill>
              </a:rPr>
              <a:t>snapshot</a:t>
            </a:r>
          </a:p>
        </p:txBody>
      </p:sp>
      <p:sp>
        <p:nvSpPr>
          <p:cNvPr id="51" name="">
            <a:extLst xmlns:a="http://schemas.openxmlformats.org/drawingml/2006/main">
              <a:ext uri="{FF2B5EF4-FFF2-40B4-BE49-F238E27FC236}">
                <a16:creationId xmlns:a16="http://schemas.microsoft.com/office/drawing/2014/main" id="{2369C743-725A-470F-8340-9EE18DA6AED4}"/>
              </a:ext>
            </a:extLst>
          </p:cNvPr>
          <p:cNvSpPr>
            <a:spLocks xmlns:a="http://schemas.openxmlformats.org/drawingml/2006/main" noGrp="1"/>
          </p:cNvSpPr>
          <p:nvPr/>
        </p:nvSpPr>
        <p:spPr>
          <a:xfrm xmlns:a="http://schemas.openxmlformats.org/drawingml/2006/main">
            <a:off x="4438650" y="2343150"/>
            <a:ext cx="1466850" cy="1485900"/>
          </a:xfrm>
          <a:prstGeom xmlns:a="http://schemas.openxmlformats.org/drawingml/2006/main" prst="roundRect">
            <a:avLst>
              <a:gd name="adj" fmla="val 7792"/>
            </a:avLst>
          </a:prstGeom>
          <a:solidFill xmlns:a="http://schemas.openxmlformats.org/drawingml/2006/main">
            <a:srgbClr val="081425"/>
          </a:solidFill>
          <a:ln xmlns:a="http://schemas.openxmlformats.org/drawingml/2006/main" w="9525">
            <a:solidFill>
              <a:srgbClr val="32D583"/>
            </a:solidFill>
            <a:prstDash val="solid"/>
          </a:ln>
        </p:spPr>
      </p:sp>
      <p:sp>
        <p:nvSpPr>
          <p:cNvPr id="52" name="">
            <a:extLst xmlns:a="http://schemas.openxmlformats.org/drawingml/2006/main">
              <a:ext uri="{FF2B5EF4-FFF2-40B4-BE49-F238E27FC236}">
                <a16:creationId xmlns:a16="http://schemas.microsoft.com/office/drawing/2014/main" id="{02ED31DC-30B1-4E2D-8212-EDA80A2031C2}"/>
              </a:ext>
            </a:extLst>
          </p:cNvPr>
          <p:cNvSpPr>
            <a:spLocks xmlns:a="http://schemas.openxmlformats.org/drawingml/2006/main" noGrp="1"/>
          </p:cNvSpPr>
          <p:nvPr/>
        </p:nvSpPr>
        <p:spPr>
          <a:xfrm xmlns:a="http://schemas.openxmlformats.org/drawingml/2006/main">
            <a:off x="4610100" y="2533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32D583"/>
                </a:solidFill>
              </a:defRPr>
            </a:pPr>
            <a:r>
              <a:rPr sz="1050" b="1">
                <a:solidFill>
                  <a:srgbClr val="32D583"/>
                </a:solidFill>
              </a:rPr>
              <a:t>CODE</a:t>
            </a:r>
          </a:p>
        </p:txBody>
      </p:sp>
      <p:sp>
        <p:nvSpPr>
          <p:cNvPr id="53" name="">
            <a:extLst xmlns:a="http://schemas.openxmlformats.org/drawingml/2006/main">
              <a:ext uri="{FF2B5EF4-FFF2-40B4-BE49-F238E27FC236}">
                <a16:creationId xmlns:a16="http://schemas.microsoft.com/office/drawing/2014/main" id="{391488BF-D7C9-4AC8-A85E-59AC0CDCE57F}"/>
              </a:ext>
            </a:extLst>
          </p:cNvPr>
          <p:cNvSpPr>
            <a:spLocks xmlns:a="http://schemas.openxmlformats.org/drawingml/2006/main" noGrp="1"/>
          </p:cNvSpPr>
          <p:nvPr/>
        </p:nvSpPr>
        <p:spPr>
          <a:xfrm xmlns:a="http://schemas.openxmlformats.org/drawingml/2006/main">
            <a:off x="4610100" y="2952750"/>
            <a:ext cx="1123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4F8FF"/>
                </a:solidFill>
              </a:defRPr>
            </a:pPr>
            <a:r>
              <a:rPr sz="1350" b="1">
                <a:solidFill>
                  <a:srgbClr val="F4F8FF"/>
                </a:solidFill>
              </a:rPr>
              <a:t>Version + source</a:t>
            </a:r>
          </a:p>
          <a:p xmlns:a="http://schemas.openxmlformats.org/drawingml/2006/main">
            <a:pPr algn="l">
              <a:defRPr sz="1350" b="1">
                <a:solidFill>
                  <a:srgbClr val="F4F8FF"/>
                </a:solidFill>
              </a:defRPr>
            </a:pPr>
            <a:r>
              <a:rPr sz="1350" b="1">
                <a:solidFill>
                  <a:srgbClr val="F4F8FF"/>
                </a:solidFill>
              </a:rPr>
              <a:t>hash</a:t>
            </a:r>
          </a:p>
        </p:txBody>
      </p:sp>
      <p:sp>
        <p:nvSpPr>
          <p:cNvPr id="54" name="">
            <a:extLst xmlns:a="http://schemas.openxmlformats.org/drawingml/2006/main">
              <a:ext uri="{FF2B5EF4-FFF2-40B4-BE49-F238E27FC236}">
                <a16:creationId xmlns:a16="http://schemas.microsoft.com/office/drawing/2014/main" id="{1B64024E-6DB5-42F2-B6AC-35C1BC2E9C81}"/>
              </a:ext>
            </a:extLst>
          </p:cNvPr>
          <p:cNvSpPr>
            <a:spLocks xmlns:a="http://schemas.openxmlformats.org/drawingml/2006/main" noGrp="1"/>
          </p:cNvSpPr>
          <p:nvPr/>
        </p:nvSpPr>
        <p:spPr>
          <a:xfrm xmlns:a="http://schemas.openxmlformats.org/drawingml/2006/main">
            <a:off x="6391275" y="2343150"/>
            <a:ext cx="1466850" cy="1485900"/>
          </a:xfrm>
          <a:prstGeom xmlns:a="http://schemas.openxmlformats.org/drawingml/2006/main" prst="roundRect">
            <a:avLst>
              <a:gd name="adj" fmla="val 7792"/>
            </a:avLst>
          </a:prstGeom>
          <a:solidFill xmlns:a="http://schemas.openxmlformats.org/drawingml/2006/main">
            <a:srgbClr val="081425"/>
          </a:solidFill>
          <a:ln xmlns:a="http://schemas.openxmlformats.org/drawingml/2006/main" w="9525">
            <a:solidFill>
              <a:srgbClr val="F8B84E"/>
            </a:solidFill>
            <a:prstDash val="solid"/>
          </a:ln>
        </p:spPr>
      </p:sp>
      <p:sp>
        <p:nvSpPr>
          <p:cNvPr id="55" name="">
            <a:extLst xmlns:a="http://schemas.openxmlformats.org/drawingml/2006/main">
              <a:ext uri="{FF2B5EF4-FFF2-40B4-BE49-F238E27FC236}">
                <a16:creationId xmlns:a16="http://schemas.microsoft.com/office/drawing/2014/main" id="{6B185E85-024D-4350-9664-39A66C708AA3}"/>
              </a:ext>
            </a:extLst>
          </p:cNvPr>
          <p:cNvSpPr>
            <a:spLocks xmlns:a="http://schemas.openxmlformats.org/drawingml/2006/main" noGrp="1"/>
          </p:cNvSpPr>
          <p:nvPr/>
        </p:nvSpPr>
        <p:spPr>
          <a:xfrm xmlns:a="http://schemas.openxmlformats.org/drawingml/2006/main">
            <a:off x="6562725" y="2533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8B84E"/>
                </a:solidFill>
              </a:defRPr>
            </a:pPr>
            <a:r>
              <a:rPr sz="1050" b="1">
                <a:solidFill>
                  <a:srgbClr val="F8B84E"/>
                </a:solidFill>
              </a:rPr>
              <a:t>CHECKS</a:t>
            </a:r>
          </a:p>
        </p:txBody>
      </p:sp>
      <p:sp>
        <p:nvSpPr>
          <p:cNvPr id="56" name="">
            <a:extLst xmlns:a="http://schemas.openxmlformats.org/drawingml/2006/main">
              <a:ext uri="{FF2B5EF4-FFF2-40B4-BE49-F238E27FC236}">
                <a16:creationId xmlns:a16="http://schemas.microsoft.com/office/drawing/2014/main" id="{98724877-7C15-4445-B340-797F3058EE8E}"/>
              </a:ext>
            </a:extLst>
          </p:cNvPr>
          <p:cNvSpPr>
            <a:spLocks xmlns:a="http://schemas.openxmlformats.org/drawingml/2006/main" noGrp="1"/>
          </p:cNvSpPr>
          <p:nvPr/>
        </p:nvSpPr>
        <p:spPr>
          <a:xfrm xmlns:a="http://schemas.openxmlformats.org/drawingml/2006/main">
            <a:off x="6562725" y="2952750"/>
            <a:ext cx="1123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4F8FF"/>
                </a:solidFill>
              </a:defRPr>
            </a:pPr>
            <a:r>
              <a:rPr sz="1350" b="1">
                <a:solidFill>
                  <a:srgbClr val="F4F8FF"/>
                </a:solidFill>
              </a:rPr>
              <a:t>Diagnostics +</a:t>
            </a:r>
          </a:p>
          <a:p xmlns:a="http://schemas.openxmlformats.org/drawingml/2006/main">
            <a:pPr algn="l">
              <a:defRPr sz="1350" b="1">
                <a:solidFill>
                  <a:srgbClr val="F4F8FF"/>
                </a:solidFill>
              </a:defRPr>
            </a:pPr>
            <a:r>
              <a:rPr sz="1350" b="1">
                <a:solidFill>
                  <a:srgbClr val="F4F8FF"/>
                </a:solidFill>
              </a:rPr>
              <a:t>compiler output</a:t>
            </a:r>
          </a:p>
        </p:txBody>
      </p:sp>
      <p:sp>
        <p:nvSpPr>
          <p:cNvPr id="57" name="">
            <a:extLst xmlns:a="http://schemas.openxmlformats.org/drawingml/2006/main">
              <a:ext uri="{FF2B5EF4-FFF2-40B4-BE49-F238E27FC236}">
                <a16:creationId xmlns:a16="http://schemas.microsoft.com/office/drawing/2014/main" id="{7982B7E8-01BE-4AF6-BCC2-CA2520BD3532}"/>
              </a:ext>
            </a:extLst>
          </p:cNvPr>
          <p:cNvSpPr>
            <a:spLocks xmlns:a="http://schemas.openxmlformats.org/drawingml/2006/main" noGrp="1"/>
          </p:cNvSpPr>
          <p:nvPr/>
        </p:nvSpPr>
        <p:spPr>
          <a:xfrm xmlns:a="http://schemas.openxmlformats.org/drawingml/2006/main">
            <a:off x="8343900" y="2343150"/>
            <a:ext cx="1466850" cy="1485900"/>
          </a:xfrm>
          <a:prstGeom xmlns:a="http://schemas.openxmlformats.org/drawingml/2006/main" prst="roundRect">
            <a:avLst>
              <a:gd name="adj" fmla="val 7792"/>
            </a:avLst>
          </a:prstGeom>
          <a:solidFill xmlns:a="http://schemas.openxmlformats.org/drawingml/2006/main">
            <a:srgbClr val="081425"/>
          </a:solidFill>
          <a:ln xmlns:a="http://schemas.openxmlformats.org/drawingml/2006/main" w="9525">
            <a:solidFill>
              <a:srgbClr val="A855F7"/>
            </a:solidFill>
            <a:prstDash val="solid"/>
          </a:ln>
        </p:spPr>
      </p:sp>
      <p:sp>
        <p:nvSpPr>
          <p:cNvPr id="58" name="">
            <a:extLst xmlns:a="http://schemas.openxmlformats.org/drawingml/2006/main">
              <a:ext uri="{FF2B5EF4-FFF2-40B4-BE49-F238E27FC236}">
                <a16:creationId xmlns:a16="http://schemas.microsoft.com/office/drawing/2014/main" id="{E0C9033E-9614-4695-A83F-63D799D842C9}"/>
              </a:ext>
            </a:extLst>
          </p:cNvPr>
          <p:cNvSpPr>
            <a:spLocks xmlns:a="http://schemas.openxmlformats.org/drawingml/2006/main" noGrp="1"/>
          </p:cNvSpPr>
          <p:nvPr/>
        </p:nvSpPr>
        <p:spPr>
          <a:xfrm xmlns:a="http://schemas.openxmlformats.org/drawingml/2006/main">
            <a:off x="8515350" y="2533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855F7"/>
                </a:solidFill>
              </a:defRPr>
            </a:pPr>
            <a:r>
              <a:rPr sz="1050" b="1">
                <a:solidFill>
                  <a:srgbClr val="A855F7"/>
                </a:solidFill>
              </a:rPr>
              <a:t>COPILOT</a:t>
            </a:r>
          </a:p>
        </p:txBody>
      </p:sp>
      <p:sp>
        <p:nvSpPr>
          <p:cNvPr id="59" name="">
            <a:extLst xmlns:a="http://schemas.openxmlformats.org/drawingml/2006/main">
              <a:ext uri="{FF2B5EF4-FFF2-40B4-BE49-F238E27FC236}">
                <a16:creationId xmlns:a16="http://schemas.microsoft.com/office/drawing/2014/main" id="{7E878F4F-6A94-4BB0-965D-3DEBF99424A2}"/>
              </a:ext>
            </a:extLst>
          </p:cNvPr>
          <p:cNvSpPr>
            <a:spLocks xmlns:a="http://schemas.openxmlformats.org/drawingml/2006/main" noGrp="1"/>
          </p:cNvSpPr>
          <p:nvPr/>
        </p:nvSpPr>
        <p:spPr>
          <a:xfrm xmlns:a="http://schemas.openxmlformats.org/drawingml/2006/main">
            <a:off x="8515350" y="2952750"/>
            <a:ext cx="1123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4F8FF"/>
                </a:solidFill>
              </a:defRPr>
            </a:pPr>
            <a:r>
              <a:rPr sz="1350" b="1">
                <a:solidFill>
                  <a:srgbClr val="F4F8FF"/>
                </a:solidFill>
              </a:rPr>
              <a:t>Proposal tied to</a:t>
            </a:r>
          </a:p>
          <a:p xmlns:a="http://schemas.openxmlformats.org/drawingml/2006/main">
            <a:pPr algn="l">
              <a:defRPr sz="1350" b="1">
                <a:solidFill>
                  <a:srgbClr val="F4F8FF"/>
                </a:solidFill>
              </a:defRPr>
            </a:pPr>
            <a:r>
              <a:rPr sz="1350" b="1">
                <a:solidFill>
                  <a:srgbClr val="F4F8FF"/>
                </a:solidFill>
              </a:rPr>
              <a:t>base version</a:t>
            </a:r>
          </a:p>
        </p:txBody>
      </p:sp>
      <p:sp>
        <p:nvSpPr>
          <p:cNvPr id="60" name="">
            <a:extLst xmlns:a="http://schemas.openxmlformats.org/drawingml/2006/main">
              <a:ext uri="{FF2B5EF4-FFF2-40B4-BE49-F238E27FC236}">
                <a16:creationId xmlns:a16="http://schemas.microsoft.com/office/drawing/2014/main" id="{7171486F-F7EB-4CFC-B9DF-8B4D19315E8B}"/>
              </a:ext>
            </a:extLst>
          </p:cNvPr>
          <p:cNvSpPr>
            <a:spLocks xmlns:a="http://schemas.openxmlformats.org/drawingml/2006/main" noGrp="1"/>
          </p:cNvSpPr>
          <p:nvPr/>
        </p:nvSpPr>
        <p:spPr>
          <a:xfrm xmlns:a="http://schemas.openxmlformats.org/drawingml/2006/main">
            <a:off x="10296525" y="2343150"/>
            <a:ext cx="1466850" cy="1485900"/>
          </a:xfrm>
          <a:prstGeom xmlns:a="http://schemas.openxmlformats.org/drawingml/2006/main" prst="roundRect">
            <a:avLst>
              <a:gd name="adj" fmla="val 7792"/>
            </a:avLst>
          </a:prstGeom>
          <a:solidFill xmlns:a="http://schemas.openxmlformats.org/drawingml/2006/main">
            <a:srgbClr val="081425"/>
          </a:solidFill>
          <a:ln xmlns:a="http://schemas.openxmlformats.org/drawingml/2006/main" w="9525">
            <a:solidFill>
              <a:srgbClr val="10DFF2"/>
            </a:solidFill>
            <a:prstDash val="solid"/>
          </a:ln>
        </p:spPr>
      </p:sp>
      <p:sp>
        <p:nvSpPr>
          <p:cNvPr id="61" name="">
            <a:extLst xmlns:a="http://schemas.openxmlformats.org/drawingml/2006/main">
              <a:ext uri="{FF2B5EF4-FFF2-40B4-BE49-F238E27FC236}">
                <a16:creationId xmlns:a16="http://schemas.microsoft.com/office/drawing/2014/main" id="{05B7E5C6-3120-4141-A478-EF6D86111C2C}"/>
              </a:ext>
            </a:extLst>
          </p:cNvPr>
          <p:cNvSpPr>
            <a:spLocks xmlns:a="http://schemas.openxmlformats.org/drawingml/2006/main" noGrp="1"/>
          </p:cNvSpPr>
          <p:nvPr/>
        </p:nvSpPr>
        <p:spPr>
          <a:xfrm xmlns:a="http://schemas.openxmlformats.org/drawingml/2006/main">
            <a:off x="10467975" y="2533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EVIDENCE</a:t>
            </a:r>
          </a:p>
        </p:txBody>
      </p:sp>
      <p:sp>
        <p:nvSpPr>
          <p:cNvPr id="62" name="">
            <a:extLst xmlns:a="http://schemas.openxmlformats.org/drawingml/2006/main">
              <a:ext uri="{FF2B5EF4-FFF2-40B4-BE49-F238E27FC236}">
                <a16:creationId xmlns:a16="http://schemas.microsoft.com/office/drawing/2014/main" id="{6233A06A-E9C2-4B75-BFA4-B1B73D5F7BEC}"/>
              </a:ext>
            </a:extLst>
          </p:cNvPr>
          <p:cNvSpPr>
            <a:spLocks xmlns:a="http://schemas.openxmlformats.org/drawingml/2006/main" noGrp="1"/>
          </p:cNvSpPr>
          <p:nvPr/>
        </p:nvSpPr>
        <p:spPr>
          <a:xfrm xmlns:a="http://schemas.openxmlformats.org/drawingml/2006/main">
            <a:off x="10467975" y="2952750"/>
            <a:ext cx="1123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4F8FF"/>
                </a:solidFill>
              </a:defRPr>
            </a:pPr>
            <a:r>
              <a:rPr sz="1350" b="1">
                <a:solidFill>
                  <a:srgbClr val="F4F8FF"/>
                </a:solidFill>
              </a:rPr>
              <a:t>Test run +</a:t>
            </a:r>
          </a:p>
          <a:p xmlns:a="http://schemas.openxmlformats.org/drawingml/2006/main">
            <a:pPr algn="l">
              <a:defRPr sz="1350" b="1">
                <a:solidFill>
                  <a:srgbClr val="F4F8FF"/>
                </a:solidFill>
              </a:defRPr>
            </a:pPr>
            <a:r>
              <a:rPr sz="1350" b="1">
                <a:solidFill>
                  <a:srgbClr val="F4F8FF"/>
                </a:solidFill>
              </a:rPr>
              <a:t>verification</a:t>
            </a:r>
          </a:p>
        </p:txBody>
      </p:sp>
      <p:sp>
        <p:nvSpPr>
          <p:cNvPr id="63" name="">
            <a:extLst xmlns:a="http://schemas.openxmlformats.org/drawingml/2006/main">
              <a:ext uri="{FF2B5EF4-FFF2-40B4-BE49-F238E27FC236}">
                <a16:creationId xmlns:a16="http://schemas.microsoft.com/office/drawing/2014/main" id="{5AF28804-B68E-4F2E-BD4C-6A7273B154BE}"/>
              </a:ext>
            </a:extLst>
          </p:cNvPr>
          <p:cNvSpPr>
            <a:spLocks xmlns:a="http://schemas.openxmlformats.org/drawingml/2006/main" noGrp="1"/>
          </p:cNvSpPr>
          <p:nvPr/>
        </p:nvSpPr>
        <p:spPr>
          <a:xfrm xmlns:a="http://schemas.openxmlformats.org/drawingml/2006/main">
            <a:off x="533400" y="4381500"/>
            <a:ext cx="11125200" cy="1390650"/>
          </a:xfrm>
          <a:prstGeom xmlns:a="http://schemas.openxmlformats.org/drawingml/2006/main" prst="roundRect">
            <a:avLst>
              <a:gd name="adj" fmla="val 8219"/>
            </a:avLst>
          </a:prstGeom>
          <a:solidFill xmlns:a="http://schemas.openxmlformats.org/drawingml/2006/main">
            <a:srgbClr val="0B1A2E"/>
          </a:solidFill>
          <a:ln xmlns:a="http://schemas.openxmlformats.org/drawingml/2006/main" w="9525">
            <a:solidFill>
              <a:srgbClr val="193452"/>
            </a:solidFill>
            <a:prstDash val="solid"/>
          </a:ln>
        </p:spPr>
      </p:sp>
      <p:sp>
        <p:nvSpPr>
          <p:cNvPr id="64" name="">
            <a:extLst xmlns:a="http://schemas.openxmlformats.org/drawingml/2006/main">
              <a:ext uri="{FF2B5EF4-FFF2-40B4-BE49-F238E27FC236}">
                <a16:creationId xmlns:a16="http://schemas.microsoft.com/office/drawing/2014/main" id="{FF53A04E-F147-4866-A5CF-AC8E0640F253}"/>
              </a:ext>
            </a:extLst>
          </p:cNvPr>
          <p:cNvSpPr>
            <a:spLocks xmlns:a="http://schemas.openxmlformats.org/drawingml/2006/main" noGrp="1"/>
          </p:cNvSpPr>
          <p:nvPr/>
        </p:nvSpPr>
        <p:spPr>
          <a:xfrm xmlns:a="http://schemas.openxmlformats.org/drawingml/2006/main">
            <a:off x="762000" y="45910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32D583"/>
                </a:solidFill>
              </a:defRPr>
            </a:pPr>
            <a:r>
              <a:rPr sz="1050" b="1">
                <a:solidFill>
                  <a:srgbClr val="32D583"/>
                </a:solidFill>
              </a:rPr>
              <a:t>WHY INVESTORS SHOULD CARE</a:t>
            </a:r>
          </a:p>
        </p:txBody>
      </p:sp>
      <p:sp>
        <p:nvSpPr>
          <p:cNvPr id="65" name="">
            <a:extLst xmlns:a="http://schemas.openxmlformats.org/drawingml/2006/main">
              <a:ext uri="{FF2B5EF4-FFF2-40B4-BE49-F238E27FC236}">
                <a16:creationId xmlns:a16="http://schemas.microsoft.com/office/drawing/2014/main" id="{315C88BE-8812-4D94-BB63-0732799DCB6A}"/>
              </a:ext>
            </a:extLst>
          </p:cNvPr>
          <p:cNvSpPr>
            <a:spLocks xmlns:a="http://schemas.openxmlformats.org/drawingml/2006/main" noGrp="1"/>
          </p:cNvSpPr>
          <p:nvPr/>
        </p:nvSpPr>
        <p:spPr>
          <a:xfrm xmlns:a="http://schemas.openxmlformats.org/drawingml/2006/main">
            <a:off x="762000" y="50101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4F8FF"/>
                </a:solidFill>
              </a:defRPr>
            </a:pPr>
            <a:r>
              <a:rPr sz="1575" b="1">
                <a:solidFill>
                  <a:srgbClr val="F4F8FF"/>
                </a:solidFill>
              </a:rPr>
              <a:t>Reproducibility</a:t>
            </a:r>
          </a:p>
        </p:txBody>
      </p:sp>
      <p:sp>
        <p:nvSpPr>
          <p:cNvPr id="66" name="">
            <a:extLst xmlns:a="http://schemas.openxmlformats.org/drawingml/2006/main">
              <a:ext uri="{FF2B5EF4-FFF2-40B4-BE49-F238E27FC236}">
                <a16:creationId xmlns:a16="http://schemas.microsoft.com/office/drawing/2014/main" id="{2DE16382-D8EF-428E-A3D3-DF6D48AE4D4E}"/>
              </a:ext>
            </a:extLst>
          </p:cNvPr>
          <p:cNvSpPr>
            <a:spLocks xmlns:a="http://schemas.openxmlformats.org/drawingml/2006/main" noGrp="1"/>
          </p:cNvSpPr>
          <p:nvPr/>
        </p:nvSpPr>
        <p:spPr>
          <a:xfrm xmlns:a="http://schemas.openxmlformats.org/drawingml/2006/main">
            <a:off x="3619500" y="50101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4F8FF"/>
                </a:solidFill>
              </a:defRPr>
            </a:pPr>
            <a:r>
              <a:rPr sz="1575" b="1">
                <a:solidFill>
                  <a:srgbClr val="F4F8FF"/>
                </a:solidFill>
              </a:rPr>
              <a:t>Support &amp; disputes</a:t>
            </a:r>
          </a:p>
        </p:txBody>
      </p:sp>
      <p:sp>
        <p:nvSpPr>
          <p:cNvPr id="67" name="">
            <a:extLst xmlns:a="http://schemas.openxmlformats.org/drawingml/2006/main">
              <a:ext uri="{FF2B5EF4-FFF2-40B4-BE49-F238E27FC236}">
                <a16:creationId xmlns:a16="http://schemas.microsoft.com/office/drawing/2014/main" id="{1B43A702-C4C1-4FE2-8920-CE44D096EC47}"/>
              </a:ext>
            </a:extLst>
          </p:cNvPr>
          <p:cNvSpPr>
            <a:spLocks xmlns:a="http://schemas.openxmlformats.org/drawingml/2006/main" noGrp="1"/>
          </p:cNvSpPr>
          <p:nvPr/>
        </p:nvSpPr>
        <p:spPr>
          <a:xfrm xmlns:a="http://schemas.openxmlformats.org/drawingml/2006/main">
            <a:off x="6477000" y="50101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4F8FF"/>
                </a:solidFill>
              </a:defRPr>
            </a:pPr>
            <a:r>
              <a:rPr sz="1575" b="1">
                <a:solidFill>
                  <a:srgbClr val="F4F8FF"/>
                </a:solidFill>
              </a:rPr>
              <a:t>Quality analytics</a:t>
            </a:r>
          </a:p>
        </p:txBody>
      </p:sp>
      <p:sp>
        <p:nvSpPr>
          <p:cNvPr id="68" name="">
            <a:extLst xmlns:a="http://schemas.openxmlformats.org/drawingml/2006/main">
              <a:ext uri="{FF2B5EF4-FFF2-40B4-BE49-F238E27FC236}">
                <a16:creationId xmlns:a16="http://schemas.microsoft.com/office/drawing/2014/main" id="{0B1AF37B-3118-4C31-97BB-D045B7CFE67B}"/>
              </a:ext>
            </a:extLst>
          </p:cNvPr>
          <p:cNvSpPr>
            <a:spLocks xmlns:a="http://schemas.openxmlformats.org/drawingml/2006/main" noGrp="1"/>
          </p:cNvSpPr>
          <p:nvPr/>
        </p:nvSpPr>
        <p:spPr>
          <a:xfrm xmlns:a="http://schemas.openxmlformats.org/drawingml/2006/main">
            <a:off x="9334500" y="50101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4F8FF"/>
                </a:solidFill>
              </a:defRPr>
            </a:pPr>
            <a:r>
              <a:rPr sz="1575" b="1">
                <a:solidFill>
                  <a:srgbClr val="F4F8FF"/>
                </a:solidFill>
              </a:rPr>
              <a:t>Marketplace trust</a:t>
            </a:r>
          </a:p>
        </p:txBody>
      </p:sp>
      <p:sp>
        <p:nvSpPr>
          <p:cNvPr id="69" name="">
            <a:extLst xmlns:a="http://schemas.openxmlformats.org/drawingml/2006/main">
              <a:ext uri="{FF2B5EF4-FFF2-40B4-BE49-F238E27FC236}">
                <a16:creationId xmlns:a16="http://schemas.microsoft.com/office/drawing/2014/main" id="{EB631F71-B26A-4456-8676-ED7ABFC61429}"/>
              </a:ext>
            </a:extLst>
          </p:cNvPr>
          <p:cNvSpPr>
            <a:spLocks xmlns:a="http://schemas.openxmlformats.org/drawingml/2006/main" noGrp="1"/>
          </p:cNvSpPr>
          <p:nvPr/>
        </p:nvSpPr>
        <p:spPr>
          <a:xfrm xmlns:a="http://schemas.openxmlformats.org/drawingml/2006/main">
            <a:off x="762000" y="53911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9B7CC"/>
                </a:solidFill>
              </a:defRPr>
            </a:pPr>
            <a:r>
              <a:rPr sz="1200" b="0">
                <a:solidFill>
                  <a:srgbClr val="A9B7CC"/>
                </a:solidFill>
              </a:rPr>
              <a:t>This lineage becomes the foundation for safer iteration, customer support, model evaluation, and evidence-based merchandising.</a:t>
            </a:r>
          </a:p>
        </p:txBody>
      </p:sp>
    </p:spTree>
    <p:extLst>
      <p:ext uri="{BB962C8B-B14F-4D97-AF65-F5344CB8AC3E}">
        <p14:creationId xmlns:p14="http://schemas.microsoft.com/office/powerpoint/2010/main" val="277263089"/>
      </p:ext>
    </p:extLst>
  </p:cSld>
</p:sld>
</file>

<file path=ppt/slides/slide11.xml><?xml version="1.0" encoding="utf-8"?>
<p:sld xmlns:p="http://schemas.openxmlformats.org/presentationml/2006/main">
  <p:cSld>
    <p:bg>
      <p:bgPr>
        <a:solidFill xmlns:a="http://schemas.openxmlformats.org/drawingml/2006/main">
          <a:srgbClr val="040812"/>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FE36899A-18DB-486F-942C-8C1DA0E852D0}"/>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35161C2-5B5E-4685-9C43-075DD84C1C0C}"/>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17C1D08-238A-4609-930C-E69A8ADF4275}"/>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5D8DA0D-B9A9-4B5E-98E3-5BFDC0FBABA5}"/>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A056516-323D-4E42-9905-CEF45F7DE9D9}"/>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583DE03-3DA1-42D9-9334-53071199BF81}"/>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4A38C84-E8BB-4A99-B83D-02A4EDAE7712}"/>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E11B5FF-6B4B-45A9-B88C-AD01771449AF}"/>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E3DB4CB-336D-455B-A4AD-16A2612EC9A7}"/>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F9B731A-63D8-4A10-9149-300479534E12}"/>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EBA4555-01C4-4C95-BCFF-2CFDEFFD79E2}"/>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1954AE1-C4A7-45BB-8828-F8DF9D16FF11}"/>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7DF520A-E8E5-4411-BD7D-AE0713500674}"/>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715D91C-DCCB-4C20-A166-CB29ED938B5E}"/>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288D662-C57E-492B-8B62-2E6238806BB7}"/>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7841A35-032B-423B-93FB-18BC760ACC86}"/>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D3D77C8-8214-404F-BE5E-9B43E08632DC}"/>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1DB3C6D-E094-46B6-9FD7-D5ABE1911A1E}"/>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0E0F282-2159-42CA-8616-695E246EB047}"/>
              </a:ext>
            </a:extLst>
          </p:cNvPr>
          <p:cNvSpPr>
            <a:spLocks xmlns:a="http://schemas.openxmlformats.org/drawingml/2006/main" noGrp="1"/>
          </p:cNvSpPr>
          <p:nvPr/>
        </p:nvSpPr>
        <p:spPr>
          <a:xfrm xmlns:a="http://schemas.openxmlformats.org/drawingml/2006/main">
            <a:off x="0" y="76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155046D-D2F4-44F2-908B-8EDFA55B2E62}"/>
              </a:ext>
            </a:extLst>
          </p:cNvPr>
          <p:cNvSpPr>
            <a:spLocks xmlns:a="http://schemas.openxmlformats.org/drawingml/2006/main" noGrp="1"/>
          </p:cNvSpPr>
          <p:nvPr/>
        </p:nvSpPr>
        <p:spPr>
          <a:xfrm xmlns:a="http://schemas.openxmlformats.org/drawingml/2006/main">
            <a:off x="0" y="152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3ADAA6E-E421-4B2D-84DE-FBF9D6F03B26}"/>
              </a:ext>
            </a:extLst>
          </p:cNvPr>
          <p:cNvSpPr>
            <a:spLocks xmlns:a="http://schemas.openxmlformats.org/drawingml/2006/main" noGrp="1"/>
          </p:cNvSpPr>
          <p:nvPr/>
        </p:nvSpPr>
        <p:spPr>
          <a:xfrm xmlns:a="http://schemas.openxmlformats.org/drawingml/2006/main">
            <a:off x="0" y="228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99573B3-A1D1-4722-876C-DC6B3BB3E46E}"/>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D5D04B1-489D-4A70-AE3E-8644CA8AAA42}"/>
              </a:ext>
            </a:extLst>
          </p:cNvPr>
          <p:cNvSpPr>
            <a:spLocks xmlns:a="http://schemas.openxmlformats.org/drawingml/2006/main" noGrp="1"/>
          </p:cNvSpPr>
          <p:nvPr/>
        </p:nvSpPr>
        <p:spPr>
          <a:xfrm xmlns:a="http://schemas.openxmlformats.org/drawingml/2006/main">
            <a:off x="0" y="3810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55C3EA7-F5C5-4760-9244-76CA20DBC441}"/>
              </a:ext>
            </a:extLst>
          </p:cNvPr>
          <p:cNvSpPr>
            <a:spLocks xmlns:a="http://schemas.openxmlformats.org/drawingml/2006/main" noGrp="1"/>
          </p:cNvSpPr>
          <p:nvPr/>
        </p:nvSpPr>
        <p:spPr>
          <a:xfrm xmlns:a="http://schemas.openxmlformats.org/drawingml/2006/main">
            <a:off x="0" y="457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B187816-B384-4F58-9538-419F71CF7E2A}"/>
              </a:ext>
            </a:extLst>
          </p:cNvPr>
          <p:cNvSpPr>
            <a:spLocks xmlns:a="http://schemas.openxmlformats.org/drawingml/2006/main" noGrp="1"/>
          </p:cNvSpPr>
          <p:nvPr/>
        </p:nvSpPr>
        <p:spPr>
          <a:xfrm xmlns:a="http://schemas.openxmlformats.org/drawingml/2006/main">
            <a:off x="0" y="533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A2B0BDE-A403-4706-93E4-5D029C6D35D0}"/>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E02F176-8F7F-4307-AE77-CF4D59B356AF}"/>
              </a:ext>
            </a:extLst>
          </p:cNvPr>
          <p:cNvSpPr>
            <a:spLocks xmlns:a="http://schemas.openxmlformats.org/drawingml/2006/main" noGrp="1"/>
          </p:cNvSpPr>
          <p:nvPr/>
        </p:nvSpPr>
        <p:spPr>
          <a:xfrm xmlns:a="http://schemas.openxmlformats.org/drawingml/2006/main">
            <a:off x="0" y="685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44D15A8-B151-4FA7-B85D-FA6D7066A98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C7D55CC-4E69-4796-A030-091B50C1438F}"/>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ARCHITECTURE</a:t>
            </a:r>
          </a:p>
        </p:txBody>
      </p:sp>
      <p:sp>
        <p:nvSpPr>
          <p:cNvPr id="30" name="slide-11-title">
            <a:extLst xmlns:a="http://schemas.openxmlformats.org/drawingml/2006/main">
              <a:ext uri="{FF2B5EF4-FFF2-40B4-BE49-F238E27FC236}">
                <a16:creationId xmlns:a16="http://schemas.microsoft.com/office/drawing/2014/main" id="{663DCACA-4011-4CE7-A4C7-3A343D084295}"/>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4F8FF"/>
                </a:solidFill>
              </a:defRPr>
            </a:pPr>
            <a:r>
              <a:rPr sz="2700" b="1">
                <a:solidFill>
                  <a:srgbClr val="F4F8FF"/>
                </a:solidFill>
              </a:rPr>
              <a:t>Built for an MVP today—and production scale tomorrow</a:t>
            </a:r>
          </a:p>
        </p:txBody>
      </p:sp>
      <p:sp>
        <p:nvSpPr>
          <p:cNvPr id="31" name="">
            <a:extLst xmlns:a="http://schemas.openxmlformats.org/drawingml/2006/main">
              <a:ext uri="{FF2B5EF4-FFF2-40B4-BE49-F238E27FC236}">
                <a16:creationId xmlns:a16="http://schemas.microsoft.com/office/drawing/2014/main" id="{7128E2F9-24A8-4132-A5CC-F18A2C3CB60C}"/>
              </a:ext>
            </a:extLst>
          </p:cNvPr>
          <p:cNvSpPr>
            <a:spLocks xmlns:a="http://schemas.openxmlformats.org/drawingml/2006/main" noGrp="1"/>
          </p:cNvSpPr>
          <p:nvPr/>
        </p:nvSpPr>
        <p:spPr>
          <a:xfrm xmlns:a="http://schemas.openxmlformats.org/drawingml/2006/main">
            <a:off x="533400" y="1257300"/>
            <a:ext cx="11125200" cy="952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50526F0-A37A-4351-AD6B-66723DD9442F}"/>
              </a:ext>
            </a:extLst>
          </p:cNvPr>
          <p:cNvSpPr>
            <a:spLocks xmlns:a="http://schemas.openxmlformats.org/drawingml/2006/main" noGrp="1"/>
          </p:cNvSpPr>
          <p:nvPr/>
        </p:nvSpPr>
        <p:spPr>
          <a:xfrm xmlns:a="http://schemas.openxmlformats.org/drawingml/2006/main">
            <a:off x="533400" y="65341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4748B"/>
                </a:solidFill>
              </a:defRPr>
            </a:pPr>
            <a:r>
              <a:rPr sz="825" b="1">
                <a:solidFill>
                  <a:srgbClr val="64748B"/>
                </a:solidFill>
              </a:rPr>
              <a:t>AAA EAs BUILDER</a:t>
            </a:r>
          </a:p>
        </p:txBody>
      </p:sp>
      <p:sp>
        <p:nvSpPr>
          <p:cNvPr id="33" name="">
            <a:extLst xmlns:a="http://schemas.openxmlformats.org/drawingml/2006/main">
              <a:ext uri="{FF2B5EF4-FFF2-40B4-BE49-F238E27FC236}">
                <a16:creationId xmlns:a16="http://schemas.microsoft.com/office/drawing/2014/main" id="{523AC8C9-F0E2-419E-929D-8961EA831916}"/>
              </a:ext>
            </a:extLst>
          </p:cNvPr>
          <p:cNvSpPr>
            <a:spLocks xmlns:a="http://schemas.openxmlformats.org/drawingml/2006/main" noGrp="1"/>
          </p:cNvSpPr>
          <p:nvPr/>
        </p:nvSpPr>
        <p:spPr>
          <a:xfrm xmlns:a="http://schemas.openxmlformats.org/drawingml/2006/main">
            <a:off x="11144250" y="65151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4748B"/>
                </a:solidFill>
              </a:defRPr>
            </a:pPr>
            <a:r>
              <a:rPr sz="825" b="1">
                <a:solidFill>
                  <a:srgbClr val="64748B"/>
                </a:solidFill>
              </a:rPr>
              <a:t>11</a:t>
            </a:r>
          </a:p>
        </p:txBody>
      </p:sp>
      <p:sp>
        <p:nvSpPr>
          <p:cNvPr id="34" name="">
            <a:extLst xmlns:a="http://schemas.openxmlformats.org/drawingml/2006/main">
              <a:ext uri="{FF2B5EF4-FFF2-40B4-BE49-F238E27FC236}">
                <a16:creationId xmlns:a16="http://schemas.microsoft.com/office/drawing/2014/main" id="{F8258F86-1874-4F71-B833-D6666F64B60F}"/>
              </a:ext>
            </a:extLst>
          </p:cNvPr>
          <p:cNvSpPr>
            <a:spLocks xmlns:a="http://schemas.openxmlformats.org/drawingml/2006/main" noGrp="1"/>
          </p:cNvSpPr>
          <p:nvPr/>
        </p:nvSpPr>
        <p:spPr>
          <a:xfrm xmlns:a="http://schemas.openxmlformats.org/drawingml/2006/main">
            <a:off x="533400" y="15049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A9B7CC"/>
                </a:solidFill>
              </a:defRPr>
            </a:pPr>
            <a:r>
              <a:rPr sz="1650" b="0">
                <a:solidFill>
                  <a:srgbClr val="A9B7CC"/>
                </a:solidFill>
              </a:rPr>
              <a:t>A modular Django core keeps the first release fast to ship while preserving clear upgrade paths.</a:t>
            </a:r>
          </a:p>
        </p:txBody>
      </p:sp>
      <p:sp>
        <p:nvSpPr>
          <p:cNvPr id="35" name="">
            <a:extLst xmlns:a="http://schemas.openxmlformats.org/drawingml/2006/main">
              <a:ext uri="{FF2B5EF4-FFF2-40B4-BE49-F238E27FC236}">
                <a16:creationId xmlns:a16="http://schemas.microsoft.com/office/drawing/2014/main" id="{3A770AC5-871C-4012-88B3-161C74632ACC}"/>
              </a:ext>
            </a:extLst>
          </p:cNvPr>
          <p:cNvSpPr>
            <a:spLocks xmlns:a="http://schemas.openxmlformats.org/drawingml/2006/main" noGrp="1"/>
          </p:cNvSpPr>
          <p:nvPr/>
        </p:nvSpPr>
        <p:spPr>
          <a:xfrm xmlns:a="http://schemas.openxmlformats.org/drawingml/2006/main">
            <a:off x="533400" y="2209800"/>
            <a:ext cx="10668000" cy="533400"/>
          </a:xfrm>
          <a:prstGeom xmlns:a="http://schemas.openxmlformats.org/drawingml/2006/main" prst="roundRect">
            <a:avLst>
              <a:gd name="adj" fmla="val 21429"/>
            </a:avLst>
          </a:prstGeom>
          <a:solidFill xmlns:a="http://schemas.openxmlformats.org/drawingml/2006/main">
            <a:srgbClr val="081425"/>
          </a:solidFill>
          <a:ln xmlns:a="http://schemas.openxmlformats.org/drawingml/2006/main" w="9525">
            <a:solidFill>
              <a:srgbClr val="10DFF2"/>
            </a:solidFill>
            <a:prstDash val="solid"/>
          </a:ln>
        </p:spPr>
      </p:sp>
      <p:sp>
        <p:nvSpPr>
          <p:cNvPr id="36" name="">
            <a:extLst xmlns:a="http://schemas.openxmlformats.org/drawingml/2006/main">
              <a:ext uri="{FF2B5EF4-FFF2-40B4-BE49-F238E27FC236}">
                <a16:creationId xmlns:a16="http://schemas.microsoft.com/office/drawing/2014/main" id="{6C5034DA-0EC7-4A2E-BFAC-075D1D39139E}"/>
              </a:ext>
            </a:extLst>
          </p:cNvPr>
          <p:cNvSpPr>
            <a:spLocks xmlns:a="http://schemas.openxmlformats.org/drawingml/2006/main" noGrp="1"/>
          </p:cNvSpPr>
          <p:nvPr/>
        </p:nvSpPr>
        <p:spPr>
          <a:xfrm xmlns:a="http://schemas.openxmlformats.org/drawingml/2006/main">
            <a:off x="762000" y="23717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EXPERIENCE</a:t>
            </a:r>
          </a:p>
        </p:txBody>
      </p:sp>
      <p:sp>
        <p:nvSpPr>
          <p:cNvPr id="37" name="">
            <a:extLst xmlns:a="http://schemas.openxmlformats.org/drawingml/2006/main">
              <a:ext uri="{FF2B5EF4-FFF2-40B4-BE49-F238E27FC236}">
                <a16:creationId xmlns:a16="http://schemas.microsoft.com/office/drawing/2014/main" id="{3C85F19D-A774-4FFD-98ED-7D58D6FF70DB}"/>
              </a:ext>
            </a:extLst>
          </p:cNvPr>
          <p:cNvSpPr>
            <a:spLocks xmlns:a="http://schemas.openxmlformats.org/drawingml/2006/main" noGrp="1"/>
          </p:cNvSpPr>
          <p:nvPr/>
        </p:nvSpPr>
        <p:spPr>
          <a:xfrm xmlns:a="http://schemas.openxmlformats.org/drawingml/2006/main">
            <a:off x="2857500" y="2352675"/>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4F8FF"/>
                </a:solidFill>
              </a:defRPr>
            </a:pPr>
            <a:r>
              <a:rPr sz="1350" b="1">
                <a:solidFill>
                  <a:srgbClr val="F4F8FF"/>
                </a:solidFill>
              </a:rPr>
              <a:t>Django templates  •  Tailwind  •  HTMX  •  Alpine.js</a:t>
            </a:r>
          </a:p>
        </p:txBody>
      </p:sp>
      <p:sp>
        <p:nvSpPr>
          <p:cNvPr id="38" name="">
            <a:extLst xmlns:a="http://schemas.openxmlformats.org/drawingml/2006/main">
              <a:ext uri="{FF2B5EF4-FFF2-40B4-BE49-F238E27FC236}">
                <a16:creationId xmlns:a16="http://schemas.microsoft.com/office/drawing/2014/main" id="{67DAD9BA-CCC3-4577-B6C4-9FEEFC44223E}"/>
              </a:ext>
            </a:extLst>
          </p:cNvPr>
          <p:cNvSpPr>
            <a:spLocks xmlns:a="http://schemas.openxmlformats.org/drawingml/2006/main" noGrp="1"/>
          </p:cNvSpPr>
          <p:nvPr/>
        </p:nvSpPr>
        <p:spPr>
          <a:xfrm xmlns:a="http://schemas.openxmlformats.org/drawingml/2006/main">
            <a:off x="685800" y="2895600"/>
            <a:ext cx="10363200" cy="533400"/>
          </a:xfrm>
          <a:prstGeom xmlns:a="http://schemas.openxmlformats.org/drawingml/2006/main" prst="roundRect">
            <a:avLst>
              <a:gd name="adj" fmla="val 21429"/>
            </a:avLst>
          </a:prstGeom>
          <a:solidFill xmlns:a="http://schemas.openxmlformats.org/drawingml/2006/main">
            <a:srgbClr val="0B1A2E"/>
          </a:solidFill>
          <a:ln xmlns:a="http://schemas.openxmlformats.org/drawingml/2006/main" w="9525">
            <a:solidFill>
              <a:srgbClr val="A855F7"/>
            </a:solidFill>
            <a:prstDash val="solid"/>
          </a:ln>
        </p:spPr>
      </p:sp>
      <p:sp>
        <p:nvSpPr>
          <p:cNvPr id="39" name="">
            <a:extLst xmlns:a="http://schemas.openxmlformats.org/drawingml/2006/main">
              <a:ext uri="{FF2B5EF4-FFF2-40B4-BE49-F238E27FC236}">
                <a16:creationId xmlns:a16="http://schemas.microsoft.com/office/drawing/2014/main" id="{BF079AB5-19C5-4816-839D-50FB0BBFE2BE}"/>
              </a:ext>
            </a:extLst>
          </p:cNvPr>
          <p:cNvSpPr>
            <a:spLocks xmlns:a="http://schemas.openxmlformats.org/drawingml/2006/main" noGrp="1"/>
          </p:cNvSpPr>
          <p:nvPr/>
        </p:nvSpPr>
        <p:spPr>
          <a:xfrm xmlns:a="http://schemas.openxmlformats.org/drawingml/2006/main">
            <a:off x="914400" y="30575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855F7"/>
                </a:solidFill>
              </a:defRPr>
            </a:pPr>
            <a:r>
              <a:rPr sz="1050" b="1">
                <a:solidFill>
                  <a:srgbClr val="A855F7"/>
                </a:solidFill>
              </a:rPr>
              <a:t>APPLICATION</a:t>
            </a:r>
          </a:p>
        </p:txBody>
      </p:sp>
      <p:sp>
        <p:nvSpPr>
          <p:cNvPr id="40" name="">
            <a:extLst xmlns:a="http://schemas.openxmlformats.org/drawingml/2006/main">
              <a:ext uri="{FF2B5EF4-FFF2-40B4-BE49-F238E27FC236}">
                <a16:creationId xmlns:a16="http://schemas.microsoft.com/office/drawing/2014/main" id="{7CDC0F3E-1802-4FE1-8C26-60E228DAD11B}"/>
              </a:ext>
            </a:extLst>
          </p:cNvPr>
          <p:cNvSpPr>
            <a:spLocks xmlns:a="http://schemas.openxmlformats.org/drawingml/2006/main" noGrp="1"/>
          </p:cNvSpPr>
          <p:nvPr/>
        </p:nvSpPr>
        <p:spPr>
          <a:xfrm xmlns:a="http://schemas.openxmlformats.org/drawingml/2006/main">
            <a:off x="3009900" y="3038475"/>
            <a:ext cx="7505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4F8FF"/>
                </a:solidFill>
              </a:defRPr>
            </a:pPr>
            <a:r>
              <a:rPr sz="1350" b="1">
                <a:solidFill>
                  <a:srgbClr val="F4F8FF"/>
                </a:solidFill>
              </a:rPr>
              <a:t>Class-based views  •  domain services  •  permissions  •  protected downloads</a:t>
            </a:r>
          </a:p>
        </p:txBody>
      </p:sp>
      <p:sp>
        <p:nvSpPr>
          <p:cNvPr id="41" name="">
            <a:extLst xmlns:a="http://schemas.openxmlformats.org/drawingml/2006/main">
              <a:ext uri="{FF2B5EF4-FFF2-40B4-BE49-F238E27FC236}">
                <a16:creationId xmlns:a16="http://schemas.microsoft.com/office/drawing/2014/main" id="{C0D3DD70-47ED-4A5C-88E0-EFACCBCD1DA2}"/>
              </a:ext>
            </a:extLst>
          </p:cNvPr>
          <p:cNvSpPr>
            <a:spLocks xmlns:a="http://schemas.openxmlformats.org/drawingml/2006/main" noGrp="1"/>
          </p:cNvSpPr>
          <p:nvPr/>
        </p:nvSpPr>
        <p:spPr>
          <a:xfrm xmlns:a="http://schemas.openxmlformats.org/drawingml/2006/main">
            <a:off x="838200" y="3581400"/>
            <a:ext cx="10058400" cy="533400"/>
          </a:xfrm>
          <a:prstGeom xmlns:a="http://schemas.openxmlformats.org/drawingml/2006/main" prst="roundRect">
            <a:avLst>
              <a:gd name="adj" fmla="val 21429"/>
            </a:avLst>
          </a:prstGeom>
          <a:solidFill xmlns:a="http://schemas.openxmlformats.org/drawingml/2006/main">
            <a:srgbClr val="081425"/>
          </a:solidFill>
          <a:ln xmlns:a="http://schemas.openxmlformats.org/drawingml/2006/main" w="9525">
            <a:solidFill>
              <a:srgbClr val="32D583"/>
            </a:solidFill>
            <a:prstDash val="solid"/>
          </a:ln>
        </p:spPr>
      </p:sp>
      <p:sp>
        <p:nvSpPr>
          <p:cNvPr id="42" name="">
            <a:extLst xmlns:a="http://schemas.openxmlformats.org/drawingml/2006/main">
              <a:ext uri="{FF2B5EF4-FFF2-40B4-BE49-F238E27FC236}">
                <a16:creationId xmlns:a16="http://schemas.microsoft.com/office/drawing/2014/main" id="{96A19983-06E6-49D9-A9CF-F5BB9B703C2F}"/>
              </a:ext>
            </a:extLst>
          </p:cNvPr>
          <p:cNvSpPr>
            <a:spLocks xmlns:a="http://schemas.openxmlformats.org/drawingml/2006/main" noGrp="1"/>
          </p:cNvSpPr>
          <p:nvPr/>
        </p:nvSpPr>
        <p:spPr>
          <a:xfrm xmlns:a="http://schemas.openxmlformats.org/drawingml/2006/main">
            <a:off x="1066800" y="37433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32D583"/>
                </a:solidFill>
              </a:defRPr>
            </a:pPr>
            <a:r>
              <a:rPr sz="1050" b="1">
                <a:solidFill>
                  <a:srgbClr val="32D583"/>
                </a:solidFill>
              </a:rPr>
              <a:t>AI ORCHESTRATION</a:t>
            </a:r>
          </a:p>
        </p:txBody>
      </p:sp>
      <p:sp>
        <p:nvSpPr>
          <p:cNvPr id="43" name="">
            <a:extLst xmlns:a="http://schemas.openxmlformats.org/drawingml/2006/main">
              <a:ext uri="{FF2B5EF4-FFF2-40B4-BE49-F238E27FC236}">
                <a16:creationId xmlns:a16="http://schemas.microsoft.com/office/drawing/2014/main" id="{7F472749-7EC5-4356-A3B7-336215B29226}"/>
              </a:ext>
            </a:extLst>
          </p:cNvPr>
          <p:cNvSpPr>
            <a:spLocks xmlns:a="http://schemas.openxmlformats.org/drawingml/2006/main" noGrp="1"/>
          </p:cNvSpPr>
          <p:nvPr/>
        </p:nvSpPr>
        <p:spPr>
          <a:xfrm xmlns:a="http://schemas.openxmlformats.org/drawingml/2006/main">
            <a:off x="3162300" y="3724275"/>
            <a:ext cx="7200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4F8FF"/>
                </a:solidFill>
              </a:defRPr>
            </a:pPr>
            <a:r>
              <a:rPr sz="1350" b="1">
                <a:solidFill>
                  <a:srgbClr val="F4F8FF"/>
                </a:solidFill>
              </a:rPr>
              <a:t>LangChain providers  •  LangGraph workflow  •  structured outputs</a:t>
            </a:r>
          </a:p>
        </p:txBody>
      </p:sp>
      <p:sp>
        <p:nvSpPr>
          <p:cNvPr id="44" name="">
            <a:extLst xmlns:a="http://schemas.openxmlformats.org/drawingml/2006/main">
              <a:ext uri="{FF2B5EF4-FFF2-40B4-BE49-F238E27FC236}">
                <a16:creationId xmlns:a16="http://schemas.microsoft.com/office/drawing/2014/main" id="{ABD1E8F4-4785-4EB5-993D-5304928A4834}"/>
              </a:ext>
            </a:extLst>
          </p:cNvPr>
          <p:cNvSpPr>
            <a:spLocks xmlns:a="http://schemas.openxmlformats.org/drawingml/2006/main" noGrp="1"/>
          </p:cNvSpPr>
          <p:nvPr/>
        </p:nvSpPr>
        <p:spPr>
          <a:xfrm xmlns:a="http://schemas.openxmlformats.org/drawingml/2006/main">
            <a:off x="990600" y="4267200"/>
            <a:ext cx="9753600" cy="533400"/>
          </a:xfrm>
          <a:prstGeom xmlns:a="http://schemas.openxmlformats.org/drawingml/2006/main" prst="roundRect">
            <a:avLst>
              <a:gd name="adj" fmla="val 21429"/>
            </a:avLst>
          </a:prstGeom>
          <a:solidFill xmlns:a="http://schemas.openxmlformats.org/drawingml/2006/main">
            <a:srgbClr val="0B1A2E"/>
          </a:solidFill>
          <a:ln xmlns:a="http://schemas.openxmlformats.org/drawingml/2006/main" w="9525">
            <a:solidFill>
              <a:srgbClr val="F8B84E"/>
            </a:solidFill>
            <a:prstDash val="solid"/>
          </a:ln>
        </p:spPr>
      </p:sp>
      <p:sp>
        <p:nvSpPr>
          <p:cNvPr id="45" name="">
            <a:extLst xmlns:a="http://schemas.openxmlformats.org/drawingml/2006/main">
              <a:ext uri="{FF2B5EF4-FFF2-40B4-BE49-F238E27FC236}">
                <a16:creationId xmlns:a16="http://schemas.microsoft.com/office/drawing/2014/main" id="{B236030F-C58F-494B-BF0F-DCF29F84283B}"/>
              </a:ext>
            </a:extLst>
          </p:cNvPr>
          <p:cNvSpPr>
            <a:spLocks xmlns:a="http://schemas.openxmlformats.org/drawingml/2006/main" noGrp="1"/>
          </p:cNvSpPr>
          <p:nvPr/>
        </p:nvSpPr>
        <p:spPr>
          <a:xfrm xmlns:a="http://schemas.openxmlformats.org/drawingml/2006/main">
            <a:off x="1219200" y="44291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8B84E"/>
                </a:solidFill>
              </a:defRPr>
            </a:pPr>
            <a:r>
              <a:rPr sz="1050" b="1">
                <a:solidFill>
                  <a:srgbClr val="F8B84E"/>
                </a:solidFill>
              </a:rPr>
              <a:t>ASYNC + DATA</a:t>
            </a:r>
          </a:p>
        </p:txBody>
      </p:sp>
      <p:sp>
        <p:nvSpPr>
          <p:cNvPr id="46" name="">
            <a:extLst xmlns:a="http://schemas.openxmlformats.org/drawingml/2006/main">
              <a:ext uri="{FF2B5EF4-FFF2-40B4-BE49-F238E27FC236}">
                <a16:creationId xmlns:a16="http://schemas.microsoft.com/office/drawing/2014/main" id="{E65AD1B5-0DB1-42C9-B0A3-2602F985B6F5}"/>
              </a:ext>
            </a:extLst>
          </p:cNvPr>
          <p:cNvSpPr>
            <a:spLocks xmlns:a="http://schemas.openxmlformats.org/drawingml/2006/main" noGrp="1"/>
          </p:cNvSpPr>
          <p:nvPr/>
        </p:nvSpPr>
        <p:spPr>
          <a:xfrm xmlns:a="http://schemas.openxmlformats.org/drawingml/2006/main">
            <a:off x="3314700" y="4410075"/>
            <a:ext cx="689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4F8FF"/>
                </a:solidFill>
              </a:defRPr>
            </a:pPr>
            <a:r>
              <a:rPr sz="1350" b="1">
                <a:solidFill>
                  <a:srgbClr val="F4F8FF"/>
                </a:solidFill>
              </a:rPr>
              <a:t>Celery  •  Redis  •  SQLite development  →  PostgreSQL production</a:t>
            </a:r>
          </a:p>
        </p:txBody>
      </p:sp>
      <p:sp>
        <p:nvSpPr>
          <p:cNvPr id="47" name="">
            <a:extLst xmlns:a="http://schemas.openxmlformats.org/drawingml/2006/main">
              <a:ext uri="{FF2B5EF4-FFF2-40B4-BE49-F238E27FC236}">
                <a16:creationId xmlns:a16="http://schemas.microsoft.com/office/drawing/2014/main" id="{09545A08-1156-4980-923F-A43809F861FA}"/>
              </a:ext>
            </a:extLst>
          </p:cNvPr>
          <p:cNvSpPr>
            <a:spLocks xmlns:a="http://schemas.openxmlformats.org/drawingml/2006/main" noGrp="1"/>
          </p:cNvSpPr>
          <p:nvPr/>
        </p:nvSpPr>
        <p:spPr>
          <a:xfrm xmlns:a="http://schemas.openxmlformats.org/drawingml/2006/main">
            <a:off x="1143000" y="4953000"/>
            <a:ext cx="9448800" cy="533400"/>
          </a:xfrm>
          <a:prstGeom xmlns:a="http://schemas.openxmlformats.org/drawingml/2006/main" prst="roundRect">
            <a:avLst>
              <a:gd name="adj" fmla="val 21429"/>
            </a:avLst>
          </a:prstGeom>
          <a:solidFill xmlns:a="http://schemas.openxmlformats.org/drawingml/2006/main">
            <a:srgbClr val="081425"/>
          </a:solidFill>
          <a:ln xmlns:a="http://schemas.openxmlformats.org/drawingml/2006/main" w="9525">
            <a:solidFill>
              <a:srgbClr val="10DFF2"/>
            </a:solidFill>
            <a:prstDash val="solid"/>
          </a:ln>
        </p:spPr>
      </p:sp>
      <p:sp>
        <p:nvSpPr>
          <p:cNvPr id="48" name="">
            <a:extLst xmlns:a="http://schemas.openxmlformats.org/drawingml/2006/main">
              <a:ext uri="{FF2B5EF4-FFF2-40B4-BE49-F238E27FC236}">
                <a16:creationId xmlns:a16="http://schemas.microsoft.com/office/drawing/2014/main" id="{8803F9F7-EA42-4A17-BD3D-E4F1BD620A53}"/>
              </a:ext>
            </a:extLst>
          </p:cNvPr>
          <p:cNvSpPr>
            <a:spLocks xmlns:a="http://schemas.openxmlformats.org/drawingml/2006/main" noGrp="1"/>
          </p:cNvSpPr>
          <p:nvPr/>
        </p:nvSpPr>
        <p:spPr>
          <a:xfrm xmlns:a="http://schemas.openxmlformats.org/drawingml/2006/main">
            <a:off x="1371600" y="51149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OPERATIONS</a:t>
            </a:r>
          </a:p>
        </p:txBody>
      </p:sp>
      <p:sp>
        <p:nvSpPr>
          <p:cNvPr id="49" name="">
            <a:extLst xmlns:a="http://schemas.openxmlformats.org/drawingml/2006/main">
              <a:ext uri="{FF2B5EF4-FFF2-40B4-BE49-F238E27FC236}">
                <a16:creationId xmlns:a16="http://schemas.microsoft.com/office/drawing/2014/main" id="{FA7AACFC-4C94-41EC-BA54-9E7A5C3C3EFD}"/>
              </a:ext>
            </a:extLst>
          </p:cNvPr>
          <p:cNvSpPr>
            <a:spLocks xmlns:a="http://schemas.openxmlformats.org/drawingml/2006/main" noGrp="1"/>
          </p:cNvSpPr>
          <p:nvPr/>
        </p:nvSpPr>
        <p:spPr>
          <a:xfrm xmlns:a="http://schemas.openxmlformats.org/drawingml/2006/main">
            <a:off x="3467100" y="5095875"/>
            <a:ext cx="659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4F8FF"/>
                </a:solidFill>
              </a:defRPr>
            </a:pPr>
            <a:r>
              <a:rPr sz="1350" b="1">
                <a:solidFill>
                  <a:srgbClr val="F4F8FF"/>
                </a:solidFill>
              </a:rPr>
              <a:t>Unfold admin  •  Docker  •  Windows BAT  •  Makefile</a:t>
            </a:r>
          </a:p>
        </p:txBody>
      </p:sp>
      <p:sp>
        <p:nvSpPr>
          <p:cNvPr id="50" name="">
            <a:extLst xmlns:a="http://schemas.openxmlformats.org/drawingml/2006/main">
              <a:ext uri="{FF2B5EF4-FFF2-40B4-BE49-F238E27FC236}">
                <a16:creationId xmlns:a16="http://schemas.microsoft.com/office/drawing/2014/main" id="{84E49713-EBF1-4FDD-8675-1C47E64B796E}"/>
              </a:ext>
            </a:extLst>
          </p:cNvPr>
          <p:cNvSpPr>
            <a:spLocks xmlns:a="http://schemas.openxmlformats.org/drawingml/2006/main" noGrp="1"/>
          </p:cNvSpPr>
          <p:nvPr/>
        </p:nvSpPr>
        <p:spPr>
          <a:xfrm xmlns:a="http://schemas.openxmlformats.org/drawingml/2006/main">
            <a:off x="533400" y="59626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4748B"/>
                </a:solidFill>
              </a:defRPr>
            </a:pPr>
            <a:r>
              <a:rPr sz="1200" b="1">
                <a:solidFill>
                  <a:srgbClr val="64748B"/>
                </a:solidFill>
              </a:rPr>
              <a:t>Deployment choice</a:t>
            </a:r>
          </a:p>
        </p:txBody>
      </p:sp>
      <p:sp>
        <p:nvSpPr>
          <p:cNvPr id="51" name="">
            <a:extLst xmlns:a="http://schemas.openxmlformats.org/drawingml/2006/main">
              <a:ext uri="{FF2B5EF4-FFF2-40B4-BE49-F238E27FC236}">
                <a16:creationId xmlns:a16="http://schemas.microsoft.com/office/drawing/2014/main" id="{720E1419-D10A-40A7-82E3-CEC7C5032C0F}"/>
              </a:ext>
            </a:extLst>
          </p:cNvPr>
          <p:cNvSpPr>
            <a:spLocks xmlns:a="http://schemas.openxmlformats.org/drawingml/2006/main" noGrp="1"/>
          </p:cNvSpPr>
          <p:nvPr/>
        </p:nvSpPr>
        <p:spPr>
          <a:xfrm xmlns:a="http://schemas.openxmlformats.org/drawingml/2006/main">
            <a:off x="2152650" y="5953125"/>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A9B7CC"/>
                </a:solidFill>
              </a:defRPr>
            </a:pPr>
            <a:r>
              <a:rPr sz="1200" b="0">
                <a:solidFill>
                  <a:srgbClr val="A9B7CC"/>
                </a:solidFill>
              </a:rPr>
              <a:t>Normal Windows workflow for local teams  •  Docker web/worker/Redis stack for consistent environments</a:t>
            </a:r>
          </a:p>
        </p:txBody>
      </p:sp>
    </p:spTree>
    <p:extLst>
      <p:ext uri="{BB962C8B-B14F-4D97-AF65-F5344CB8AC3E}">
        <p14:creationId xmlns:p14="http://schemas.microsoft.com/office/powerpoint/2010/main" val="1177472115"/>
      </p:ext>
    </p:extLst>
  </p:cSld>
</p:sld>
</file>

<file path=ppt/slides/slide12.xml><?xml version="1.0" encoding="utf-8"?>
<p:sld xmlns:p="http://schemas.openxmlformats.org/presentationml/2006/main">
  <p:cSld>
    <p:bg>
      <p:bgPr>
        <a:solidFill xmlns:a="http://schemas.openxmlformats.org/drawingml/2006/main">
          <a:srgbClr val="040812"/>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5CC091B5-CB3A-48D8-A89E-F8D1CE2C85CF}"/>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C2F7079-7990-4E5B-BE3C-185F0F109C77}"/>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814C169-C816-478C-B476-85D3319F8F6A}"/>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E06AE68-CDC4-4025-A72E-EC22833ABA79}"/>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99ED2B3-14D2-4F23-9015-B481677DFB45}"/>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99F08CE-441E-41F4-BB5A-BEE699CC0519}"/>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AB7CD5-23AA-402D-815E-92832D1490D3}"/>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9C756EB-EBF5-49DC-B9C0-4D264F477187}"/>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D707739-78AA-48EA-B6CF-7834AA3118DC}"/>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9A49870-834A-4F67-8D42-8F96F5600216}"/>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F9BC77F-0EA4-4201-8444-C34E8A99218A}"/>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99B7919-75AD-4C74-BCB8-706366C342F3}"/>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32A95B0-C0FF-4FCB-8C1B-CFD48826F993}"/>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9BCD5BE-9DBE-43D6-9F41-68B1058598F4}"/>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251248B-B6A0-4847-9E86-D7751FA92CA4}"/>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3016B8E-8985-48AB-913E-A1BDEB489917}"/>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67842B2-4760-4E18-A1B0-ABBC2311FBC6}"/>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53D9274-EB13-4E30-9CCF-633A07D988D3}"/>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1EA171F-CDC7-4E73-828C-ECD8DC61FE41}"/>
              </a:ext>
            </a:extLst>
          </p:cNvPr>
          <p:cNvSpPr>
            <a:spLocks xmlns:a="http://schemas.openxmlformats.org/drawingml/2006/main" noGrp="1"/>
          </p:cNvSpPr>
          <p:nvPr/>
        </p:nvSpPr>
        <p:spPr>
          <a:xfrm xmlns:a="http://schemas.openxmlformats.org/drawingml/2006/main">
            <a:off x="0" y="76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32F021E-7BC2-42E0-8FAE-5901BB5A7398}"/>
              </a:ext>
            </a:extLst>
          </p:cNvPr>
          <p:cNvSpPr>
            <a:spLocks xmlns:a="http://schemas.openxmlformats.org/drawingml/2006/main" noGrp="1"/>
          </p:cNvSpPr>
          <p:nvPr/>
        </p:nvSpPr>
        <p:spPr>
          <a:xfrm xmlns:a="http://schemas.openxmlformats.org/drawingml/2006/main">
            <a:off x="0" y="152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A69596E-19E4-44F1-8E11-E07A9DB1D976}"/>
              </a:ext>
            </a:extLst>
          </p:cNvPr>
          <p:cNvSpPr>
            <a:spLocks xmlns:a="http://schemas.openxmlformats.org/drawingml/2006/main" noGrp="1"/>
          </p:cNvSpPr>
          <p:nvPr/>
        </p:nvSpPr>
        <p:spPr>
          <a:xfrm xmlns:a="http://schemas.openxmlformats.org/drawingml/2006/main">
            <a:off x="0" y="228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AA23D20-290C-485B-A070-6910A1B746B6}"/>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B5CA5EE-3053-40D4-8755-A67AE18E60E8}"/>
              </a:ext>
            </a:extLst>
          </p:cNvPr>
          <p:cNvSpPr>
            <a:spLocks xmlns:a="http://schemas.openxmlformats.org/drawingml/2006/main" noGrp="1"/>
          </p:cNvSpPr>
          <p:nvPr/>
        </p:nvSpPr>
        <p:spPr>
          <a:xfrm xmlns:a="http://schemas.openxmlformats.org/drawingml/2006/main">
            <a:off x="0" y="3810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8B41743-95E2-4720-ACC6-38AFC80938F8}"/>
              </a:ext>
            </a:extLst>
          </p:cNvPr>
          <p:cNvSpPr>
            <a:spLocks xmlns:a="http://schemas.openxmlformats.org/drawingml/2006/main" noGrp="1"/>
          </p:cNvSpPr>
          <p:nvPr/>
        </p:nvSpPr>
        <p:spPr>
          <a:xfrm xmlns:a="http://schemas.openxmlformats.org/drawingml/2006/main">
            <a:off x="0" y="457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48465BF-7E79-4DD3-8A1F-8419B6AF471D}"/>
              </a:ext>
            </a:extLst>
          </p:cNvPr>
          <p:cNvSpPr>
            <a:spLocks xmlns:a="http://schemas.openxmlformats.org/drawingml/2006/main" noGrp="1"/>
          </p:cNvSpPr>
          <p:nvPr/>
        </p:nvSpPr>
        <p:spPr>
          <a:xfrm xmlns:a="http://schemas.openxmlformats.org/drawingml/2006/main">
            <a:off x="0" y="533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153795D-FCC0-498E-8CB1-4BB8E3B5BB7F}"/>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95BDFCE-8396-4D0F-A370-64CB1C487ECB}"/>
              </a:ext>
            </a:extLst>
          </p:cNvPr>
          <p:cNvSpPr>
            <a:spLocks xmlns:a="http://schemas.openxmlformats.org/drawingml/2006/main" noGrp="1"/>
          </p:cNvSpPr>
          <p:nvPr/>
        </p:nvSpPr>
        <p:spPr>
          <a:xfrm xmlns:a="http://schemas.openxmlformats.org/drawingml/2006/main">
            <a:off x="0" y="685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8B9139D-C917-45A8-82E4-3528BD03E6A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36D3D05-BFF0-4BEA-90AD-4DA69FF9C181}"/>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IMPLEMENTATION PROOF</a:t>
            </a:r>
          </a:p>
        </p:txBody>
      </p:sp>
      <p:sp>
        <p:nvSpPr>
          <p:cNvPr id="30" name="slide-12-title">
            <a:extLst xmlns:a="http://schemas.openxmlformats.org/drawingml/2006/main">
              <a:ext uri="{FF2B5EF4-FFF2-40B4-BE49-F238E27FC236}">
                <a16:creationId xmlns:a16="http://schemas.microsoft.com/office/drawing/2014/main" id="{7493701F-EB17-4D00-83A8-EFF5B74BBA0F}"/>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4F8FF"/>
                </a:solidFill>
              </a:defRPr>
            </a:pPr>
            <a:r>
              <a:rPr sz="2700" b="1">
                <a:solidFill>
                  <a:srgbClr val="F4F8FF"/>
                </a:solidFill>
              </a:rPr>
              <a:t>The current MVP proves the core technical risk</a:t>
            </a:r>
          </a:p>
        </p:txBody>
      </p:sp>
      <p:sp>
        <p:nvSpPr>
          <p:cNvPr id="31" name="">
            <a:extLst xmlns:a="http://schemas.openxmlformats.org/drawingml/2006/main">
              <a:ext uri="{FF2B5EF4-FFF2-40B4-BE49-F238E27FC236}">
                <a16:creationId xmlns:a16="http://schemas.microsoft.com/office/drawing/2014/main" id="{5D806B2D-7732-4D86-B095-8BB951826622}"/>
              </a:ext>
            </a:extLst>
          </p:cNvPr>
          <p:cNvSpPr>
            <a:spLocks xmlns:a="http://schemas.openxmlformats.org/drawingml/2006/main" noGrp="1"/>
          </p:cNvSpPr>
          <p:nvPr/>
        </p:nvSpPr>
        <p:spPr>
          <a:xfrm xmlns:a="http://schemas.openxmlformats.org/drawingml/2006/main">
            <a:off x="533400" y="1257300"/>
            <a:ext cx="11125200" cy="952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54E725A-C433-40DD-8D3E-E1F795F4C583}"/>
              </a:ext>
            </a:extLst>
          </p:cNvPr>
          <p:cNvSpPr>
            <a:spLocks xmlns:a="http://schemas.openxmlformats.org/drawingml/2006/main" noGrp="1"/>
          </p:cNvSpPr>
          <p:nvPr/>
        </p:nvSpPr>
        <p:spPr>
          <a:xfrm xmlns:a="http://schemas.openxmlformats.org/drawingml/2006/main">
            <a:off x="533400" y="65341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4748B"/>
                </a:solidFill>
              </a:defRPr>
            </a:pPr>
            <a:r>
              <a:rPr sz="825" b="1">
                <a:solidFill>
                  <a:srgbClr val="64748B"/>
                </a:solidFill>
              </a:rPr>
              <a:t>AAA EAs BUILDER</a:t>
            </a:r>
          </a:p>
        </p:txBody>
      </p:sp>
      <p:sp>
        <p:nvSpPr>
          <p:cNvPr id="33" name="">
            <a:extLst xmlns:a="http://schemas.openxmlformats.org/drawingml/2006/main">
              <a:ext uri="{FF2B5EF4-FFF2-40B4-BE49-F238E27FC236}">
                <a16:creationId xmlns:a16="http://schemas.microsoft.com/office/drawing/2014/main" id="{43B9D36E-D7F1-41D2-B296-217DB8893281}"/>
              </a:ext>
            </a:extLst>
          </p:cNvPr>
          <p:cNvSpPr>
            <a:spLocks xmlns:a="http://schemas.openxmlformats.org/drawingml/2006/main" noGrp="1"/>
          </p:cNvSpPr>
          <p:nvPr/>
        </p:nvSpPr>
        <p:spPr>
          <a:xfrm xmlns:a="http://schemas.openxmlformats.org/drawingml/2006/main">
            <a:off x="11144250" y="65151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4748B"/>
                </a:solidFill>
              </a:defRPr>
            </a:pPr>
            <a:r>
              <a:rPr sz="825" b="1">
                <a:solidFill>
                  <a:srgbClr val="64748B"/>
                </a:solidFill>
              </a:rPr>
              <a:t>12</a:t>
            </a:r>
          </a:p>
        </p:txBody>
      </p:sp>
      <p:pic>
        <p:nvPicPr>
          <p:cNvPr id="84" name=""/>
          <p:cNvPicPr>
            <a:picLocks xmlns:a="http://schemas.openxmlformats.org/drawingml/2006/main" noChangeAspect="1"/>
          </p:cNvPicPr>
          <p:nvPr/>
        </p:nvPicPr>
        <p:blipFill>
          <a:blip xmlns:r="http://schemas.openxmlformats.org/officeDocument/2006/relationships" xmlns:a="http://schemas.openxmlformats.org/drawingml/2006/main" r:embed="R93a58a1e4974449c"/>
          <a:stretch xmlns:a="http://schemas.openxmlformats.org/drawingml/2006/main"/>
        </p:blipFill>
        <p:spPr>
          <a:xfrm xmlns:a="http://schemas.openxmlformats.org/drawingml/2006/main">
            <a:off x="533400" y="1877818"/>
            <a:ext cx="5715000" cy="3216664"/>
          </a:xfrm>
          <a:prstGeom xmlns:a="http://schemas.openxmlformats.org/drawingml/2006/main" prst="roundRect">
            <a:avLst>
              <a:gd name="adj" fmla="val 3061"/>
            </a:avLst>
          </a:prstGeom>
        </p:spPr>
      </p:pic>
      <p:sp>
        <p:nvSpPr>
          <p:cNvPr id="35" name="">
            <a:extLst xmlns:a="http://schemas.openxmlformats.org/drawingml/2006/main">
              <a:ext uri="{FF2B5EF4-FFF2-40B4-BE49-F238E27FC236}">
                <a16:creationId xmlns:a16="http://schemas.microsoft.com/office/drawing/2014/main" id="{6E7838B2-599E-4A26-B9A8-1AB36AF3A1AA}"/>
              </a:ext>
            </a:extLst>
          </p:cNvPr>
          <p:cNvSpPr>
            <a:spLocks xmlns:a="http://schemas.openxmlformats.org/drawingml/2006/main" noGrp="1"/>
          </p:cNvSpPr>
          <p:nvPr/>
        </p:nvSpPr>
        <p:spPr>
          <a:xfrm xmlns:a="http://schemas.openxmlformats.org/drawingml/2006/main">
            <a:off x="533400" y="1619250"/>
            <a:ext cx="5715000" cy="47625"/>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610CAA8-3702-46BF-BAB0-43B0D1D73CDB}"/>
              </a:ext>
            </a:extLst>
          </p:cNvPr>
          <p:cNvSpPr>
            <a:spLocks xmlns:a="http://schemas.openxmlformats.org/drawingml/2006/main" noGrp="1"/>
          </p:cNvSpPr>
          <p:nvPr/>
        </p:nvSpPr>
        <p:spPr>
          <a:xfrm xmlns:a="http://schemas.openxmlformats.org/drawingml/2006/main">
            <a:off x="6762750" y="1619250"/>
            <a:ext cx="1047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3000" b="1">
                <a:solidFill>
                  <a:srgbClr val="10DFF2"/>
                </a:solidFill>
              </a:defRPr>
            </a:pPr>
            <a:r>
              <a:rPr sz="3000" b="1">
                <a:solidFill>
                  <a:srgbClr val="10DFF2"/>
                </a:solidFill>
              </a:rPr>
              <a:t>4</a:t>
            </a:r>
          </a:p>
        </p:txBody>
      </p:sp>
      <p:sp>
        <p:nvSpPr>
          <p:cNvPr id="37" name="">
            <a:extLst xmlns:a="http://schemas.openxmlformats.org/drawingml/2006/main">
              <a:ext uri="{FF2B5EF4-FFF2-40B4-BE49-F238E27FC236}">
                <a16:creationId xmlns:a16="http://schemas.microsoft.com/office/drawing/2014/main" id="{D95F9AF7-745F-46B1-A0F8-CF71C9150D69}"/>
              </a:ext>
            </a:extLst>
          </p:cNvPr>
          <p:cNvSpPr>
            <a:spLocks xmlns:a="http://schemas.openxmlformats.org/drawingml/2006/main" noGrp="1"/>
          </p:cNvSpPr>
          <p:nvPr/>
        </p:nvSpPr>
        <p:spPr>
          <a:xfrm xmlns:a="http://schemas.openxmlformats.org/drawingml/2006/main">
            <a:off x="8020050" y="16478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8FF"/>
                </a:solidFill>
              </a:defRPr>
            </a:pPr>
            <a:r>
              <a:rPr sz="1500" b="1">
                <a:solidFill>
                  <a:srgbClr val="F4F8FF"/>
                </a:solidFill>
              </a:rPr>
              <a:t>artifact types</a:t>
            </a:r>
          </a:p>
        </p:txBody>
      </p:sp>
      <p:sp>
        <p:nvSpPr>
          <p:cNvPr id="38" name="">
            <a:extLst xmlns:a="http://schemas.openxmlformats.org/drawingml/2006/main">
              <a:ext uri="{FF2B5EF4-FFF2-40B4-BE49-F238E27FC236}">
                <a16:creationId xmlns:a16="http://schemas.microsoft.com/office/drawing/2014/main" id="{AAB754EE-D8C0-4CA4-9258-79FBCABD6513}"/>
              </a:ext>
            </a:extLst>
          </p:cNvPr>
          <p:cNvSpPr>
            <a:spLocks xmlns:a="http://schemas.openxmlformats.org/drawingml/2006/main" noGrp="1"/>
          </p:cNvSpPr>
          <p:nvPr/>
        </p:nvSpPr>
        <p:spPr>
          <a:xfrm xmlns:a="http://schemas.openxmlformats.org/drawingml/2006/main">
            <a:off x="8020050" y="19621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A9B7CC"/>
                </a:solidFill>
              </a:defRPr>
            </a:pPr>
            <a:r>
              <a:rPr sz="1125" b="0">
                <a:solidFill>
                  <a:srgbClr val="A9B7CC"/>
                </a:solidFill>
              </a:rPr>
              <a:t>MT5 EA + indicator, Pine strategy + indicator</a:t>
            </a:r>
          </a:p>
        </p:txBody>
      </p:sp>
      <p:sp>
        <p:nvSpPr>
          <p:cNvPr id="39" name="">
            <a:extLst xmlns:a="http://schemas.openxmlformats.org/drawingml/2006/main">
              <a:ext uri="{FF2B5EF4-FFF2-40B4-BE49-F238E27FC236}">
                <a16:creationId xmlns:a16="http://schemas.microsoft.com/office/drawing/2014/main" id="{AF0B8C25-1EEC-47C8-AFFE-D1B56D64CC91}"/>
              </a:ext>
            </a:extLst>
          </p:cNvPr>
          <p:cNvSpPr>
            <a:spLocks xmlns:a="http://schemas.openxmlformats.org/drawingml/2006/main" noGrp="1"/>
          </p:cNvSpPr>
          <p:nvPr/>
        </p:nvSpPr>
        <p:spPr>
          <a:xfrm xmlns:a="http://schemas.openxmlformats.org/drawingml/2006/main">
            <a:off x="6762750" y="2619375"/>
            <a:ext cx="1047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3000" b="1">
                <a:solidFill>
                  <a:srgbClr val="A855F7"/>
                </a:solidFill>
              </a:defRPr>
            </a:pPr>
            <a:r>
              <a:rPr sz="3000" b="1">
                <a:solidFill>
                  <a:srgbClr val="A855F7"/>
                </a:solidFill>
              </a:rPr>
              <a:t>5</a:t>
            </a:r>
          </a:p>
        </p:txBody>
      </p:sp>
      <p:sp>
        <p:nvSpPr>
          <p:cNvPr id="40" name="">
            <a:extLst xmlns:a="http://schemas.openxmlformats.org/drawingml/2006/main">
              <a:ext uri="{FF2B5EF4-FFF2-40B4-BE49-F238E27FC236}">
                <a16:creationId xmlns:a16="http://schemas.microsoft.com/office/drawing/2014/main" id="{B75CD3AB-3C98-4883-B62B-18C570632941}"/>
              </a:ext>
            </a:extLst>
          </p:cNvPr>
          <p:cNvSpPr>
            <a:spLocks xmlns:a="http://schemas.openxmlformats.org/drawingml/2006/main" noGrp="1"/>
          </p:cNvSpPr>
          <p:nvPr/>
        </p:nvSpPr>
        <p:spPr>
          <a:xfrm xmlns:a="http://schemas.openxmlformats.org/drawingml/2006/main">
            <a:off x="8020050" y="26479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8FF"/>
                </a:solidFill>
              </a:defRPr>
            </a:pPr>
            <a:r>
              <a:rPr sz="1500" b="1">
                <a:solidFill>
                  <a:srgbClr val="F4F8FF"/>
                </a:solidFill>
              </a:rPr>
              <a:t>admin-managed AI agents</a:t>
            </a:r>
          </a:p>
        </p:txBody>
      </p:sp>
      <p:sp>
        <p:nvSpPr>
          <p:cNvPr id="41" name="">
            <a:extLst xmlns:a="http://schemas.openxmlformats.org/drawingml/2006/main">
              <a:ext uri="{FF2B5EF4-FFF2-40B4-BE49-F238E27FC236}">
                <a16:creationId xmlns:a16="http://schemas.microsoft.com/office/drawing/2014/main" id="{4743C3F6-6CE3-46E8-B07A-3034A43528C2}"/>
              </a:ext>
            </a:extLst>
          </p:cNvPr>
          <p:cNvSpPr>
            <a:spLocks xmlns:a="http://schemas.openxmlformats.org/drawingml/2006/main" noGrp="1"/>
          </p:cNvSpPr>
          <p:nvPr/>
        </p:nvSpPr>
        <p:spPr>
          <a:xfrm xmlns:a="http://schemas.openxmlformats.org/drawingml/2006/main">
            <a:off x="8020050" y="29622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A9B7CC"/>
                </a:solidFill>
              </a:defRPr>
            </a:pPr>
            <a:r>
              <a:rPr sz="1125" b="0">
                <a:solidFill>
                  <a:srgbClr val="A9B7CC"/>
                </a:solidFill>
              </a:rPr>
              <a:t>Four generation roles plus the project copilot</a:t>
            </a:r>
          </a:p>
        </p:txBody>
      </p:sp>
      <p:sp>
        <p:nvSpPr>
          <p:cNvPr id="42" name="">
            <a:extLst xmlns:a="http://schemas.openxmlformats.org/drawingml/2006/main">
              <a:ext uri="{FF2B5EF4-FFF2-40B4-BE49-F238E27FC236}">
                <a16:creationId xmlns:a16="http://schemas.microsoft.com/office/drawing/2014/main" id="{95C807FE-312F-40BC-8D48-E3FB9A7FC82C}"/>
              </a:ext>
            </a:extLst>
          </p:cNvPr>
          <p:cNvSpPr>
            <a:spLocks xmlns:a="http://schemas.openxmlformats.org/drawingml/2006/main" noGrp="1"/>
          </p:cNvSpPr>
          <p:nvPr/>
        </p:nvSpPr>
        <p:spPr>
          <a:xfrm xmlns:a="http://schemas.openxmlformats.org/drawingml/2006/main">
            <a:off x="6762750" y="3619500"/>
            <a:ext cx="1047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3000" b="1">
                <a:solidFill>
                  <a:srgbClr val="32D583"/>
                </a:solidFill>
              </a:defRPr>
            </a:pPr>
            <a:r>
              <a:rPr sz="3000" b="1">
                <a:solidFill>
                  <a:srgbClr val="32D583"/>
                </a:solidFill>
              </a:rPr>
              <a:t>22</a:t>
            </a:r>
          </a:p>
        </p:txBody>
      </p:sp>
      <p:sp>
        <p:nvSpPr>
          <p:cNvPr id="43" name="">
            <a:extLst xmlns:a="http://schemas.openxmlformats.org/drawingml/2006/main">
              <a:ext uri="{FF2B5EF4-FFF2-40B4-BE49-F238E27FC236}">
                <a16:creationId xmlns:a16="http://schemas.microsoft.com/office/drawing/2014/main" id="{A46593D5-5801-468D-A8B6-7A0EA8042F5A}"/>
              </a:ext>
            </a:extLst>
          </p:cNvPr>
          <p:cNvSpPr>
            <a:spLocks xmlns:a="http://schemas.openxmlformats.org/drawingml/2006/main" noGrp="1"/>
          </p:cNvSpPr>
          <p:nvPr/>
        </p:nvSpPr>
        <p:spPr>
          <a:xfrm xmlns:a="http://schemas.openxmlformats.org/drawingml/2006/main">
            <a:off x="8020050" y="36480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8FF"/>
                </a:solidFill>
              </a:defRPr>
            </a:pPr>
            <a:r>
              <a:rPr sz="1500" b="1">
                <a:solidFill>
                  <a:srgbClr val="F4F8FF"/>
                </a:solidFill>
              </a:rPr>
              <a:t>automated tests passing</a:t>
            </a:r>
          </a:p>
        </p:txBody>
      </p:sp>
      <p:sp>
        <p:nvSpPr>
          <p:cNvPr id="44" name="">
            <a:extLst xmlns:a="http://schemas.openxmlformats.org/drawingml/2006/main">
              <a:ext uri="{FF2B5EF4-FFF2-40B4-BE49-F238E27FC236}">
                <a16:creationId xmlns:a16="http://schemas.microsoft.com/office/drawing/2014/main" id="{CEE9F6B4-3566-4AD6-B5E7-C908B57677EA}"/>
              </a:ext>
            </a:extLst>
          </p:cNvPr>
          <p:cNvSpPr>
            <a:spLocks xmlns:a="http://schemas.openxmlformats.org/drawingml/2006/main" noGrp="1"/>
          </p:cNvSpPr>
          <p:nvPr/>
        </p:nvSpPr>
        <p:spPr>
          <a:xfrm xmlns:a="http://schemas.openxmlformats.org/drawingml/2006/main">
            <a:off x="8020050" y="39624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A9B7CC"/>
                </a:solidFill>
              </a:defRPr>
            </a:pPr>
            <a:r>
              <a:rPr sz="1125" b="0">
                <a:solidFill>
                  <a:srgbClr val="A9B7CC"/>
                </a:solidFill>
              </a:rPr>
              <a:t>Accounts, AI config, builder, core, and marketplace</a:t>
            </a:r>
          </a:p>
        </p:txBody>
      </p:sp>
      <p:sp>
        <p:nvSpPr>
          <p:cNvPr id="45" name="">
            <a:extLst xmlns:a="http://schemas.openxmlformats.org/drawingml/2006/main">
              <a:ext uri="{FF2B5EF4-FFF2-40B4-BE49-F238E27FC236}">
                <a16:creationId xmlns:a16="http://schemas.microsoft.com/office/drawing/2014/main" id="{AD8EC25E-5F9F-4CC7-B193-283CD0432F9A}"/>
              </a:ext>
            </a:extLst>
          </p:cNvPr>
          <p:cNvSpPr>
            <a:spLocks xmlns:a="http://schemas.openxmlformats.org/drawingml/2006/main" noGrp="1"/>
          </p:cNvSpPr>
          <p:nvPr/>
        </p:nvSpPr>
        <p:spPr>
          <a:xfrm xmlns:a="http://schemas.openxmlformats.org/drawingml/2006/main">
            <a:off x="6762750" y="4619625"/>
            <a:ext cx="1047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100" b="1">
                <a:solidFill>
                  <a:srgbClr val="F8B84E"/>
                </a:solidFill>
              </a:defRPr>
            </a:pPr>
            <a:r>
              <a:rPr sz="2100" b="1">
                <a:solidFill>
                  <a:srgbClr val="F8B84E"/>
                </a:solidFill>
              </a:rPr>
              <a:t>LIVE</a:t>
            </a:r>
          </a:p>
        </p:txBody>
      </p:sp>
      <p:sp>
        <p:nvSpPr>
          <p:cNvPr id="46" name="">
            <a:extLst xmlns:a="http://schemas.openxmlformats.org/drawingml/2006/main">
              <a:ext uri="{FF2B5EF4-FFF2-40B4-BE49-F238E27FC236}">
                <a16:creationId xmlns:a16="http://schemas.microsoft.com/office/drawing/2014/main" id="{5807A10A-AF38-4C50-B5EB-8CE7AAD8CC07}"/>
              </a:ext>
            </a:extLst>
          </p:cNvPr>
          <p:cNvSpPr>
            <a:spLocks xmlns:a="http://schemas.openxmlformats.org/drawingml/2006/main" noGrp="1"/>
          </p:cNvSpPr>
          <p:nvPr/>
        </p:nvSpPr>
        <p:spPr>
          <a:xfrm xmlns:a="http://schemas.openxmlformats.org/drawingml/2006/main">
            <a:off x="8020050" y="46482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4F8FF"/>
                </a:solidFill>
              </a:defRPr>
            </a:pPr>
            <a:r>
              <a:rPr sz="1500" b="1">
                <a:solidFill>
                  <a:srgbClr val="F4F8FF"/>
                </a:solidFill>
              </a:rPr>
              <a:t>Gemini integration verified</a:t>
            </a:r>
          </a:p>
        </p:txBody>
      </p:sp>
      <p:sp>
        <p:nvSpPr>
          <p:cNvPr id="47" name="">
            <a:extLst xmlns:a="http://schemas.openxmlformats.org/drawingml/2006/main">
              <a:ext uri="{FF2B5EF4-FFF2-40B4-BE49-F238E27FC236}">
                <a16:creationId xmlns:a16="http://schemas.microsoft.com/office/drawing/2014/main" id="{E5451920-9B56-4E34-A326-E6A11C6A0E47}"/>
              </a:ext>
            </a:extLst>
          </p:cNvPr>
          <p:cNvSpPr>
            <a:spLocks xmlns:a="http://schemas.openxmlformats.org/drawingml/2006/main" noGrp="1"/>
          </p:cNvSpPr>
          <p:nvPr/>
        </p:nvSpPr>
        <p:spPr>
          <a:xfrm xmlns:a="http://schemas.openxmlformats.org/drawingml/2006/main">
            <a:off x="8020050" y="496252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A9B7CC"/>
                </a:solidFill>
              </a:defRPr>
            </a:pPr>
            <a:r>
              <a:rPr sz="1125" b="0">
                <a:solidFill>
                  <a:srgbClr val="A9B7CC"/>
                </a:solidFill>
              </a:rPr>
              <a:t>A real fix proposal reduced internal diagnostics from 4 to 1</a:t>
            </a:r>
          </a:p>
        </p:txBody>
      </p:sp>
      <p:sp>
        <p:nvSpPr>
          <p:cNvPr id="48" name="">
            <a:extLst xmlns:a="http://schemas.openxmlformats.org/drawingml/2006/main">
              <a:ext uri="{FF2B5EF4-FFF2-40B4-BE49-F238E27FC236}">
                <a16:creationId xmlns:a16="http://schemas.microsoft.com/office/drawing/2014/main" id="{224EF31D-61FC-4A66-8CDC-9301C8939DFA}"/>
              </a:ext>
            </a:extLst>
          </p:cNvPr>
          <p:cNvSpPr>
            <a:spLocks xmlns:a="http://schemas.openxmlformats.org/drawingml/2006/main" noGrp="1"/>
          </p:cNvSpPr>
          <p:nvPr/>
        </p:nvSpPr>
        <p:spPr>
          <a:xfrm xmlns:a="http://schemas.openxmlformats.org/drawingml/2006/main">
            <a:off x="533400" y="5600700"/>
            <a:ext cx="3067050" cy="285750"/>
          </a:xfrm>
          <a:prstGeom xmlns:a="http://schemas.openxmlformats.org/drawingml/2006/main" prst="roundRect">
            <a:avLst>
              <a:gd name="adj" fmla="val 40000"/>
            </a:avLst>
          </a:prstGeom>
          <a:solidFill xmlns:a="http://schemas.openxmlformats.org/drawingml/2006/main">
            <a:srgbClr val="081425"/>
          </a:solidFill>
          <a:ln xmlns:a="http://schemas.openxmlformats.org/drawingml/2006/main" w="9525">
            <a:solidFill>
              <a:srgbClr val="F8B84E"/>
            </a:solidFill>
            <a:prstDash val="solid"/>
          </a:ln>
        </p:spPr>
      </p:sp>
      <p:sp>
        <p:nvSpPr>
          <p:cNvPr id="49" name="">
            <a:extLst xmlns:a="http://schemas.openxmlformats.org/drawingml/2006/main">
              <a:ext uri="{FF2B5EF4-FFF2-40B4-BE49-F238E27FC236}">
                <a16:creationId xmlns:a16="http://schemas.microsoft.com/office/drawing/2014/main" id="{047C60DC-193C-40FA-BF94-BA034E7A0C8F}"/>
              </a:ext>
            </a:extLst>
          </p:cNvPr>
          <p:cNvSpPr>
            <a:spLocks xmlns:a="http://schemas.openxmlformats.org/drawingml/2006/main" noGrp="1"/>
          </p:cNvSpPr>
          <p:nvPr/>
        </p:nvSpPr>
        <p:spPr>
          <a:xfrm xmlns:a="http://schemas.openxmlformats.org/drawingml/2006/main">
            <a:off x="533400" y="5657850"/>
            <a:ext cx="3067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8B84E"/>
                </a:solidFill>
              </a:defRPr>
            </a:pPr>
            <a:r>
              <a:rPr sz="900" b="1">
                <a:solidFill>
                  <a:srgbClr val="F8B84E"/>
                </a:solidFill>
              </a:rPr>
              <a:t>INTERNAL VERIFICATION—NOT CUSTOMER TRACTION</a:t>
            </a:r>
          </a:p>
        </p:txBody>
      </p:sp>
      <p:sp>
        <p:nvSpPr>
          <p:cNvPr id="50" name="">
            <a:extLst xmlns:a="http://schemas.openxmlformats.org/drawingml/2006/main">
              <a:ext uri="{FF2B5EF4-FFF2-40B4-BE49-F238E27FC236}">
                <a16:creationId xmlns:a16="http://schemas.microsoft.com/office/drawing/2014/main" id="{55C6EC55-D7C8-4E0B-8826-3AE20C7155C6}"/>
              </a:ext>
            </a:extLst>
          </p:cNvPr>
          <p:cNvSpPr>
            <a:spLocks xmlns:a="http://schemas.openxmlformats.org/drawingml/2006/main" noGrp="1"/>
          </p:cNvSpPr>
          <p:nvPr/>
        </p:nvSpPr>
        <p:spPr>
          <a:xfrm xmlns:a="http://schemas.openxmlformats.org/drawingml/2006/main">
            <a:off x="3848100" y="5600700"/>
            <a:ext cx="746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B7CC"/>
                </a:solidFill>
              </a:defRPr>
            </a:pPr>
            <a:r>
              <a:rPr sz="1200" b="1">
                <a:solidFill>
                  <a:srgbClr val="A9B7CC"/>
                </a:solidFill>
              </a:rPr>
              <a:t>Implemented: authentication, projects, generation, versioned code, diagnostics, copilot proposals, admin AI configuration, catalog, evidence pages, and downloads.</a:t>
            </a:r>
          </a:p>
        </p:txBody>
      </p:sp>
    </p:spTree>
    <p:extLst>
      <p:ext uri="{BB962C8B-B14F-4D97-AF65-F5344CB8AC3E}">
        <p14:creationId xmlns:p14="http://schemas.microsoft.com/office/powerpoint/2010/main" val="1337855537"/>
      </p:ext>
    </p:extLst>
  </p:cSld>
</p:sld>
</file>

<file path=ppt/slides/slide13.xml><?xml version="1.0" encoding="utf-8"?>
<p:sld xmlns:p="http://schemas.openxmlformats.org/presentationml/2006/main">
  <p:cSld>
    <p:bg>
      <p:bgPr>
        <a:solidFill xmlns:a="http://schemas.openxmlformats.org/drawingml/2006/main">
          <a:srgbClr val="040812"/>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E2FE7D55-2269-4CD8-8A6C-D7D93DF82E37}"/>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33A24D-DD8F-4DE3-A4F1-A8D857135BAD}"/>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3FBA2EC-EA26-4B0F-9DAE-3F404F57946B}"/>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255A671-F454-4DB8-BD80-B6DB1595A524}"/>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C177EB5-8CC0-4240-B404-EE47438ECD63}"/>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069A125-7FDF-4D27-B661-A9E9F314424D}"/>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62FE99E-3FA4-442C-A68D-3BE7D22C9D3E}"/>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E90EB8-FC20-4659-926D-6FFB738F18B0}"/>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2C57C9B-A61C-4B93-A15D-09D917AA5595}"/>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BB43D17-3884-4119-91B1-53CEA321EA82}"/>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C5E4DD3-ED34-44BE-BC78-2192317EF211}"/>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2A3EE4A-032E-4DBF-9378-BA52E930BB3B}"/>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421FE1D-B65B-4990-AF42-A76FDB275758}"/>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3615162-7CDD-4E7A-9678-73A49DC2DEDD}"/>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3D0D036-2917-4656-98DB-2A82DEE70C5E}"/>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BA18875-922E-4029-8732-3CDC47948262}"/>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D08B7B2-57AE-4D82-BC94-1E570C64EB28}"/>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F7CC0A5-E993-41F4-9A56-67F1BA57DF20}"/>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2FE89FC-B8CA-46E8-A6EE-76E99CF178E6}"/>
              </a:ext>
            </a:extLst>
          </p:cNvPr>
          <p:cNvSpPr>
            <a:spLocks xmlns:a="http://schemas.openxmlformats.org/drawingml/2006/main" noGrp="1"/>
          </p:cNvSpPr>
          <p:nvPr/>
        </p:nvSpPr>
        <p:spPr>
          <a:xfrm xmlns:a="http://schemas.openxmlformats.org/drawingml/2006/main">
            <a:off x="0" y="76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FCD86DB-C9B6-43D6-8465-E288C0B91D66}"/>
              </a:ext>
            </a:extLst>
          </p:cNvPr>
          <p:cNvSpPr>
            <a:spLocks xmlns:a="http://schemas.openxmlformats.org/drawingml/2006/main" noGrp="1"/>
          </p:cNvSpPr>
          <p:nvPr/>
        </p:nvSpPr>
        <p:spPr>
          <a:xfrm xmlns:a="http://schemas.openxmlformats.org/drawingml/2006/main">
            <a:off x="0" y="152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0C1FB63-E5FF-4E56-8205-987CBC6CD956}"/>
              </a:ext>
            </a:extLst>
          </p:cNvPr>
          <p:cNvSpPr>
            <a:spLocks xmlns:a="http://schemas.openxmlformats.org/drawingml/2006/main" noGrp="1"/>
          </p:cNvSpPr>
          <p:nvPr/>
        </p:nvSpPr>
        <p:spPr>
          <a:xfrm xmlns:a="http://schemas.openxmlformats.org/drawingml/2006/main">
            <a:off x="0" y="228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921D20A-D9D4-411C-84A6-4FE431860EE2}"/>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18F53E3-EE06-42B5-B39A-4E8A447108E6}"/>
              </a:ext>
            </a:extLst>
          </p:cNvPr>
          <p:cNvSpPr>
            <a:spLocks xmlns:a="http://schemas.openxmlformats.org/drawingml/2006/main" noGrp="1"/>
          </p:cNvSpPr>
          <p:nvPr/>
        </p:nvSpPr>
        <p:spPr>
          <a:xfrm xmlns:a="http://schemas.openxmlformats.org/drawingml/2006/main">
            <a:off x="0" y="3810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D8C87B0-4F48-4C28-90AD-489FA8B917C2}"/>
              </a:ext>
            </a:extLst>
          </p:cNvPr>
          <p:cNvSpPr>
            <a:spLocks xmlns:a="http://schemas.openxmlformats.org/drawingml/2006/main" noGrp="1"/>
          </p:cNvSpPr>
          <p:nvPr/>
        </p:nvSpPr>
        <p:spPr>
          <a:xfrm xmlns:a="http://schemas.openxmlformats.org/drawingml/2006/main">
            <a:off x="0" y="457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FF2863D-8923-49DC-85AB-1FBA29EA9BBC}"/>
              </a:ext>
            </a:extLst>
          </p:cNvPr>
          <p:cNvSpPr>
            <a:spLocks xmlns:a="http://schemas.openxmlformats.org/drawingml/2006/main" noGrp="1"/>
          </p:cNvSpPr>
          <p:nvPr/>
        </p:nvSpPr>
        <p:spPr>
          <a:xfrm xmlns:a="http://schemas.openxmlformats.org/drawingml/2006/main">
            <a:off x="0" y="533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51284B0-FAF7-45B1-8A91-1C3DD0803AB3}"/>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B9D376A-FD1C-4EE0-8F3D-668B753B69CA}"/>
              </a:ext>
            </a:extLst>
          </p:cNvPr>
          <p:cNvSpPr>
            <a:spLocks xmlns:a="http://schemas.openxmlformats.org/drawingml/2006/main" noGrp="1"/>
          </p:cNvSpPr>
          <p:nvPr/>
        </p:nvSpPr>
        <p:spPr>
          <a:xfrm xmlns:a="http://schemas.openxmlformats.org/drawingml/2006/main">
            <a:off x="0" y="685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45CC1E9-C148-48B7-98FE-D7EE4A92AC8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E332C00-A368-44D3-B909-95BCDCFC348A}"/>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PROPOSED BUSINESS MODEL</a:t>
            </a:r>
          </a:p>
        </p:txBody>
      </p:sp>
      <p:sp>
        <p:nvSpPr>
          <p:cNvPr id="30" name="slide-13-title">
            <a:extLst xmlns:a="http://schemas.openxmlformats.org/drawingml/2006/main">
              <a:ext uri="{FF2B5EF4-FFF2-40B4-BE49-F238E27FC236}">
                <a16:creationId xmlns:a16="http://schemas.microsoft.com/office/drawing/2014/main" id="{809B31B7-C90A-490B-896F-089C9EE63EF6}"/>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4F8FF"/>
                </a:solidFill>
              </a:defRPr>
            </a:pPr>
            <a:r>
              <a:rPr sz="2700" b="1">
                <a:solidFill>
                  <a:srgbClr val="F4F8FF"/>
                </a:solidFill>
              </a:rPr>
              <a:t>Revenue can combine creation, usage, and commerce</a:t>
            </a:r>
          </a:p>
        </p:txBody>
      </p:sp>
      <p:sp>
        <p:nvSpPr>
          <p:cNvPr id="31" name="">
            <a:extLst xmlns:a="http://schemas.openxmlformats.org/drawingml/2006/main">
              <a:ext uri="{FF2B5EF4-FFF2-40B4-BE49-F238E27FC236}">
                <a16:creationId xmlns:a16="http://schemas.microsoft.com/office/drawing/2014/main" id="{786B3A41-3875-4598-9DCD-2F0084BE7F0E}"/>
              </a:ext>
            </a:extLst>
          </p:cNvPr>
          <p:cNvSpPr>
            <a:spLocks xmlns:a="http://schemas.openxmlformats.org/drawingml/2006/main" noGrp="1"/>
          </p:cNvSpPr>
          <p:nvPr/>
        </p:nvSpPr>
        <p:spPr>
          <a:xfrm xmlns:a="http://schemas.openxmlformats.org/drawingml/2006/main">
            <a:off x="533400" y="1257300"/>
            <a:ext cx="11125200" cy="952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589421C-9CE2-464A-A84A-6226A8EE90A3}"/>
              </a:ext>
            </a:extLst>
          </p:cNvPr>
          <p:cNvSpPr>
            <a:spLocks xmlns:a="http://schemas.openxmlformats.org/drawingml/2006/main" noGrp="1"/>
          </p:cNvSpPr>
          <p:nvPr/>
        </p:nvSpPr>
        <p:spPr>
          <a:xfrm xmlns:a="http://schemas.openxmlformats.org/drawingml/2006/main">
            <a:off x="533400" y="65341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4748B"/>
                </a:solidFill>
              </a:defRPr>
            </a:pPr>
            <a:r>
              <a:rPr sz="825" b="1">
                <a:solidFill>
                  <a:srgbClr val="64748B"/>
                </a:solidFill>
              </a:rPr>
              <a:t>AAA EAs BUILDER</a:t>
            </a:r>
          </a:p>
        </p:txBody>
      </p:sp>
      <p:sp>
        <p:nvSpPr>
          <p:cNvPr id="33" name="">
            <a:extLst xmlns:a="http://schemas.openxmlformats.org/drawingml/2006/main">
              <a:ext uri="{FF2B5EF4-FFF2-40B4-BE49-F238E27FC236}">
                <a16:creationId xmlns:a16="http://schemas.microsoft.com/office/drawing/2014/main" id="{D28231DF-B511-4E7C-852E-C3D49FDB01C4}"/>
              </a:ext>
            </a:extLst>
          </p:cNvPr>
          <p:cNvSpPr>
            <a:spLocks xmlns:a="http://schemas.openxmlformats.org/drawingml/2006/main" noGrp="1"/>
          </p:cNvSpPr>
          <p:nvPr/>
        </p:nvSpPr>
        <p:spPr>
          <a:xfrm xmlns:a="http://schemas.openxmlformats.org/drawingml/2006/main">
            <a:off x="11144250" y="65151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4748B"/>
                </a:solidFill>
              </a:defRPr>
            </a:pPr>
            <a:r>
              <a:rPr sz="825" b="1">
                <a:solidFill>
                  <a:srgbClr val="64748B"/>
                </a:solidFill>
              </a:rPr>
              <a:t>13</a:t>
            </a:r>
          </a:p>
        </p:txBody>
      </p:sp>
      <p:sp>
        <p:nvSpPr>
          <p:cNvPr id="34" name="">
            <a:extLst xmlns:a="http://schemas.openxmlformats.org/drawingml/2006/main">
              <a:ext uri="{FF2B5EF4-FFF2-40B4-BE49-F238E27FC236}">
                <a16:creationId xmlns:a16="http://schemas.microsoft.com/office/drawing/2014/main" id="{38FB461B-273C-4E41-8A06-843D1D871A41}"/>
              </a:ext>
            </a:extLst>
          </p:cNvPr>
          <p:cNvSpPr>
            <a:spLocks xmlns:a="http://schemas.openxmlformats.org/drawingml/2006/main" noGrp="1"/>
          </p:cNvSpPr>
          <p:nvPr/>
        </p:nvSpPr>
        <p:spPr>
          <a:xfrm xmlns:a="http://schemas.openxmlformats.org/drawingml/2006/main">
            <a:off x="533400" y="15049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A9B7CC"/>
                </a:solidFill>
              </a:defRPr>
            </a:pPr>
            <a:r>
              <a:rPr sz="1650" b="0">
                <a:solidFill>
                  <a:srgbClr val="A9B7CC"/>
                </a:solidFill>
              </a:rPr>
              <a:t>The same platform can monetize both software creation and distribution without depending on a single revenue stream.</a:t>
            </a:r>
          </a:p>
        </p:txBody>
      </p:sp>
      <p:sp>
        <p:nvSpPr>
          <p:cNvPr id="35" name="">
            <a:extLst xmlns:a="http://schemas.openxmlformats.org/drawingml/2006/main">
              <a:ext uri="{FF2B5EF4-FFF2-40B4-BE49-F238E27FC236}">
                <a16:creationId xmlns:a16="http://schemas.microsoft.com/office/drawing/2014/main" id="{2CDFAB4F-E166-49C4-9064-8D1B11CDE1EC}"/>
              </a:ext>
            </a:extLst>
          </p:cNvPr>
          <p:cNvSpPr>
            <a:spLocks xmlns:a="http://schemas.openxmlformats.org/drawingml/2006/main" noGrp="1"/>
          </p:cNvSpPr>
          <p:nvPr/>
        </p:nvSpPr>
        <p:spPr>
          <a:xfrm xmlns:a="http://schemas.openxmlformats.org/drawingml/2006/main">
            <a:off x="533400" y="2362200"/>
            <a:ext cx="2476500" cy="2857500"/>
          </a:xfrm>
          <a:prstGeom xmlns:a="http://schemas.openxmlformats.org/drawingml/2006/main" prst="roundRect">
            <a:avLst>
              <a:gd name="adj" fmla="val 4615"/>
            </a:avLst>
          </a:prstGeom>
          <a:solidFill xmlns:a="http://schemas.openxmlformats.org/drawingml/2006/main">
            <a:srgbClr val="081425"/>
          </a:solidFill>
          <a:ln xmlns:a="http://schemas.openxmlformats.org/drawingml/2006/main" w="9525">
            <a:solidFill>
              <a:srgbClr val="10DFF2"/>
            </a:solidFill>
            <a:prstDash val="solid"/>
          </a:ln>
        </p:spPr>
      </p:sp>
      <p:sp>
        <p:nvSpPr>
          <p:cNvPr id="36" name="">
            <a:extLst xmlns:a="http://schemas.openxmlformats.org/drawingml/2006/main">
              <a:ext uri="{FF2B5EF4-FFF2-40B4-BE49-F238E27FC236}">
                <a16:creationId xmlns:a16="http://schemas.microsoft.com/office/drawing/2014/main" id="{916B5603-54E1-4232-ABC3-CF7EC9E9F5F2}"/>
              </a:ext>
            </a:extLst>
          </p:cNvPr>
          <p:cNvSpPr>
            <a:spLocks xmlns:a="http://schemas.openxmlformats.org/drawingml/2006/main" noGrp="1"/>
          </p:cNvSpPr>
          <p:nvPr/>
        </p:nvSpPr>
        <p:spPr>
          <a:xfrm xmlns:a="http://schemas.openxmlformats.org/drawingml/2006/main">
            <a:off x="742950" y="25717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SUBSCRIPTION</a:t>
            </a:r>
          </a:p>
        </p:txBody>
      </p:sp>
      <p:sp>
        <p:nvSpPr>
          <p:cNvPr id="37" name="">
            <a:extLst xmlns:a="http://schemas.openxmlformats.org/drawingml/2006/main">
              <a:ext uri="{FF2B5EF4-FFF2-40B4-BE49-F238E27FC236}">
                <a16:creationId xmlns:a16="http://schemas.microsoft.com/office/drawing/2014/main" id="{C88FF6D6-15FE-4447-AB80-18F5C4B5E21A}"/>
              </a:ext>
            </a:extLst>
          </p:cNvPr>
          <p:cNvSpPr>
            <a:spLocks xmlns:a="http://schemas.openxmlformats.org/drawingml/2006/main" noGrp="1"/>
          </p:cNvSpPr>
          <p:nvPr/>
        </p:nvSpPr>
        <p:spPr>
          <a:xfrm xmlns:a="http://schemas.openxmlformats.org/drawingml/2006/main">
            <a:off x="742950" y="3028950"/>
            <a:ext cx="2057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4F8FF"/>
                </a:solidFill>
              </a:defRPr>
            </a:pPr>
            <a:r>
              <a:rPr sz="1725" b="1">
                <a:solidFill>
                  <a:srgbClr val="F4F8FF"/>
                </a:solidFill>
              </a:rPr>
              <a:t>Builder access</a:t>
            </a:r>
          </a:p>
        </p:txBody>
      </p:sp>
      <p:sp>
        <p:nvSpPr>
          <p:cNvPr id="38" name="">
            <a:extLst xmlns:a="http://schemas.openxmlformats.org/drawingml/2006/main">
              <a:ext uri="{FF2B5EF4-FFF2-40B4-BE49-F238E27FC236}">
                <a16:creationId xmlns:a16="http://schemas.microsoft.com/office/drawing/2014/main" id="{10ED6F67-49BA-4B1D-9A48-6D6687B8808B}"/>
              </a:ext>
            </a:extLst>
          </p:cNvPr>
          <p:cNvSpPr>
            <a:spLocks xmlns:a="http://schemas.openxmlformats.org/drawingml/2006/main" noGrp="1"/>
          </p:cNvSpPr>
          <p:nvPr/>
        </p:nvSpPr>
        <p:spPr>
          <a:xfrm xmlns:a="http://schemas.openxmlformats.org/drawingml/2006/main">
            <a:off x="742950" y="3848100"/>
            <a:ext cx="20574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9B7CC"/>
                </a:solidFill>
              </a:defRPr>
            </a:pPr>
            <a:r>
              <a:rPr sz="1275" b="0">
                <a:solidFill>
                  <a:srgbClr val="A9B7CC"/>
                </a:solidFill>
              </a:rPr>
              <a:t>Projects, saved versions, templates, and included monthly generations</a:t>
            </a:r>
          </a:p>
        </p:txBody>
      </p:sp>
      <p:sp>
        <p:nvSpPr>
          <p:cNvPr id="39" name="">
            <a:extLst xmlns:a="http://schemas.openxmlformats.org/drawingml/2006/main">
              <a:ext uri="{FF2B5EF4-FFF2-40B4-BE49-F238E27FC236}">
                <a16:creationId xmlns:a16="http://schemas.microsoft.com/office/drawing/2014/main" id="{0F726615-079C-457E-BD7C-F5ABAEC5972B}"/>
              </a:ext>
            </a:extLst>
          </p:cNvPr>
          <p:cNvSpPr>
            <a:spLocks xmlns:a="http://schemas.openxmlformats.org/drawingml/2006/main" noGrp="1"/>
          </p:cNvSpPr>
          <p:nvPr/>
        </p:nvSpPr>
        <p:spPr>
          <a:xfrm xmlns:a="http://schemas.openxmlformats.org/drawingml/2006/main">
            <a:off x="3314700" y="2362200"/>
            <a:ext cx="2476500" cy="2857500"/>
          </a:xfrm>
          <a:prstGeom xmlns:a="http://schemas.openxmlformats.org/drawingml/2006/main" prst="roundRect">
            <a:avLst>
              <a:gd name="adj" fmla="val 4615"/>
            </a:avLst>
          </a:prstGeom>
          <a:solidFill xmlns:a="http://schemas.openxmlformats.org/drawingml/2006/main">
            <a:srgbClr val="081425"/>
          </a:solidFill>
          <a:ln xmlns:a="http://schemas.openxmlformats.org/drawingml/2006/main" w="9525">
            <a:solidFill>
              <a:srgbClr val="A855F7"/>
            </a:solidFill>
            <a:prstDash val="solid"/>
          </a:ln>
        </p:spPr>
      </p:sp>
      <p:sp>
        <p:nvSpPr>
          <p:cNvPr id="40" name="">
            <a:extLst xmlns:a="http://schemas.openxmlformats.org/drawingml/2006/main">
              <a:ext uri="{FF2B5EF4-FFF2-40B4-BE49-F238E27FC236}">
                <a16:creationId xmlns:a16="http://schemas.microsoft.com/office/drawing/2014/main" id="{F165DFE4-9C1C-4528-891E-15107B2FC3AB}"/>
              </a:ext>
            </a:extLst>
          </p:cNvPr>
          <p:cNvSpPr>
            <a:spLocks xmlns:a="http://schemas.openxmlformats.org/drawingml/2006/main" noGrp="1"/>
          </p:cNvSpPr>
          <p:nvPr/>
        </p:nvSpPr>
        <p:spPr>
          <a:xfrm xmlns:a="http://schemas.openxmlformats.org/drawingml/2006/main">
            <a:off x="3524250" y="25717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855F7"/>
                </a:solidFill>
              </a:defRPr>
            </a:pPr>
            <a:r>
              <a:rPr sz="1050" b="1">
                <a:solidFill>
                  <a:srgbClr val="A855F7"/>
                </a:solidFill>
              </a:rPr>
              <a:t>USAGE</a:t>
            </a:r>
          </a:p>
        </p:txBody>
      </p:sp>
      <p:sp>
        <p:nvSpPr>
          <p:cNvPr id="41" name="">
            <a:extLst xmlns:a="http://schemas.openxmlformats.org/drawingml/2006/main">
              <a:ext uri="{FF2B5EF4-FFF2-40B4-BE49-F238E27FC236}">
                <a16:creationId xmlns:a16="http://schemas.microsoft.com/office/drawing/2014/main" id="{3390A23B-3AD3-45AB-A6EC-B642CDC24ECE}"/>
              </a:ext>
            </a:extLst>
          </p:cNvPr>
          <p:cNvSpPr>
            <a:spLocks xmlns:a="http://schemas.openxmlformats.org/drawingml/2006/main" noGrp="1"/>
          </p:cNvSpPr>
          <p:nvPr/>
        </p:nvSpPr>
        <p:spPr>
          <a:xfrm xmlns:a="http://schemas.openxmlformats.org/drawingml/2006/main">
            <a:off x="3524250" y="3028950"/>
            <a:ext cx="2057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4F8FF"/>
                </a:solidFill>
              </a:defRPr>
            </a:pPr>
            <a:r>
              <a:rPr sz="1725" b="1">
                <a:solidFill>
                  <a:srgbClr val="F4F8FF"/>
                </a:solidFill>
              </a:rPr>
              <a:t>Advanced AI + validation</a:t>
            </a:r>
          </a:p>
        </p:txBody>
      </p:sp>
      <p:sp>
        <p:nvSpPr>
          <p:cNvPr id="42" name="">
            <a:extLst xmlns:a="http://schemas.openxmlformats.org/drawingml/2006/main">
              <a:ext uri="{FF2B5EF4-FFF2-40B4-BE49-F238E27FC236}">
                <a16:creationId xmlns:a16="http://schemas.microsoft.com/office/drawing/2014/main" id="{DE29BCD8-D3FB-4A39-A58F-5EFA769AB6F4}"/>
              </a:ext>
            </a:extLst>
          </p:cNvPr>
          <p:cNvSpPr>
            <a:spLocks xmlns:a="http://schemas.openxmlformats.org/drawingml/2006/main" noGrp="1"/>
          </p:cNvSpPr>
          <p:nvPr/>
        </p:nvSpPr>
        <p:spPr>
          <a:xfrm xmlns:a="http://schemas.openxmlformats.org/drawingml/2006/main">
            <a:off x="3524250" y="3848100"/>
            <a:ext cx="20574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9B7CC"/>
                </a:solidFill>
              </a:defRPr>
            </a:pPr>
            <a:r>
              <a:rPr sz="1275" b="0">
                <a:solidFill>
                  <a:srgbClr val="A9B7CC"/>
                </a:solidFill>
              </a:rPr>
              <a:t>Additional generation credits, premium models, compilation, and evidence services</a:t>
            </a:r>
          </a:p>
        </p:txBody>
      </p:sp>
      <p:sp>
        <p:nvSpPr>
          <p:cNvPr id="43" name="">
            <a:extLst xmlns:a="http://schemas.openxmlformats.org/drawingml/2006/main">
              <a:ext uri="{FF2B5EF4-FFF2-40B4-BE49-F238E27FC236}">
                <a16:creationId xmlns:a16="http://schemas.microsoft.com/office/drawing/2014/main" id="{31C33254-6BE1-4290-A639-7CFC24521ACA}"/>
              </a:ext>
            </a:extLst>
          </p:cNvPr>
          <p:cNvSpPr>
            <a:spLocks xmlns:a="http://schemas.openxmlformats.org/drawingml/2006/main" noGrp="1"/>
          </p:cNvSpPr>
          <p:nvPr/>
        </p:nvSpPr>
        <p:spPr>
          <a:xfrm xmlns:a="http://schemas.openxmlformats.org/drawingml/2006/main">
            <a:off x="6096000" y="2362200"/>
            <a:ext cx="2476500" cy="2857500"/>
          </a:xfrm>
          <a:prstGeom xmlns:a="http://schemas.openxmlformats.org/drawingml/2006/main" prst="roundRect">
            <a:avLst>
              <a:gd name="adj" fmla="val 4615"/>
            </a:avLst>
          </a:prstGeom>
          <a:solidFill xmlns:a="http://schemas.openxmlformats.org/drawingml/2006/main">
            <a:srgbClr val="081425"/>
          </a:solidFill>
          <a:ln xmlns:a="http://schemas.openxmlformats.org/drawingml/2006/main" w="9525">
            <a:solidFill>
              <a:srgbClr val="32D583"/>
            </a:solidFill>
            <a:prstDash val="solid"/>
          </a:ln>
        </p:spPr>
      </p:sp>
      <p:sp>
        <p:nvSpPr>
          <p:cNvPr id="44" name="">
            <a:extLst xmlns:a="http://schemas.openxmlformats.org/drawingml/2006/main">
              <a:ext uri="{FF2B5EF4-FFF2-40B4-BE49-F238E27FC236}">
                <a16:creationId xmlns:a16="http://schemas.microsoft.com/office/drawing/2014/main" id="{7CF92865-0440-4032-9A9A-AB8680586BFD}"/>
              </a:ext>
            </a:extLst>
          </p:cNvPr>
          <p:cNvSpPr>
            <a:spLocks xmlns:a="http://schemas.openxmlformats.org/drawingml/2006/main" noGrp="1"/>
          </p:cNvSpPr>
          <p:nvPr/>
        </p:nvSpPr>
        <p:spPr>
          <a:xfrm xmlns:a="http://schemas.openxmlformats.org/drawingml/2006/main">
            <a:off x="6305550" y="25717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32D583"/>
                </a:solidFill>
              </a:defRPr>
            </a:pPr>
            <a:r>
              <a:rPr sz="1050" b="1">
                <a:solidFill>
                  <a:srgbClr val="32D583"/>
                </a:solidFill>
              </a:rPr>
              <a:t>MARKETPLACE</a:t>
            </a:r>
          </a:p>
        </p:txBody>
      </p:sp>
      <p:sp>
        <p:nvSpPr>
          <p:cNvPr id="45" name="">
            <a:extLst xmlns:a="http://schemas.openxmlformats.org/drawingml/2006/main">
              <a:ext uri="{FF2B5EF4-FFF2-40B4-BE49-F238E27FC236}">
                <a16:creationId xmlns:a16="http://schemas.microsoft.com/office/drawing/2014/main" id="{C9BBF935-C2A0-445D-AB55-72E101AFA1D3}"/>
              </a:ext>
            </a:extLst>
          </p:cNvPr>
          <p:cNvSpPr>
            <a:spLocks xmlns:a="http://schemas.openxmlformats.org/drawingml/2006/main" noGrp="1"/>
          </p:cNvSpPr>
          <p:nvPr/>
        </p:nvSpPr>
        <p:spPr>
          <a:xfrm xmlns:a="http://schemas.openxmlformats.org/drawingml/2006/main">
            <a:off x="6305550" y="3028950"/>
            <a:ext cx="2057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4F8FF"/>
                </a:solidFill>
              </a:defRPr>
            </a:pPr>
            <a:r>
              <a:rPr sz="1725" b="1">
                <a:solidFill>
                  <a:srgbClr val="F4F8FF"/>
                </a:solidFill>
              </a:rPr>
              <a:t>Transaction take rate</a:t>
            </a:r>
          </a:p>
        </p:txBody>
      </p:sp>
      <p:sp>
        <p:nvSpPr>
          <p:cNvPr id="46" name="">
            <a:extLst xmlns:a="http://schemas.openxmlformats.org/drawingml/2006/main">
              <a:ext uri="{FF2B5EF4-FFF2-40B4-BE49-F238E27FC236}">
                <a16:creationId xmlns:a16="http://schemas.microsoft.com/office/drawing/2014/main" id="{A6B36DC7-E4DD-4827-A8ED-C786330B23B6}"/>
              </a:ext>
            </a:extLst>
          </p:cNvPr>
          <p:cNvSpPr>
            <a:spLocks xmlns:a="http://schemas.openxmlformats.org/drawingml/2006/main" noGrp="1"/>
          </p:cNvSpPr>
          <p:nvPr/>
        </p:nvSpPr>
        <p:spPr>
          <a:xfrm xmlns:a="http://schemas.openxmlformats.org/drawingml/2006/main">
            <a:off x="6305550" y="3848100"/>
            <a:ext cx="20574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9B7CC"/>
                </a:solidFill>
              </a:defRPr>
            </a:pPr>
            <a:r>
              <a:rPr sz="1275" b="0">
                <a:solidFill>
                  <a:srgbClr val="A9B7CC"/>
                </a:solidFill>
              </a:rPr>
              <a:t>Commission on licensed pre-made EAs, indicators, and strategy products</a:t>
            </a:r>
          </a:p>
        </p:txBody>
      </p:sp>
      <p:sp>
        <p:nvSpPr>
          <p:cNvPr id="47" name="">
            <a:extLst xmlns:a="http://schemas.openxmlformats.org/drawingml/2006/main">
              <a:ext uri="{FF2B5EF4-FFF2-40B4-BE49-F238E27FC236}">
                <a16:creationId xmlns:a16="http://schemas.microsoft.com/office/drawing/2014/main" id="{2961181B-7A7A-4067-890F-27AC7FE6BF2F}"/>
              </a:ext>
            </a:extLst>
          </p:cNvPr>
          <p:cNvSpPr>
            <a:spLocks xmlns:a="http://schemas.openxmlformats.org/drawingml/2006/main" noGrp="1"/>
          </p:cNvSpPr>
          <p:nvPr/>
        </p:nvSpPr>
        <p:spPr>
          <a:xfrm xmlns:a="http://schemas.openxmlformats.org/drawingml/2006/main">
            <a:off x="8877300" y="2362200"/>
            <a:ext cx="2476500" cy="2857500"/>
          </a:xfrm>
          <a:prstGeom xmlns:a="http://schemas.openxmlformats.org/drawingml/2006/main" prst="roundRect">
            <a:avLst>
              <a:gd name="adj" fmla="val 4615"/>
            </a:avLst>
          </a:prstGeom>
          <a:solidFill xmlns:a="http://schemas.openxmlformats.org/drawingml/2006/main">
            <a:srgbClr val="081425"/>
          </a:solidFill>
          <a:ln xmlns:a="http://schemas.openxmlformats.org/drawingml/2006/main" w="9525">
            <a:solidFill>
              <a:srgbClr val="F8B84E"/>
            </a:solidFill>
            <a:prstDash val="solid"/>
          </a:ln>
        </p:spPr>
      </p:sp>
      <p:sp>
        <p:nvSpPr>
          <p:cNvPr id="48" name="">
            <a:extLst xmlns:a="http://schemas.openxmlformats.org/drawingml/2006/main">
              <a:ext uri="{FF2B5EF4-FFF2-40B4-BE49-F238E27FC236}">
                <a16:creationId xmlns:a16="http://schemas.microsoft.com/office/drawing/2014/main" id="{580357A0-E8F1-4043-99EB-C34A09D8F9BB}"/>
              </a:ext>
            </a:extLst>
          </p:cNvPr>
          <p:cNvSpPr>
            <a:spLocks xmlns:a="http://schemas.openxmlformats.org/drawingml/2006/main" noGrp="1"/>
          </p:cNvSpPr>
          <p:nvPr/>
        </p:nvSpPr>
        <p:spPr>
          <a:xfrm xmlns:a="http://schemas.openxmlformats.org/drawingml/2006/main">
            <a:off x="9086850" y="25717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8B84E"/>
                </a:solidFill>
              </a:defRPr>
            </a:pPr>
            <a:r>
              <a:rPr sz="1050" b="1">
                <a:solidFill>
                  <a:srgbClr val="F8B84E"/>
                </a:solidFill>
              </a:rPr>
              <a:t>PREMIUM</a:t>
            </a:r>
          </a:p>
        </p:txBody>
      </p:sp>
      <p:sp>
        <p:nvSpPr>
          <p:cNvPr id="49" name="">
            <a:extLst xmlns:a="http://schemas.openxmlformats.org/drawingml/2006/main">
              <a:ext uri="{FF2B5EF4-FFF2-40B4-BE49-F238E27FC236}">
                <a16:creationId xmlns:a16="http://schemas.microsoft.com/office/drawing/2014/main" id="{FFE178E9-9E83-4D38-8B6B-0BCC2682B951}"/>
              </a:ext>
            </a:extLst>
          </p:cNvPr>
          <p:cNvSpPr>
            <a:spLocks xmlns:a="http://schemas.openxmlformats.org/drawingml/2006/main" noGrp="1"/>
          </p:cNvSpPr>
          <p:nvPr/>
        </p:nvSpPr>
        <p:spPr>
          <a:xfrm xmlns:a="http://schemas.openxmlformats.org/drawingml/2006/main">
            <a:off x="9086850" y="3028950"/>
            <a:ext cx="2057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4F8FF"/>
                </a:solidFill>
              </a:defRPr>
            </a:pPr>
            <a:r>
              <a:rPr sz="1725" b="1">
                <a:solidFill>
                  <a:srgbClr val="F4F8FF"/>
                </a:solidFill>
              </a:rPr>
              <a:t>Vendor and team tools</a:t>
            </a:r>
          </a:p>
        </p:txBody>
      </p:sp>
      <p:sp>
        <p:nvSpPr>
          <p:cNvPr id="50" name="">
            <a:extLst xmlns:a="http://schemas.openxmlformats.org/drawingml/2006/main">
              <a:ext uri="{FF2B5EF4-FFF2-40B4-BE49-F238E27FC236}">
                <a16:creationId xmlns:a16="http://schemas.microsoft.com/office/drawing/2014/main" id="{BC4D29C3-3EDD-41EC-84F5-541096CFED83}"/>
              </a:ext>
            </a:extLst>
          </p:cNvPr>
          <p:cNvSpPr>
            <a:spLocks xmlns:a="http://schemas.openxmlformats.org/drawingml/2006/main" noGrp="1"/>
          </p:cNvSpPr>
          <p:nvPr/>
        </p:nvSpPr>
        <p:spPr>
          <a:xfrm xmlns:a="http://schemas.openxmlformats.org/drawingml/2006/main">
            <a:off x="9086850" y="3848100"/>
            <a:ext cx="20574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A9B7CC"/>
                </a:solidFill>
              </a:defRPr>
            </a:pPr>
            <a:r>
              <a:rPr sz="1275" b="0">
                <a:solidFill>
                  <a:srgbClr val="A9B7CC"/>
                </a:solidFill>
              </a:rPr>
              <a:t>Higher limits, managed publishing, support, analytics, and governance</a:t>
            </a:r>
          </a:p>
        </p:txBody>
      </p:sp>
      <p:sp>
        <p:nvSpPr>
          <p:cNvPr id="51" name="">
            <a:extLst xmlns:a="http://schemas.openxmlformats.org/drawingml/2006/main">
              <a:ext uri="{FF2B5EF4-FFF2-40B4-BE49-F238E27FC236}">
                <a16:creationId xmlns:a16="http://schemas.microsoft.com/office/drawing/2014/main" id="{0E3DAD08-2769-4E27-81C2-7CE6E97C96F4}"/>
              </a:ext>
            </a:extLst>
          </p:cNvPr>
          <p:cNvSpPr>
            <a:spLocks xmlns:a="http://schemas.openxmlformats.org/drawingml/2006/main" noGrp="1"/>
          </p:cNvSpPr>
          <p:nvPr/>
        </p:nvSpPr>
        <p:spPr>
          <a:xfrm xmlns:a="http://schemas.openxmlformats.org/drawingml/2006/main">
            <a:off x="533400" y="5562600"/>
            <a:ext cx="10896600" cy="552450"/>
          </a:xfrm>
          <a:prstGeom xmlns:a="http://schemas.openxmlformats.org/drawingml/2006/main" prst="roundRect">
            <a:avLst>
              <a:gd name="adj" fmla="val 20690"/>
            </a:avLst>
          </a:prstGeom>
          <a:solidFill xmlns:a="http://schemas.openxmlformats.org/drawingml/2006/main">
            <a:srgbClr val="0B1A2E"/>
          </a:solidFill>
          <a:ln xmlns:a="http://schemas.openxmlformats.org/drawingml/2006/main" w="9525">
            <a:solidFill>
              <a:srgbClr val="193452"/>
            </a:solidFill>
            <a:prstDash val="solid"/>
          </a:ln>
        </p:spPr>
      </p:sp>
      <p:sp>
        <p:nvSpPr>
          <p:cNvPr id="52" name="">
            <a:extLst xmlns:a="http://schemas.openxmlformats.org/drawingml/2006/main">
              <a:ext uri="{FF2B5EF4-FFF2-40B4-BE49-F238E27FC236}">
                <a16:creationId xmlns:a16="http://schemas.microsoft.com/office/drawing/2014/main" id="{C34F2150-E721-4155-BFE9-FF93EE2277E2}"/>
              </a:ext>
            </a:extLst>
          </p:cNvPr>
          <p:cNvSpPr>
            <a:spLocks xmlns:a="http://schemas.openxmlformats.org/drawingml/2006/main" noGrp="1"/>
          </p:cNvSpPr>
          <p:nvPr/>
        </p:nvSpPr>
        <p:spPr>
          <a:xfrm xmlns:a="http://schemas.openxmlformats.org/drawingml/2006/main">
            <a:off x="723900" y="5724525"/>
            <a:ext cx="10515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8B84E"/>
                </a:solidFill>
              </a:defRPr>
            </a:pPr>
            <a:r>
              <a:rPr sz="1275" b="1">
                <a:solidFill>
                  <a:srgbClr val="F8B84E"/>
                </a:solidFill>
              </a:rPr>
              <a:t>Pricing, take rate, and packaging remain to be validated with launch users; no revenue assumptions are presented here.</a:t>
            </a:r>
          </a:p>
        </p:txBody>
      </p:sp>
    </p:spTree>
    <p:extLst>
      <p:ext uri="{BB962C8B-B14F-4D97-AF65-F5344CB8AC3E}">
        <p14:creationId xmlns:p14="http://schemas.microsoft.com/office/powerpoint/2010/main" val="378527038"/>
      </p:ext>
    </p:extLst>
  </p:cSld>
</p:sld>
</file>

<file path=ppt/slides/slide14.xml><?xml version="1.0" encoding="utf-8"?>
<p:sld xmlns:p="http://schemas.openxmlformats.org/presentationml/2006/main">
  <p:cSld>
    <p:bg>
      <p:bgPr>
        <a:solidFill xmlns:a="http://schemas.openxmlformats.org/drawingml/2006/main">
          <a:srgbClr val="040812"/>
        </a:solidFill>
      </p:bgPr>
    </p:bg>
    <p:spTree>
      <p:nvGrpSpPr>
        <p:cNvPr id="1" name=""/>
        <p:cNvGrpSpPr/>
        <p:nvPr/>
      </p:nvGrpSpPr>
      <p:grpSpPr>
        <a:xfrm xmlns:a="http://schemas.openxmlformats.org/drawingml/2006/main"/>
      </p:grpSpPr>
      <p:sp>
        <p:nvSpPr>
          <p:cNvPr id="81" name="">
            <a:extLst xmlns:a="http://schemas.openxmlformats.org/drawingml/2006/main">
              <a:ext uri="{FF2B5EF4-FFF2-40B4-BE49-F238E27FC236}">
                <a16:creationId xmlns:a16="http://schemas.microsoft.com/office/drawing/2014/main" id="{B7BE8D29-4CE3-4303-A75F-DF50BAE1014A}"/>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391E212-B0A5-4357-8E16-1C4C0685D9F8}"/>
              </a:ext>
            </a:extLst>
          </p:cNvPr>
          <p:cNvSpPr>
            <a:spLocks xmlns:a="http://schemas.openxmlformats.org/drawingml/2006/main" noGrp="1"/>
          </p:cNvSpPr>
          <p:nvPr/>
        </p:nvSpPr>
        <p:spPr>
          <a:xfrm xmlns:a="http://schemas.openxmlformats.org/drawingml/2006/main">
            <a:off x="76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75D1824-1E01-4D87-AD63-8B1FBDD569A1}"/>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0DFA85B-5D38-4674-A7A6-ADC6DE97F081}"/>
              </a:ext>
            </a:extLst>
          </p:cNvPr>
          <p:cNvSpPr>
            <a:spLocks xmlns:a="http://schemas.openxmlformats.org/drawingml/2006/main" noGrp="1"/>
          </p:cNvSpPr>
          <p:nvPr/>
        </p:nvSpPr>
        <p:spPr>
          <a:xfrm xmlns:a="http://schemas.openxmlformats.org/drawingml/2006/main">
            <a:off x="228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87757F4-95D8-4E22-8AF2-11EE3FDA1023}"/>
              </a:ext>
            </a:extLst>
          </p:cNvPr>
          <p:cNvSpPr>
            <a:spLocks xmlns:a="http://schemas.openxmlformats.org/drawingml/2006/main" noGrp="1"/>
          </p:cNvSpPr>
          <p:nvPr/>
        </p:nvSpPr>
        <p:spPr>
          <a:xfrm xmlns:a="http://schemas.openxmlformats.org/drawingml/2006/main">
            <a:off x="304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0474D58-2855-485D-AE22-9ACB3A908C69}"/>
              </a:ext>
            </a:extLst>
          </p:cNvPr>
          <p:cNvSpPr>
            <a:spLocks xmlns:a="http://schemas.openxmlformats.org/drawingml/2006/main" noGrp="1"/>
          </p:cNvSpPr>
          <p:nvPr/>
        </p:nvSpPr>
        <p:spPr>
          <a:xfrm xmlns:a="http://schemas.openxmlformats.org/drawingml/2006/main">
            <a:off x="381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F229E60-1AE4-4954-86E0-667D2286F7BE}"/>
              </a:ext>
            </a:extLst>
          </p:cNvPr>
          <p:cNvSpPr>
            <a:spLocks xmlns:a="http://schemas.openxmlformats.org/drawingml/2006/main" noGrp="1"/>
          </p:cNvSpPr>
          <p:nvPr/>
        </p:nvSpPr>
        <p:spPr>
          <a:xfrm xmlns:a="http://schemas.openxmlformats.org/drawingml/2006/main">
            <a:off x="457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0D9FE55-532A-4713-B938-A1AB7D77FC04}"/>
              </a:ext>
            </a:extLst>
          </p:cNvPr>
          <p:cNvSpPr>
            <a:spLocks xmlns:a="http://schemas.openxmlformats.org/drawingml/2006/main" noGrp="1"/>
          </p:cNvSpPr>
          <p:nvPr/>
        </p:nvSpPr>
        <p:spPr>
          <a:xfrm xmlns:a="http://schemas.openxmlformats.org/drawingml/2006/main">
            <a:off x="533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8E196A7-DBF0-4CA6-9F21-BD6C01A6AD91}"/>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CEBBE6B-15B8-4D24-A54C-D68697D315DF}"/>
              </a:ext>
            </a:extLst>
          </p:cNvPr>
          <p:cNvSpPr>
            <a:spLocks xmlns:a="http://schemas.openxmlformats.org/drawingml/2006/main" noGrp="1"/>
          </p:cNvSpPr>
          <p:nvPr/>
        </p:nvSpPr>
        <p:spPr>
          <a:xfrm xmlns:a="http://schemas.openxmlformats.org/drawingml/2006/main">
            <a:off x="685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94DD8A5-4589-4F81-91C3-91B848DE90F5}"/>
              </a:ext>
            </a:extLst>
          </p:cNvPr>
          <p:cNvSpPr>
            <a:spLocks xmlns:a="http://schemas.openxmlformats.org/drawingml/2006/main" noGrp="1"/>
          </p:cNvSpPr>
          <p:nvPr/>
        </p:nvSpPr>
        <p:spPr>
          <a:xfrm xmlns:a="http://schemas.openxmlformats.org/drawingml/2006/main">
            <a:off x="762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8C66B59-BD11-44ED-BADC-FAB4A999ADD4}"/>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02E6D01-8E96-4B6A-B7E8-EE0E837E6053}"/>
              </a:ext>
            </a:extLst>
          </p:cNvPr>
          <p:cNvSpPr>
            <a:spLocks xmlns:a="http://schemas.openxmlformats.org/drawingml/2006/main" noGrp="1"/>
          </p:cNvSpPr>
          <p:nvPr/>
        </p:nvSpPr>
        <p:spPr>
          <a:xfrm xmlns:a="http://schemas.openxmlformats.org/drawingml/2006/main">
            <a:off x="9144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A872794-37E9-43EE-AA59-0EEB4CCF4230}"/>
              </a:ext>
            </a:extLst>
          </p:cNvPr>
          <p:cNvSpPr>
            <a:spLocks xmlns:a="http://schemas.openxmlformats.org/drawingml/2006/main" noGrp="1"/>
          </p:cNvSpPr>
          <p:nvPr/>
        </p:nvSpPr>
        <p:spPr>
          <a:xfrm xmlns:a="http://schemas.openxmlformats.org/drawingml/2006/main">
            <a:off x="9906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08BDAD0-35F7-4A19-A3B7-C62AC13928BE}"/>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28F8AF2-EE4E-4C36-A6A5-6BA814F77CFE}"/>
              </a:ext>
            </a:extLst>
          </p:cNvPr>
          <p:cNvSpPr>
            <a:spLocks xmlns:a="http://schemas.openxmlformats.org/drawingml/2006/main" noGrp="1"/>
          </p:cNvSpPr>
          <p:nvPr/>
        </p:nvSpPr>
        <p:spPr>
          <a:xfrm xmlns:a="http://schemas.openxmlformats.org/drawingml/2006/main">
            <a:off x="11430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EBE3CE1-F9D1-462D-A3D5-959009A896F4}"/>
              </a:ext>
            </a:extLst>
          </p:cNvPr>
          <p:cNvSpPr>
            <a:spLocks xmlns:a="http://schemas.openxmlformats.org/drawingml/2006/main" noGrp="1"/>
          </p:cNvSpPr>
          <p:nvPr/>
        </p:nvSpPr>
        <p:spPr>
          <a:xfrm xmlns:a="http://schemas.openxmlformats.org/drawingml/2006/main">
            <a:off x="12192000" y="0"/>
            <a:ext cx="9525" cy="6858000"/>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1C65AC5-E3C5-4866-BE1F-20F7E69B56CF}"/>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186435B-A031-4D79-A8AA-7A14AE41DF85}"/>
              </a:ext>
            </a:extLst>
          </p:cNvPr>
          <p:cNvSpPr>
            <a:spLocks xmlns:a="http://schemas.openxmlformats.org/drawingml/2006/main" noGrp="1"/>
          </p:cNvSpPr>
          <p:nvPr/>
        </p:nvSpPr>
        <p:spPr>
          <a:xfrm xmlns:a="http://schemas.openxmlformats.org/drawingml/2006/main">
            <a:off x="0" y="76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EE23B58-1F43-42BE-8436-E9C849635560}"/>
              </a:ext>
            </a:extLst>
          </p:cNvPr>
          <p:cNvSpPr>
            <a:spLocks xmlns:a="http://schemas.openxmlformats.org/drawingml/2006/main" noGrp="1"/>
          </p:cNvSpPr>
          <p:nvPr/>
        </p:nvSpPr>
        <p:spPr>
          <a:xfrm xmlns:a="http://schemas.openxmlformats.org/drawingml/2006/main">
            <a:off x="0" y="152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63443A0-8125-48E9-86F6-ECE87975D68E}"/>
              </a:ext>
            </a:extLst>
          </p:cNvPr>
          <p:cNvSpPr>
            <a:spLocks xmlns:a="http://schemas.openxmlformats.org/drawingml/2006/main" noGrp="1"/>
          </p:cNvSpPr>
          <p:nvPr/>
        </p:nvSpPr>
        <p:spPr>
          <a:xfrm xmlns:a="http://schemas.openxmlformats.org/drawingml/2006/main">
            <a:off x="0" y="228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6814D85-EDED-4E02-8067-06BB10347A0A}"/>
              </a:ext>
            </a:extLst>
          </p:cNvPr>
          <p:cNvSpPr>
            <a:spLocks xmlns:a="http://schemas.openxmlformats.org/drawingml/2006/main" noGrp="1"/>
          </p:cNvSpPr>
          <p:nvPr/>
        </p:nvSpPr>
        <p:spPr>
          <a:xfrm xmlns:a="http://schemas.openxmlformats.org/drawingml/2006/main">
            <a:off x="0" y="304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AB1D64C-51F9-454D-89CA-373050E014B0}"/>
              </a:ext>
            </a:extLst>
          </p:cNvPr>
          <p:cNvSpPr>
            <a:spLocks xmlns:a="http://schemas.openxmlformats.org/drawingml/2006/main" noGrp="1"/>
          </p:cNvSpPr>
          <p:nvPr/>
        </p:nvSpPr>
        <p:spPr>
          <a:xfrm xmlns:a="http://schemas.openxmlformats.org/drawingml/2006/main">
            <a:off x="0" y="3810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4439743-04A8-4031-A9BA-01EA046DB7A7}"/>
              </a:ext>
            </a:extLst>
          </p:cNvPr>
          <p:cNvSpPr>
            <a:spLocks xmlns:a="http://schemas.openxmlformats.org/drawingml/2006/main" noGrp="1"/>
          </p:cNvSpPr>
          <p:nvPr/>
        </p:nvSpPr>
        <p:spPr>
          <a:xfrm xmlns:a="http://schemas.openxmlformats.org/drawingml/2006/main">
            <a:off x="0" y="4572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2F4DC1C-F995-405E-BD02-436D4E709789}"/>
              </a:ext>
            </a:extLst>
          </p:cNvPr>
          <p:cNvSpPr>
            <a:spLocks xmlns:a="http://schemas.openxmlformats.org/drawingml/2006/main" noGrp="1"/>
          </p:cNvSpPr>
          <p:nvPr/>
        </p:nvSpPr>
        <p:spPr>
          <a:xfrm xmlns:a="http://schemas.openxmlformats.org/drawingml/2006/main">
            <a:off x="0" y="5334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4B2E2F1-200C-4D1C-82D3-AACB0D545997}"/>
              </a:ext>
            </a:extLst>
          </p:cNvPr>
          <p:cNvSpPr>
            <a:spLocks xmlns:a="http://schemas.openxmlformats.org/drawingml/2006/main" noGrp="1"/>
          </p:cNvSpPr>
          <p:nvPr/>
        </p:nvSpPr>
        <p:spPr>
          <a:xfrm xmlns:a="http://schemas.openxmlformats.org/drawingml/2006/main">
            <a:off x="0" y="6096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D441117-50FD-4CD8-8045-D8FB175C388B}"/>
              </a:ext>
            </a:extLst>
          </p:cNvPr>
          <p:cNvSpPr>
            <a:spLocks xmlns:a="http://schemas.openxmlformats.org/drawingml/2006/main" noGrp="1"/>
          </p:cNvSpPr>
          <p:nvPr/>
        </p:nvSpPr>
        <p:spPr>
          <a:xfrm xmlns:a="http://schemas.openxmlformats.org/drawingml/2006/main">
            <a:off x="0" y="6858000"/>
            <a:ext cx="12192000" cy="9525"/>
          </a:xfrm>
          <a:prstGeom xmlns:a="http://schemas.openxmlformats.org/drawingml/2006/main" prst="rect">
            <a:avLst/>
          </a:prstGeom>
          <a:solidFill xmlns:a="http://schemas.openxmlformats.org/drawingml/2006/main">
            <a:srgbClr val="0A203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9414A61-5F15-4DCD-B11F-5469E542663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0DFF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03BD132-5081-496A-8958-4188EBDFAED7}"/>
              </a:ext>
            </a:extLst>
          </p:cNvPr>
          <p:cNvSpPr>
            <a:spLocks xmlns:a="http://schemas.openxmlformats.org/drawingml/2006/main" noGrp="1"/>
          </p:cNvSpPr>
          <p:nvPr/>
        </p:nvSpPr>
        <p:spPr>
          <a:xfrm xmlns:a="http://schemas.openxmlformats.org/drawingml/2006/main">
            <a:off x="5334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ROADMAP &amp; CLOSE</a:t>
            </a:r>
          </a:p>
        </p:txBody>
      </p:sp>
      <p:sp>
        <p:nvSpPr>
          <p:cNvPr id="30" name="slide-14-title">
            <a:extLst xmlns:a="http://schemas.openxmlformats.org/drawingml/2006/main">
              <a:ext uri="{FF2B5EF4-FFF2-40B4-BE49-F238E27FC236}">
                <a16:creationId xmlns:a16="http://schemas.microsoft.com/office/drawing/2014/main" id="{3595FB34-283A-4728-B254-BD83D3441EF0}"/>
              </a:ext>
            </a:extLst>
          </p:cNvPr>
          <p:cNvSpPr>
            <a:spLocks xmlns:a="http://schemas.openxmlformats.org/drawingml/2006/main" noGrp="1"/>
          </p:cNvSpPr>
          <p:nvPr/>
        </p:nvSpPr>
        <p:spPr>
          <a:xfrm xmlns:a="http://schemas.openxmlformats.org/drawingml/2006/main">
            <a:off x="533400" y="64770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4F8FF"/>
                </a:solidFill>
              </a:defRPr>
            </a:pPr>
            <a:r>
              <a:rPr sz="2700" b="1">
                <a:solidFill>
                  <a:srgbClr val="F4F8FF"/>
                </a:solidFill>
              </a:rPr>
              <a:t>The path from working MVP to investable launch is clear</a:t>
            </a:r>
          </a:p>
        </p:txBody>
      </p:sp>
      <p:sp>
        <p:nvSpPr>
          <p:cNvPr id="31" name="">
            <a:extLst xmlns:a="http://schemas.openxmlformats.org/drawingml/2006/main">
              <a:ext uri="{FF2B5EF4-FFF2-40B4-BE49-F238E27FC236}">
                <a16:creationId xmlns:a16="http://schemas.microsoft.com/office/drawing/2014/main" id="{6E4111F1-5515-454A-AB86-35ADCA5F4E4D}"/>
              </a:ext>
            </a:extLst>
          </p:cNvPr>
          <p:cNvSpPr>
            <a:spLocks xmlns:a="http://schemas.openxmlformats.org/drawingml/2006/main" noGrp="1"/>
          </p:cNvSpPr>
          <p:nvPr/>
        </p:nvSpPr>
        <p:spPr>
          <a:xfrm xmlns:a="http://schemas.openxmlformats.org/drawingml/2006/main">
            <a:off x="533400" y="1257300"/>
            <a:ext cx="11125200" cy="9525"/>
          </a:xfrm>
          <a:prstGeom xmlns:a="http://schemas.openxmlformats.org/drawingml/2006/main" prst="rect">
            <a:avLst/>
          </a:prstGeom>
          <a:solidFill xmlns:a="http://schemas.openxmlformats.org/drawingml/2006/main">
            <a:srgbClr val="19345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2F197EF-A3AB-4627-9586-1DF2E4565520}"/>
              </a:ext>
            </a:extLst>
          </p:cNvPr>
          <p:cNvSpPr>
            <a:spLocks xmlns:a="http://schemas.openxmlformats.org/drawingml/2006/main" noGrp="1"/>
          </p:cNvSpPr>
          <p:nvPr/>
        </p:nvSpPr>
        <p:spPr>
          <a:xfrm xmlns:a="http://schemas.openxmlformats.org/drawingml/2006/main">
            <a:off x="533400" y="65341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4748B"/>
                </a:solidFill>
              </a:defRPr>
            </a:pPr>
            <a:r>
              <a:rPr sz="825" b="1">
                <a:solidFill>
                  <a:srgbClr val="64748B"/>
                </a:solidFill>
              </a:rPr>
              <a:t>AAA EAs BUILDER</a:t>
            </a:r>
          </a:p>
        </p:txBody>
      </p:sp>
      <p:sp>
        <p:nvSpPr>
          <p:cNvPr id="33" name="">
            <a:extLst xmlns:a="http://schemas.openxmlformats.org/drawingml/2006/main">
              <a:ext uri="{FF2B5EF4-FFF2-40B4-BE49-F238E27FC236}">
                <a16:creationId xmlns:a16="http://schemas.microsoft.com/office/drawing/2014/main" id="{5C6FA59C-DBE3-4CE7-8D4A-FAE494036D6D}"/>
              </a:ext>
            </a:extLst>
          </p:cNvPr>
          <p:cNvSpPr>
            <a:spLocks xmlns:a="http://schemas.openxmlformats.org/drawingml/2006/main" noGrp="1"/>
          </p:cNvSpPr>
          <p:nvPr/>
        </p:nvSpPr>
        <p:spPr>
          <a:xfrm xmlns:a="http://schemas.openxmlformats.org/drawingml/2006/main">
            <a:off x="11144250" y="65151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4748B"/>
                </a:solidFill>
              </a:defRPr>
            </a:pPr>
            <a:r>
              <a:rPr sz="825" b="1">
                <a:solidFill>
                  <a:srgbClr val="64748B"/>
                </a:solidFill>
              </a:rPr>
              <a:t>14</a:t>
            </a:r>
          </a:p>
        </p:txBody>
      </p:sp>
      <p:sp>
        <p:nvSpPr>
          <p:cNvPr id="34" name="">
            <a:extLst xmlns:a="http://schemas.openxmlformats.org/drawingml/2006/main">
              <a:ext uri="{FF2B5EF4-FFF2-40B4-BE49-F238E27FC236}">
                <a16:creationId xmlns:a16="http://schemas.microsoft.com/office/drawing/2014/main" id="{43D19A95-8517-41BE-8A4A-DDBE5ABEAB1F}"/>
              </a:ext>
            </a:extLst>
          </p:cNvPr>
          <p:cNvSpPr>
            <a:spLocks xmlns:a="http://schemas.openxmlformats.org/drawingml/2006/main" noGrp="1"/>
          </p:cNvSpPr>
          <p:nvPr/>
        </p:nvSpPr>
        <p:spPr>
          <a:xfrm xmlns:a="http://schemas.openxmlformats.org/drawingml/2006/main">
            <a:off x="533400" y="1619250"/>
            <a:ext cx="2476500" cy="3390900"/>
          </a:xfrm>
          <a:prstGeom xmlns:a="http://schemas.openxmlformats.org/drawingml/2006/main" prst="roundRect">
            <a:avLst>
              <a:gd name="adj" fmla="val 4615"/>
            </a:avLst>
          </a:prstGeom>
          <a:solidFill xmlns:a="http://schemas.openxmlformats.org/drawingml/2006/main">
            <a:srgbClr val="081425"/>
          </a:solidFill>
          <a:ln xmlns:a="http://schemas.openxmlformats.org/drawingml/2006/main" w="9525">
            <a:solidFill>
              <a:srgbClr val="32D583"/>
            </a:solidFill>
            <a:prstDash val="solid"/>
          </a:ln>
        </p:spPr>
      </p:sp>
      <p:sp>
        <p:nvSpPr>
          <p:cNvPr id="35" name="">
            <a:extLst xmlns:a="http://schemas.openxmlformats.org/drawingml/2006/main">
              <a:ext uri="{FF2B5EF4-FFF2-40B4-BE49-F238E27FC236}">
                <a16:creationId xmlns:a16="http://schemas.microsoft.com/office/drawing/2014/main" id="{1AF75CF2-DB0B-4663-8CFA-AB50B7051AF8}"/>
              </a:ext>
            </a:extLst>
          </p:cNvPr>
          <p:cNvSpPr>
            <a:spLocks xmlns:a="http://schemas.openxmlformats.org/drawingml/2006/main" noGrp="1"/>
          </p:cNvSpPr>
          <p:nvPr/>
        </p:nvSpPr>
        <p:spPr>
          <a:xfrm xmlns:a="http://schemas.openxmlformats.org/drawingml/2006/main">
            <a:off x="723900" y="18097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32D583"/>
                </a:solidFill>
              </a:defRPr>
            </a:pPr>
            <a:r>
              <a:rPr sz="1050" b="1">
                <a:solidFill>
                  <a:srgbClr val="32D583"/>
                </a:solidFill>
              </a:rPr>
              <a:t>NOW</a:t>
            </a:r>
          </a:p>
        </p:txBody>
      </p:sp>
      <p:sp>
        <p:nvSpPr>
          <p:cNvPr id="36" name="">
            <a:extLst xmlns:a="http://schemas.openxmlformats.org/drawingml/2006/main">
              <a:ext uri="{FF2B5EF4-FFF2-40B4-BE49-F238E27FC236}">
                <a16:creationId xmlns:a16="http://schemas.microsoft.com/office/drawing/2014/main" id="{2E78F1C0-FFA8-4959-A3D7-CF5AB277EEFD}"/>
              </a:ext>
            </a:extLst>
          </p:cNvPr>
          <p:cNvSpPr>
            <a:spLocks xmlns:a="http://schemas.openxmlformats.org/drawingml/2006/main" noGrp="1"/>
          </p:cNvSpPr>
          <p:nvPr/>
        </p:nvSpPr>
        <p:spPr>
          <a:xfrm xmlns:a="http://schemas.openxmlformats.org/drawingml/2006/main">
            <a:off x="723900" y="2209800"/>
            <a:ext cx="2057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4F8FF"/>
                </a:solidFill>
              </a:defRPr>
            </a:pPr>
            <a:r>
              <a:rPr sz="1650" b="1">
                <a:solidFill>
                  <a:srgbClr val="F4F8FF"/>
                </a:solidFill>
              </a:rPr>
              <a:t>Core workflow proven</a:t>
            </a:r>
          </a:p>
        </p:txBody>
      </p:sp>
      <p:sp>
        <p:nvSpPr>
          <p:cNvPr id="37" name="">
            <a:extLst xmlns:a="http://schemas.openxmlformats.org/drawingml/2006/main">
              <a:ext uri="{FF2B5EF4-FFF2-40B4-BE49-F238E27FC236}">
                <a16:creationId xmlns:a16="http://schemas.microsoft.com/office/drawing/2014/main" id="{C0F3D7FE-0187-4D5A-AA08-2E0C47B1AA58}"/>
              </a:ext>
            </a:extLst>
          </p:cNvPr>
          <p:cNvSpPr>
            <a:spLocks xmlns:a="http://schemas.openxmlformats.org/drawingml/2006/main" noGrp="1"/>
          </p:cNvSpPr>
          <p:nvPr/>
        </p:nvSpPr>
        <p:spPr>
          <a:xfrm xmlns:a="http://schemas.openxmlformats.org/drawingml/2006/main">
            <a:off x="723900" y="3067050"/>
            <a:ext cx="76200" cy="76200"/>
          </a:xfrm>
          <a:prstGeom xmlns:a="http://schemas.openxmlformats.org/drawingml/2006/main" prst="ellipse">
            <a:avLst/>
          </a:prstGeom>
          <a:solidFill xmlns:a="http://schemas.openxmlformats.org/drawingml/2006/main">
            <a:srgbClr val="32D583"/>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4DFC2504-05CE-4043-8B20-B6DC66AB5489}"/>
              </a:ext>
            </a:extLst>
          </p:cNvPr>
          <p:cNvSpPr>
            <a:spLocks xmlns:a="http://schemas.openxmlformats.org/drawingml/2006/main" noGrp="1"/>
          </p:cNvSpPr>
          <p:nvPr/>
        </p:nvSpPr>
        <p:spPr>
          <a:xfrm xmlns:a="http://schemas.openxmlformats.org/drawingml/2006/main">
            <a:off x="933450" y="29908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4F8FF"/>
                </a:solidFill>
              </a:defRPr>
            </a:pPr>
            <a:r>
              <a:rPr sz="1125" b="0">
                <a:solidFill>
                  <a:srgbClr val="F4F8FF"/>
                </a:solidFill>
              </a:rPr>
              <a:t>AI generation + repair</a:t>
            </a:r>
          </a:p>
        </p:txBody>
      </p:sp>
      <p:sp>
        <p:nvSpPr>
          <p:cNvPr id="39" name="">
            <a:extLst xmlns:a="http://schemas.openxmlformats.org/drawingml/2006/main">
              <a:ext uri="{FF2B5EF4-FFF2-40B4-BE49-F238E27FC236}">
                <a16:creationId xmlns:a16="http://schemas.microsoft.com/office/drawing/2014/main" id="{50ACAFB8-C4A7-4E9E-93C6-6CBF0420FF20}"/>
              </a:ext>
            </a:extLst>
          </p:cNvPr>
          <p:cNvSpPr>
            <a:spLocks xmlns:a="http://schemas.openxmlformats.org/drawingml/2006/main" noGrp="1"/>
          </p:cNvSpPr>
          <p:nvPr/>
        </p:nvSpPr>
        <p:spPr>
          <a:xfrm xmlns:a="http://schemas.openxmlformats.org/drawingml/2006/main">
            <a:off x="723900" y="3524250"/>
            <a:ext cx="76200" cy="76200"/>
          </a:xfrm>
          <a:prstGeom xmlns:a="http://schemas.openxmlformats.org/drawingml/2006/main" prst="ellipse">
            <a:avLst/>
          </a:prstGeom>
          <a:solidFill xmlns:a="http://schemas.openxmlformats.org/drawingml/2006/main">
            <a:srgbClr val="32D583"/>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6FB909D0-7E46-4DE7-B915-9302A840FFC5}"/>
              </a:ext>
            </a:extLst>
          </p:cNvPr>
          <p:cNvSpPr>
            <a:spLocks xmlns:a="http://schemas.openxmlformats.org/drawingml/2006/main" noGrp="1"/>
          </p:cNvSpPr>
          <p:nvPr/>
        </p:nvSpPr>
        <p:spPr>
          <a:xfrm xmlns:a="http://schemas.openxmlformats.org/drawingml/2006/main">
            <a:off x="933450" y="34480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4F8FF"/>
                </a:solidFill>
              </a:defRPr>
            </a:pPr>
            <a:r>
              <a:rPr sz="1125" b="0">
                <a:solidFill>
                  <a:srgbClr val="F4F8FF"/>
                </a:solidFill>
              </a:rPr>
              <a:t>Versioned code + validation</a:t>
            </a:r>
          </a:p>
        </p:txBody>
      </p:sp>
      <p:sp>
        <p:nvSpPr>
          <p:cNvPr id="41" name="">
            <a:extLst xmlns:a="http://schemas.openxmlformats.org/drawingml/2006/main">
              <a:ext uri="{FF2B5EF4-FFF2-40B4-BE49-F238E27FC236}">
                <a16:creationId xmlns:a16="http://schemas.microsoft.com/office/drawing/2014/main" id="{B597364A-FF9D-4812-A907-4AA7F2985F2E}"/>
              </a:ext>
            </a:extLst>
          </p:cNvPr>
          <p:cNvSpPr>
            <a:spLocks xmlns:a="http://schemas.openxmlformats.org/drawingml/2006/main" noGrp="1"/>
          </p:cNvSpPr>
          <p:nvPr/>
        </p:nvSpPr>
        <p:spPr>
          <a:xfrm xmlns:a="http://schemas.openxmlformats.org/drawingml/2006/main">
            <a:off x="723900" y="3981450"/>
            <a:ext cx="76200" cy="76200"/>
          </a:xfrm>
          <a:prstGeom xmlns:a="http://schemas.openxmlformats.org/drawingml/2006/main" prst="ellipse">
            <a:avLst/>
          </a:prstGeom>
          <a:solidFill xmlns:a="http://schemas.openxmlformats.org/drawingml/2006/main">
            <a:srgbClr val="32D583"/>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23B21799-A70D-45EC-A9F1-F0C8ECC5D6B5}"/>
              </a:ext>
            </a:extLst>
          </p:cNvPr>
          <p:cNvSpPr>
            <a:spLocks xmlns:a="http://schemas.openxmlformats.org/drawingml/2006/main" noGrp="1"/>
          </p:cNvSpPr>
          <p:nvPr/>
        </p:nvSpPr>
        <p:spPr>
          <a:xfrm xmlns:a="http://schemas.openxmlformats.org/drawingml/2006/main">
            <a:off x="933450" y="39052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4F8FF"/>
                </a:solidFill>
              </a:defRPr>
            </a:pPr>
            <a:r>
              <a:rPr sz="1125" b="0">
                <a:solidFill>
                  <a:srgbClr val="F4F8FF"/>
                </a:solidFill>
              </a:rPr>
              <a:t>Admin AI control plane</a:t>
            </a:r>
          </a:p>
        </p:txBody>
      </p:sp>
      <p:sp>
        <p:nvSpPr>
          <p:cNvPr id="43" name="">
            <a:extLst xmlns:a="http://schemas.openxmlformats.org/drawingml/2006/main">
              <a:ext uri="{FF2B5EF4-FFF2-40B4-BE49-F238E27FC236}">
                <a16:creationId xmlns:a16="http://schemas.microsoft.com/office/drawing/2014/main" id="{0756B293-5C9F-40F2-AF6D-8AD48587323E}"/>
              </a:ext>
            </a:extLst>
          </p:cNvPr>
          <p:cNvSpPr>
            <a:spLocks xmlns:a="http://schemas.openxmlformats.org/drawingml/2006/main" noGrp="1"/>
          </p:cNvSpPr>
          <p:nvPr/>
        </p:nvSpPr>
        <p:spPr>
          <a:xfrm xmlns:a="http://schemas.openxmlformats.org/drawingml/2006/main">
            <a:off x="723900" y="4438650"/>
            <a:ext cx="76200" cy="76200"/>
          </a:xfrm>
          <a:prstGeom xmlns:a="http://schemas.openxmlformats.org/drawingml/2006/main" prst="ellipse">
            <a:avLst/>
          </a:prstGeom>
          <a:solidFill xmlns:a="http://schemas.openxmlformats.org/drawingml/2006/main">
            <a:srgbClr val="32D583"/>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F9DA389-CEF6-42E9-A202-D39F64266425}"/>
              </a:ext>
            </a:extLst>
          </p:cNvPr>
          <p:cNvSpPr>
            <a:spLocks xmlns:a="http://schemas.openxmlformats.org/drawingml/2006/main" noGrp="1"/>
          </p:cNvSpPr>
          <p:nvPr/>
        </p:nvSpPr>
        <p:spPr>
          <a:xfrm xmlns:a="http://schemas.openxmlformats.org/drawingml/2006/main">
            <a:off x="933450" y="43624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4F8FF"/>
                </a:solidFill>
              </a:defRPr>
            </a:pPr>
            <a:r>
              <a:rPr sz="1125" b="0">
                <a:solidFill>
                  <a:srgbClr val="F4F8FF"/>
                </a:solidFill>
              </a:rPr>
              <a:t>Evidence-first catalog</a:t>
            </a:r>
          </a:p>
        </p:txBody>
      </p:sp>
      <p:sp>
        <p:nvSpPr>
          <p:cNvPr id="45" name="">
            <a:extLst xmlns:a="http://schemas.openxmlformats.org/drawingml/2006/main">
              <a:ext uri="{FF2B5EF4-FFF2-40B4-BE49-F238E27FC236}">
                <a16:creationId xmlns:a16="http://schemas.microsoft.com/office/drawing/2014/main" id="{2DD001E3-FABE-4977-8C44-6DE30F06660F}"/>
              </a:ext>
            </a:extLst>
          </p:cNvPr>
          <p:cNvSpPr>
            <a:spLocks xmlns:a="http://schemas.openxmlformats.org/drawingml/2006/main" noGrp="1"/>
          </p:cNvSpPr>
          <p:nvPr/>
        </p:nvSpPr>
        <p:spPr>
          <a:xfrm xmlns:a="http://schemas.openxmlformats.org/drawingml/2006/main">
            <a:off x="3314700" y="1619250"/>
            <a:ext cx="2476500" cy="3390900"/>
          </a:xfrm>
          <a:prstGeom xmlns:a="http://schemas.openxmlformats.org/drawingml/2006/main" prst="roundRect">
            <a:avLst>
              <a:gd name="adj" fmla="val 4615"/>
            </a:avLst>
          </a:prstGeom>
          <a:solidFill xmlns:a="http://schemas.openxmlformats.org/drawingml/2006/main">
            <a:srgbClr val="081425"/>
          </a:solidFill>
          <a:ln xmlns:a="http://schemas.openxmlformats.org/drawingml/2006/main" w="9525">
            <a:solidFill>
              <a:srgbClr val="10DFF2"/>
            </a:solidFill>
            <a:prstDash val="solid"/>
          </a:ln>
        </p:spPr>
      </p:sp>
      <p:sp>
        <p:nvSpPr>
          <p:cNvPr id="46" name="">
            <a:extLst xmlns:a="http://schemas.openxmlformats.org/drawingml/2006/main">
              <a:ext uri="{FF2B5EF4-FFF2-40B4-BE49-F238E27FC236}">
                <a16:creationId xmlns:a16="http://schemas.microsoft.com/office/drawing/2014/main" id="{D9AB1755-D047-4675-A366-D7E336A3B463}"/>
              </a:ext>
            </a:extLst>
          </p:cNvPr>
          <p:cNvSpPr>
            <a:spLocks xmlns:a="http://schemas.openxmlformats.org/drawingml/2006/main" noGrp="1"/>
          </p:cNvSpPr>
          <p:nvPr/>
        </p:nvSpPr>
        <p:spPr>
          <a:xfrm xmlns:a="http://schemas.openxmlformats.org/drawingml/2006/main">
            <a:off x="3505200" y="18097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0–3 MONTHS</a:t>
            </a:r>
          </a:p>
        </p:txBody>
      </p:sp>
      <p:sp>
        <p:nvSpPr>
          <p:cNvPr id="47" name="">
            <a:extLst xmlns:a="http://schemas.openxmlformats.org/drawingml/2006/main">
              <a:ext uri="{FF2B5EF4-FFF2-40B4-BE49-F238E27FC236}">
                <a16:creationId xmlns:a16="http://schemas.microsoft.com/office/drawing/2014/main" id="{7D183C88-BFE1-4A82-BFCA-7C8F0B22689F}"/>
              </a:ext>
            </a:extLst>
          </p:cNvPr>
          <p:cNvSpPr>
            <a:spLocks xmlns:a="http://schemas.openxmlformats.org/drawingml/2006/main" noGrp="1"/>
          </p:cNvSpPr>
          <p:nvPr/>
        </p:nvSpPr>
        <p:spPr>
          <a:xfrm xmlns:a="http://schemas.openxmlformats.org/drawingml/2006/main">
            <a:off x="3505200" y="2209800"/>
            <a:ext cx="2057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4F8FF"/>
                </a:solidFill>
              </a:defRPr>
            </a:pPr>
            <a:r>
              <a:rPr sz="1650" b="1">
                <a:solidFill>
                  <a:srgbClr val="F4F8FF"/>
                </a:solidFill>
              </a:rPr>
              <a:t>Production launch</a:t>
            </a:r>
          </a:p>
        </p:txBody>
      </p:sp>
      <p:sp>
        <p:nvSpPr>
          <p:cNvPr id="48" name="">
            <a:extLst xmlns:a="http://schemas.openxmlformats.org/drawingml/2006/main">
              <a:ext uri="{FF2B5EF4-FFF2-40B4-BE49-F238E27FC236}">
                <a16:creationId xmlns:a16="http://schemas.microsoft.com/office/drawing/2014/main" id="{53C3A369-617D-4D26-B672-C59235481564}"/>
              </a:ext>
            </a:extLst>
          </p:cNvPr>
          <p:cNvSpPr>
            <a:spLocks xmlns:a="http://schemas.openxmlformats.org/drawingml/2006/main" noGrp="1"/>
          </p:cNvSpPr>
          <p:nvPr/>
        </p:nvSpPr>
        <p:spPr>
          <a:xfrm xmlns:a="http://schemas.openxmlformats.org/drawingml/2006/main">
            <a:off x="3505200" y="3067050"/>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B75A0711-F0C3-4536-894C-44C8AEE44BC7}"/>
              </a:ext>
            </a:extLst>
          </p:cNvPr>
          <p:cNvSpPr>
            <a:spLocks xmlns:a="http://schemas.openxmlformats.org/drawingml/2006/main" noGrp="1"/>
          </p:cNvSpPr>
          <p:nvPr/>
        </p:nvSpPr>
        <p:spPr>
          <a:xfrm xmlns:a="http://schemas.openxmlformats.org/drawingml/2006/main">
            <a:off x="3714750" y="29908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4F8FF"/>
                </a:solidFill>
              </a:defRPr>
            </a:pPr>
            <a:r>
              <a:rPr sz="1125" b="0">
                <a:solidFill>
                  <a:srgbClr val="F4F8FF"/>
                </a:solidFill>
              </a:rPr>
              <a:t>Checkout + entitlements</a:t>
            </a:r>
          </a:p>
        </p:txBody>
      </p:sp>
      <p:sp>
        <p:nvSpPr>
          <p:cNvPr id="50" name="">
            <a:extLst xmlns:a="http://schemas.openxmlformats.org/drawingml/2006/main">
              <a:ext uri="{FF2B5EF4-FFF2-40B4-BE49-F238E27FC236}">
                <a16:creationId xmlns:a16="http://schemas.microsoft.com/office/drawing/2014/main" id="{24E1404C-9CD0-437B-BDA0-A64EBB985918}"/>
              </a:ext>
            </a:extLst>
          </p:cNvPr>
          <p:cNvSpPr>
            <a:spLocks xmlns:a="http://schemas.openxmlformats.org/drawingml/2006/main" noGrp="1"/>
          </p:cNvSpPr>
          <p:nvPr/>
        </p:nvSpPr>
        <p:spPr>
          <a:xfrm xmlns:a="http://schemas.openxmlformats.org/drawingml/2006/main">
            <a:off x="3505200" y="3524250"/>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6E758B91-6F77-4468-8C93-0B9A134F384E}"/>
              </a:ext>
            </a:extLst>
          </p:cNvPr>
          <p:cNvSpPr>
            <a:spLocks xmlns:a="http://schemas.openxmlformats.org/drawingml/2006/main" noGrp="1"/>
          </p:cNvSpPr>
          <p:nvPr/>
        </p:nvSpPr>
        <p:spPr>
          <a:xfrm xmlns:a="http://schemas.openxmlformats.org/drawingml/2006/main">
            <a:off x="3714750" y="34480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4F8FF"/>
                </a:solidFill>
              </a:defRPr>
            </a:pPr>
            <a:r>
              <a:rPr sz="1125" b="0">
                <a:solidFill>
                  <a:srgbClr val="F4F8FF"/>
                </a:solidFill>
              </a:rPr>
              <a:t>PostgreSQL + observability</a:t>
            </a:r>
          </a:p>
        </p:txBody>
      </p:sp>
      <p:sp>
        <p:nvSpPr>
          <p:cNvPr id="52" name="">
            <a:extLst xmlns:a="http://schemas.openxmlformats.org/drawingml/2006/main">
              <a:ext uri="{FF2B5EF4-FFF2-40B4-BE49-F238E27FC236}">
                <a16:creationId xmlns:a16="http://schemas.microsoft.com/office/drawing/2014/main" id="{C246B294-6A2A-4B5C-B1CD-5DCD28512CC1}"/>
              </a:ext>
            </a:extLst>
          </p:cNvPr>
          <p:cNvSpPr>
            <a:spLocks xmlns:a="http://schemas.openxmlformats.org/drawingml/2006/main" noGrp="1"/>
          </p:cNvSpPr>
          <p:nvPr/>
        </p:nvSpPr>
        <p:spPr>
          <a:xfrm xmlns:a="http://schemas.openxmlformats.org/drawingml/2006/main">
            <a:off x="3505200" y="3981450"/>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9246D4CF-D111-48FE-BE5B-DBD4F5EF1A38}"/>
              </a:ext>
            </a:extLst>
          </p:cNvPr>
          <p:cNvSpPr>
            <a:spLocks xmlns:a="http://schemas.openxmlformats.org/drawingml/2006/main" noGrp="1"/>
          </p:cNvSpPr>
          <p:nvPr/>
        </p:nvSpPr>
        <p:spPr>
          <a:xfrm xmlns:a="http://schemas.openxmlformats.org/drawingml/2006/main">
            <a:off x="3714750" y="39052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4F8FF"/>
                </a:solidFill>
              </a:defRPr>
            </a:pPr>
            <a:r>
              <a:rPr sz="1125" b="0">
                <a:solidFill>
                  <a:srgbClr val="F4F8FF"/>
                </a:solidFill>
              </a:rPr>
              <a:t>Email/account hardening</a:t>
            </a:r>
          </a:p>
        </p:txBody>
      </p:sp>
      <p:sp>
        <p:nvSpPr>
          <p:cNvPr id="54" name="">
            <a:extLst xmlns:a="http://schemas.openxmlformats.org/drawingml/2006/main">
              <a:ext uri="{FF2B5EF4-FFF2-40B4-BE49-F238E27FC236}">
                <a16:creationId xmlns:a16="http://schemas.microsoft.com/office/drawing/2014/main" id="{3F413848-015A-444B-BE9D-EADDCFCDA44A}"/>
              </a:ext>
            </a:extLst>
          </p:cNvPr>
          <p:cNvSpPr>
            <a:spLocks xmlns:a="http://schemas.openxmlformats.org/drawingml/2006/main" noGrp="1"/>
          </p:cNvSpPr>
          <p:nvPr/>
        </p:nvSpPr>
        <p:spPr>
          <a:xfrm xmlns:a="http://schemas.openxmlformats.org/drawingml/2006/main">
            <a:off x="3505200" y="4438650"/>
            <a:ext cx="76200" cy="76200"/>
          </a:xfrm>
          <a:prstGeom xmlns:a="http://schemas.openxmlformats.org/drawingml/2006/main" prst="ellipse">
            <a:avLst/>
          </a:prstGeom>
          <a:solidFill xmlns:a="http://schemas.openxmlformats.org/drawingml/2006/main">
            <a:srgbClr val="10DFF2"/>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2BBD793E-870C-4120-8C64-A464C6F67563}"/>
              </a:ext>
            </a:extLst>
          </p:cNvPr>
          <p:cNvSpPr>
            <a:spLocks xmlns:a="http://schemas.openxmlformats.org/drawingml/2006/main" noGrp="1"/>
          </p:cNvSpPr>
          <p:nvPr/>
        </p:nvSpPr>
        <p:spPr>
          <a:xfrm xmlns:a="http://schemas.openxmlformats.org/drawingml/2006/main">
            <a:off x="3714750" y="43624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4F8FF"/>
                </a:solidFill>
              </a:defRPr>
            </a:pPr>
            <a:r>
              <a:rPr sz="1125" b="0">
                <a:solidFill>
                  <a:srgbClr val="F4F8FF"/>
                </a:solidFill>
              </a:rPr>
              <a:t>Isolated compile worker</a:t>
            </a:r>
          </a:p>
        </p:txBody>
      </p:sp>
      <p:sp>
        <p:nvSpPr>
          <p:cNvPr id="56" name="">
            <a:extLst xmlns:a="http://schemas.openxmlformats.org/drawingml/2006/main">
              <a:ext uri="{FF2B5EF4-FFF2-40B4-BE49-F238E27FC236}">
                <a16:creationId xmlns:a16="http://schemas.microsoft.com/office/drawing/2014/main" id="{4F207B6C-31F6-4FAF-93C8-BB35282094EB}"/>
              </a:ext>
            </a:extLst>
          </p:cNvPr>
          <p:cNvSpPr>
            <a:spLocks xmlns:a="http://schemas.openxmlformats.org/drawingml/2006/main" noGrp="1"/>
          </p:cNvSpPr>
          <p:nvPr/>
        </p:nvSpPr>
        <p:spPr>
          <a:xfrm xmlns:a="http://schemas.openxmlformats.org/drawingml/2006/main">
            <a:off x="6096000" y="1619250"/>
            <a:ext cx="2476500" cy="3390900"/>
          </a:xfrm>
          <a:prstGeom xmlns:a="http://schemas.openxmlformats.org/drawingml/2006/main" prst="roundRect">
            <a:avLst>
              <a:gd name="adj" fmla="val 4615"/>
            </a:avLst>
          </a:prstGeom>
          <a:solidFill xmlns:a="http://schemas.openxmlformats.org/drawingml/2006/main">
            <a:srgbClr val="081425"/>
          </a:solidFill>
          <a:ln xmlns:a="http://schemas.openxmlformats.org/drawingml/2006/main" w="9525">
            <a:solidFill>
              <a:srgbClr val="A855F7"/>
            </a:solidFill>
            <a:prstDash val="solid"/>
          </a:ln>
        </p:spPr>
      </p:sp>
      <p:sp>
        <p:nvSpPr>
          <p:cNvPr id="57" name="">
            <a:extLst xmlns:a="http://schemas.openxmlformats.org/drawingml/2006/main">
              <a:ext uri="{FF2B5EF4-FFF2-40B4-BE49-F238E27FC236}">
                <a16:creationId xmlns:a16="http://schemas.microsoft.com/office/drawing/2014/main" id="{B087B58E-A71C-432C-BA4A-5E41B6FB6821}"/>
              </a:ext>
            </a:extLst>
          </p:cNvPr>
          <p:cNvSpPr>
            <a:spLocks xmlns:a="http://schemas.openxmlformats.org/drawingml/2006/main" noGrp="1"/>
          </p:cNvSpPr>
          <p:nvPr/>
        </p:nvSpPr>
        <p:spPr>
          <a:xfrm xmlns:a="http://schemas.openxmlformats.org/drawingml/2006/main">
            <a:off x="6286500" y="18097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855F7"/>
                </a:solidFill>
              </a:defRPr>
            </a:pPr>
            <a:r>
              <a:rPr sz="1050" b="1">
                <a:solidFill>
                  <a:srgbClr val="A855F7"/>
                </a:solidFill>
              </a:rPr>
              <a:t>3–6 MONTHS</a:t>
            </a:r>
          </a:p>
        </p:txBody>
      </p:sp>
      <p:sp>
        <p:nvSpPr>
          <p:cNvPr id="58" name="">
            <a:extLst xmlns:a="http://schemas.openxmlformats.org/drawingml/2006/main">
              <a:ext uri="{FF2B5EF4-FFF2-40B4-BE49-F238E27FC236}">
                <a16:creationId xmlns:a16="http://schemas.microsoft.com/office/drawing/2014/main" id="{72C1937F-924E-4B0C-ACE8-EDCDD7798E22}"/>
              </a:ext>
            </a:extLst>
          </p:cNvPr>
          <p:cNvSpPr>
            <a:spLocks xmlns:a="http://schemas.openxmlformats.org/drawingml/2006/main" noGrp="1"/>
          </p:cNvSpPr>
          <p:nvPr/>
        </p:nvSpPr>
        <p:spPr>
          <a:xfrm xmlns:a="http://schemas.openxmlformats.org/drawingml/2006/main">
            <a:off x="6286500" y="2209800"/>
            <a:ext cx="2057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4F8FF"/>
                </a:solidFill>
              </a:defRPr>
            </a:pPr>
            <a:r>
              <a:rPr sz="1650" b="1">
                <a:solidFill>
                  <a:srgbClr val="F4F8FF"/>
                </a:solidFill>
              </a:rPr>
              <a:t>Evidence engine</a:t>
            </a:r>
          </a:p>
        </p:txBody>
      </p:sp>
      <p:sp>
        <p:nvSpPr>
          <p:cNvPr id="59" name="">
            <a:extLst xmlns:a="http://schemas.openxmlformats.org/drawingml/2006/main">
              <a:ext uri="{FF2B5EF4-FFF2-40B4-BE49-F238E27FC236}">
                <a16:creationId xmlns:a16="http://schemas.microsoft.com/office/drawing/2014/main" id="{EED11763-FF07-43C7-93EC-627260EFB892}"/>
              </a:ext>
            </a:extLst>
          </p:cNvPr>
          <p:cNvSpPr>
            <a:spLocks xmlns:a="http://schemas.openxmlformats.org/drawingml/2006/main" noGrp="1"/>
          </p:cNvSpPr>
          <p:nvPr/>
        </p:nvSpPr>
        <p:spPr>
          <a:xfrm xmlns:a="http://schemas.openxmlformats.org/drawingml/2006/main">
            <a:off x="6286500" y="3067050"/>
            <a:ext cx="76200" cy="76200"/>
          </a:xfrm>
          <a:prstGeom xmlns:a="http://schemas.openxmlformats.org/drawingml/2006/main" prst="ellipse">
            <a:avLst/>
          </a:prstGeom>
          <a:solidFill xmlns:a="http://schemas.openxmlformats.org/drawingml/2006/main">
            <a:srgbClr val="A855F7"/>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3990A56B-1924-44EE-87EE-E8E783A25FFF}"/>
              </a:ext>
            </a:extLst>
          </p:cNvPr>
          <p:cNvSpPr>
            <a:spLocks xmlns:a="http://schemas.openxmlformats.org/drawingml/2006/main" noGrp="1"/>
          </p:cNvSpPr>
          <p:nvPr/>
        </p:nvSpPr>
        <p:spPr>
          <a:xfrm xmlns:a="http://schemas.openxmlformats.org/drawingml/2006/main">
            <a:off x="6496050" y="29908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4F8FF"/>
                </a:solidFill>
              </a:defRPr>
            </a:pPr>
            <a:r>
              <a:rPr sz="1125" b="0">
                <a:solidFill>
                  <a:srgbClr val="F4F8FF"/>
                </a:solidFill>
              </a:rPr>
              <a:t>Report ingestion + parsing</a:t>
            </a:r>
          </a:p>
        </p:txBody>
      </p:sp>
      <p:sp>
        <p:nvSpPr>
          <p:cNvPr id="61" name="">
            <a:extLst xmlns:a="http://schemas.openxmlformats.org/drawingml/2006/main">
              <a:ext uri="{FF2B5EF4-FFF2-40B4-BE49-F238E27FC236}">
                <a16:creationId xmlns:a16="http://schemas.microsoft.com/office/drawing/2014/main" id="{61084B48-4E7F-4ACE-B552-8B49466D4BA5}"/>
              </a:ext>
            </a:extLst>
          </p:cNvPr>
          <p:cNvSpPr>
            <a:spLocks xmlns:a="http://schemas.openxmlformats.org/drawingml/2006/main" noGrp="1"/>
          </p:cNvSpPr>
          <p:nvPr/>
        </p:nvSpPr>
        <p:spPr>
          <a:xfrm xmlns:a="http://schemas.openxmlformats.org/drawingml/2006/main">
            <a:off x="6286500" y="3524250"/>
            <a:ext cx="76200" cy="76200"/>
          </a:xfrm>
          <a:prstGeom xmlns:a="http://schemas.openxmlformats.org/drawingml/2006/main" prst="ellipse">
            <a:avLst/>
          </a:prstGeom>
          <a:solidFill xmlns:a="http://schemas.openxmlformats.org/drawingml/2006/main">
            <a:srgbClr val="A855F7"/>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8EADCC5C-7F2B-4B40-A351-0A84A16CA37B}"/>
              </a:ext>
            </a:extLst>
          </p:cNvPr>
          <p:cNvSpPr>
            <a:spLocks xmlns:a="http://schemas.openxmlformats.org/drawingml/2006/main" noGrp="1"/>
          </p:cNvSpPr>
          <p:nvPr/>
        </p:nvSpPr>
        <p:spPr>
          <a:xfrm xmlns:a="http://schemas.openxmlformats.org/drawingml/2006/main">
            <a:off x="6496050" y="34480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4F8FF"/>
                </a:solidFill>
              </a:defRPr>
            </a:pPr>
            <a:r>
              <a:rPr sz="1125" b="0">
                <a:solidFill>
                  <a:srgbClr val="F4F8FF"/>
                </a:solidFill>
              </a:rPr>
              <a:t>Backtest provenance</a:t>
            </a:r>
          </a:p>
        </p:txBody>
      </p:sp>
      <p:sp>
        <p:nvSpPr>
          <p:cNvPr id="63" name="">
            <a:extLst xmlns:a="http://schemas.openxmlformats.org/drawingml/2006/main">
              <a:ext uri="{FF2B5EF4-FFF2-40B4-BE49-F238E27FC236}">
                <a16:creationId xmlns:a16="http://schemas.microsoft.com/office/drawing/2014/main" id="{0372BA9C-42CC-4CBB-88B8-5E402355CAEA}"/>
              </a:ext>
            </a:extLst>
          </p:cNvPr>
          <p:cNvSpPr>
            <a:spLocks xmlns:a="http://schemas.openxmlformats.org/drawingml/2006/main" noGrp="1"/>
          </p:cNvSpPr>
          <p:nvPr/>
        </p:nvSpPr>
        <p:spPr>
          <a:xfrm xmlns:a="http://schemas.openxmlformats.org/drawingml/2006/main">
            <a:off x="6286500" y="3981450"/>
            <a:ext cx="76200" cy="76200"/>
          </a:xfrm>
          <a:prstGeom xmlns:a="http://schemas.openxmlformats.org/drawingml/2006/main" prst="ellipse">
            <a:avLst/>
          </a:prstGeom>
          <a:solidFill xmlns:a="http://schemas.openxmlformats.org/drawingml/2006/main">
            <a:srgbClr val="A855F7"/>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8F200638-4EBC-4A43-B228-B318FBF9D29B}"/>
              </a:ext>
            </a:extLst>
          </p:cNvPr>
          <p:cNvSpPr>
            <a:spLocks xmlns:a="http://schemas.openxmlformats.org/drawingml/2006/main" noGrp="1"/>
          </p:cNvSpPr>
          <p:nvPr/>
        </p:nvSpPr>
        <p:spPr>
          <a:xfrm xmlns:a="http://schemas.openxmlformats.org/drawingml/2006/main">
            <a:off x="6496050" y="39052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4F8FF"/>
                </a:solidFill>
              </a:defRPr>
            </a:pPr>
            <a:r>
              <a:rPr sz="1125" b="0">
                <a:solidFill>
                  <a:srgbClr val="F4F8FF"/>
                </a:solidFill>
              </a:rPr>
              <a:t>Guided templates</a:t>
            </a:r>
          </a:p>
        </p:txBody>
      </p:sp>
      <p:sp>
        <p:nvSpPr>
          <p:cNvPr id="65" name="">
            <a:extLst xmlns:a="http://schemas.openxmlformats.org/drawingml/2006/main">
              <a:ext uri="{FF2B5EF4-FFF2-40B4-BE49-F238E27FC236}">
                <a16:creationId xmlns:a16="http://schemas.microsoft.com/office/drawing/2014/main" id="{80A400F8-C01C-40A3-A0B2-65E4A4BED4C9}"/>
              </a:ext>
            </a:extLst>
          </p:cNvPr>
          <p:cNvSpPr>
            <a:spLocks xmlns:a="http://schemas.openxmlformats.org/drawingml/2006/main" noGrp="1"/>
          </p:cNvSpPr>
          <p:nvPr/>
        </p:nvSpPr>
        <p:spPr>
          <a:xfrm xmlns:a="http://schemas.openxmlformats.org/drawingml/2006/main">
            <a:off x="6286500" y="4438650"/>
            <a:ext cx="76200" cy="76200"/>
          </a:xfrm>
          <a:prstGeom xmlns:a="http://schemas.openxmlformats.org/drawingml/2006/main" prst="ellipse">
            <a:avLst/>
          </a:prstGeom>
          <a:solidFill xmlns:a="http://schemas.openxmlformats.org/drawingml/2006/main">
            <a:srgbClr val="A855F7"/>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6E783D50-3203-4B50-A638-350FB17A6DF9}"/>
              </a:ext>
            </a:extLst>
          </p:cNvPr>
          <p:cNvSpPr>
            <a:spLocks xmlns:a="http://schemas.openxmlformats.org/drawingml/2006/main" noGrp="1"/>
          </p:cNvSpPr>
          <p:nvPr/>
        </p:nvSpPr>
        <p:spPr>
          <a:xfrm xmlns:a="http://schemas.openxmlformats.org/drawingml/2006/main">
            <a:off x="6496050" y="43624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4F8FF"/>
                </a:solidFill>
              </a:defRPr>
            </a:pPr>
            <a:r>
              <a:rPr sz="1125" b="0">
                <a:solidFill>
                  <a:srgbClr val="F4F8FF"/>
                </a:solidFill>
              </a:rPr>
              <a:t>Initial seller pilot</a:t>
            </a:r>
          </a:p>
        </p:txBody>
      </p:sp>
      <p:sp>
        <p:nvSpPr>
          <p:cNvPr id="67" name="">
            <a:extLst xmlns:a="http://schemas.openxmlformats.org/drawingml/2006/main">
              <a:ext uri="{FF2B5EF4-FFF2-40B4-BE49-F238E27FC236}">
                <a16:creationId xmlns:a16="http://schemas.microsoft.com/office/drawing/2014/main" id="{3E3F5DEB-1450-480A-A23E-EC7B8EDA84ED}"/>
              </a:ext>
            </a:extLst>
          </p:cNvPr>
          <p:cNvSpPr>
            <a:spLocks xmlns:a="http://schemas.openxmlformats.org/drawingml/2006/main" noGrp="1"/>
          </p:cNvSpPr>
          <p:nvPr/>
        </p:nvSpPr>
        <p:spPr>
          <a:xfrm xmlns:a="http://schemas.openxmlformats.org/drawingml/2006/main">
            <a:off x="8877300" y="1619250"/>
            <a:ext cx="2476500" cy="3390900"/>
          </a:xfrm>
          <a:prstGeom xmlns:a="http://schemas.openxmlformats.org/drawingml/2006/main" prst="roundRect">
            <a:avLst>
              <a:gd name="adj" fmla="val 4615"/>
            </a:avLst>
          </a:prstGeom>
          <a:solidFill xmlns:a="http://schemas.openxmlformats.org/drawingml/2006/main">
            <a:srgbClr val="081425"/>
          </a:solidFill>
          <a:ln xmlns:a="http://schemas.openxmlformats.org/drawingml/2006/main" w="9525">
            <a:solidFill>
              <a:srgbClr val="F8B84E"/>
            </a:solidFill>
            <a:prstDash val="solid"/>
          </a:ln>
        </p:spPr>
      </p:sp>
      <p:sp>
        <p:nvSpPr>
          <p:cNvPr id="68" name="">
            <a:extLst xmlns:a="http://schemas.openxmlformats.org/drawingml/2006/main">
              <a:ext uri="{FF2B5EF4-FFF2-40B4-BE49-F238E27FC236}">
                <a16:creationId xmlns:a16="http://schemas.microsoft.com/office/drawing/2014/main" id="{86A6751D-31A2-4E67-9915-3891B1CFA711}"/>
              </a:ext>
            </a:extLst>
          </p:cNvPr>
          <p:cNvSpPr>
            <a:spLocks xmlns:a="http://schemas.openxmlformats.org/drawingml/2006/main" noGrp="1"/>
          </p:cNvSpPr>
          <p:nvPr/>
        </p:nvSpPr>
        <p:spPr>
          <a:xfrm xmlns:a="http://schemas.openxmlformats.org/drawingml/2006/main">
            <a:off x="9067800" y="18097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8B84E"/>
                </a:solidFill>
              </a:defRPr>
            </a:pPr>
            <a:r>
              <a:rPr sz="1050" b="1">
                <a:solidFill>
                  <a:srgbClr val="F8B84E"/>
                </a:solidFill>
              </a:rPr>
              <a:t>6–12 MONTHS</a:t>
            </a:r>
          </a:p>
        </p:txBody>
      </p:sp>
      <p:sp>
        <p:nvSpPr>
          <p:cNvPr id="69" name="">
            <a:extLst xmlns:a="http://schemas.openxmlformats.org/drawingml/2006/main">
              <a:ext uri="{FF2B5EF4-FFF2-40B4-BE49-F238E27FC236}">
                <a16:creationId xmlns:a16="http://schemas.microsoft.com/office/drawing/2014/main" id="{90C76AB8-C3FD-4A77-9B0A-8520971BDF28}"/>
              </a:ext>
            </a:extLst>
          </p:cNvPr>
          <p:cNvSpPr>
            <a:spLocks xmlns:a="http://schemas.openxmlformats.org/drawingml/2006/main" noGrp="1"/>
          </p:cNvSpPr>
          <p:nvPr/>
        </p:nvSpPr>
        <p:spPr>
          <a:xfrm xmlns:a="http://schemas.openxmlformats.org/drawingml/2006/main">
            <a:off x="9067800" y="2209800"/>
            <a:ext cx="2057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4F8FF"/>
                </a:solidFill>
              </a:defRPr>
            </a:pPr>
            <a:r>
              <a:rPr sz="1650" b="1">
                <a:solidFill>
                  <a:srgbClr val="F4F8FF"/>
                </a:solidFill>
              </a:rPr>
              <a:t>Marketplace scale</a:t>
            </a:r>
          </a:p>
        </p:txBody>
      </p:sp>
      <p:sp>
        <p:nvSpPr>
          <p:cNvPr id="70" name="">
            <a:extLst xmlns:a="http://schemas.openxmlformats.org/drawingml/2006/main">
              <a:ext uri="{FF2B5EF4-FFF2-40B4-BE49-F238E27FC236}">
                <a16:creationId xmlns:a16="http://schemas.microsoft.com/office/drawing/2014/main" id="{AA3F81B0-1D45-4A97-8750-9E93CF85E37B}"/>
              </a:ext>
            </a:extLst>
          </p:cNvPr>
          <p:cNvSpPr>
            <a:spLocks xmlns:a="http://schemas.openxmlformats.org/drawingml/2006/main" noGrp="1"/>
          </p:cNvSpPr>
          <p:nvPr/>
        </p:nvSpPr>
        <p:spPr>
          <a:xfrm xmlns:a="http://schemas.openxmlformats.org/drawingml/2006/main">
            <a:off x="9067800" y="3067050"/>
            <a:ext cx="76200" cy="76200"/>
          </a:xfrm>
          <a:prstGeom xmlns:a="http://schemas.openxmlformats.org/drawingml/2006/main" prst="ellipse">
            <a:avLst/>
          </a:prstGeom>
          <a:solidFill xmlns:a="http://schemas.openxmlformats.org/drawingml/2006/main">
            <a:srgbClr val="F8B84E"/>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127B99C9-4DDA-4183-A467-1002F6531BFE}"/>
              </a:ext>
            </a:extLst>
          </p:cNvPr>
          <p:cNvSpPr>
            <a:spLocks xmlns:a="http://schemas.openxmlformats.org/drawingml/2006/main" noGrp="1"/>
          </p:cNvSpPr>
          <p:nvPr/>
        </p:nvSpPr>
        <p:spPr>
          <a:xfrm xmlns:a="http://schemas.openxmlformats.org/drawingml/2006/main">
            <a:off x="9277350" y="29908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4F8FF"/>
                </a:solidFill>
              </a:defRPr>
            </a:pPr>
            <a:r>
              <a:rPr sz="1125" b="0">
                <a:solidFill>
                  <a:srgbClr val="F4F8FF"/>
                </a:solidFill>
              </a:rPr>
              <a:t>Seller onboarding + payouts</a:t>
            </a:r>
          </a:p>
        </p:txBody>
      </p:sp>
      <p:sp>
        <p:nvSpPr>
          <p:cNvPr id="72" name="">
            <a:extLst xmlns:a="http://schemas.openxmlformats.org/drawingml/2006/main">
              <a:ext uri="{FF2B5EF4-FFF2-40B4-BE49-F238E27FC236}">
                <a16:creationId xmlns:a16="http://schemas.microsoft.com/office/drawing/2014/main" id="{14508268-9BBB-48BE-B520-5B9F83DACCAA}"/>
              </a:ext>
            </a:extLst>
          </p:cNvPr>
          <p:cNvSpPr>
            <a:spLocks xmlns:a="http://schemas.openxmlformats.org/drawingml/2006/main" noGrp="1"/>
          </p:cNvSpPr>
          <p:nvPr/>
        </p:nvSpPr>
        <p:spPr>
          <a:xfrm xmlns:a="http://schemas.openxmlformats.org/drawingml/2006/main">
            <a:off x="9067800" y="3524250"/>
            <a:ext cx="76200" cy="76200"/>
          </a:xfrm>
          <a:prstGeom xmlns:a="http://schemas.openxmlformats.org/drawingml/2006/main" prst="ellipse">
            <a:avLst/>
          </a:prstGeom>
          <a:solidFill xmlns:a="http://schemas.openxmlformats.org/drawingml/2006/main">
            <a:srgbClr val="F8B84E"/>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F596AAD5-4D6B-42B4-8CD4-87A1983F5462}"/>
              </a:ext>
            </a:extLst>
          </p:cNvPr>
          <p:cNvSpPr>
            <a:spLocks xmlns:a="http://schemas.openxmlformats.org/drawingml/2006/main" noGrp="1"/>
          </p:cNvSpPr>
          <p:nvPr/>
        </p:nvSpPr>
        <p:spPr>
          <a:xfrm xmlns:a="http://schemas.openxmlformats.org/drawingml/2006/main">
            <a:off x="9277350" y="34480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4F8FF"/>
                </a:solidFill>
              </a:defRPr>
            </a:pPr>
            <a:r>
              <a:rPr sz="1125" b="0">
                <a:solidFill>
                  <a:srgbClr val="F4F8FF"/>
                </a:solidFill>
              </a:rPr>
              <a:t>Optimization/forward tests</a:t>
            </a:r>
          </a:p>
        </p:txBody>
      </p:sp>
      <p:sp>
        <p:nvSpPr>
          <p:cNvPr id="74" name="">
            <a:extLst xmlns:a="http://schemas.openxmlformats.org/drawingml/2006/main">
              <a:ext uri="{FF2B5EF4-FFF2-40B4-BE49-F238E27FC236}">
                <a16:creationId xmlns:a16="http://schemas.microsoft.com/office/drawing/2014/main" id="{75324110-977E-4F27-9160-3BFB4F63D2E9}"/>
              </a:ext>
            </a:extLst>
          </p:cNvPr>
          <p:cNvSpPr>
            <a:spLocks xmlns:a="http://schemas.openxmlformats.org/drawingml/2006/main" noGrp="1"/>
          </p:cNvSpPr>
          <p:nvPr/>
        </p:nvSpPr>
        <p:spPr>
          <a:xfrm xmlns:a="http://schemas.openxmlformats.org/drawingml/2006/main">
            <a:off x="9067800" y="3981450"/>
            <a:ext cx="76200" cy="76200"/>
          </a:xfrm>
          <a:prstGeom xmlns:a="http://schemas.openxmlformats.org/drawingml/2006/main" prst="ellipse">
            <a:avLst/>
          </a:prstGeom>
          <a:solidFill xmlns:a="http://schemas.openxmlformats.org/drawingml/2006/main">
            <a:srgbClr val="F8B84E"/>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10EF7BAC-801D-48A4-8C0A-7B4ABFFD1CF2}"/>
              </a:ext>
            </a:extLst>
          </p:cNvPr>
          <p:cNvSpPr>
            <a:spLocks xmlns:a="http://schemas.openxmlformats.org/drawingml/2006/main" noGrp="1"/>
          </p:cNvSpPr>
          <p:nvPr/>
        </p:nvSpPr>
        <p:spPr>
          <a:xfrm xmlns:a="http://schemas.openxmlformats.org/drawingml/2006/main">
            <a:off x="9277350" y="39052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4F8FF"/>
                </a:solidFill>
              </a:defRPr>
            </a:pPr>
            <a:r>
              <a:rPr sz="1125" b="0">
                <a:solidFill>
                  <a:srgbClr val="F4F8FF"/>
                </a:solidFill>
              </a:rPr>
              <a:t>Team and vendor tools</a:t>
            </a:r>
          </a:p>
        </p:txBody>
      </p:sp>
      <p:sp>
        <p:nvSpPr>
          <p:cNvPr id="76" name="">
            <a:extLst xmlns:a="http://schemas.openxmlformats.org/drawingml/2006/main">
              <a:ext uri="{FF2B5EF4-FFF2-40B4-BE49-F238E27FC236}">
                <a16:creationId xmlns:a16="http://schemas.microsoft.com/office/drawing/2014/main" id="{84A3967C-B505-4F54-A3D7-C0BA878890C0}"/>
              </a:ext>
            </a:extLst>
          </p:cNvPr>
          <p:cNvSpPr>
            <a:spLocks xmlns:a="http://schemas.openxmlformats.org/drawingml/2006/main" noGrp="1"/>
          </p:cNvSpPr>
          <p:nvPr/>
        </p:nvSpPr>
        <p:spPr>
          <a:xfrm xmlns:a="http://schemas.openxmlformats.org/drawingml/2006/main">
            <a:off x="9067800" y="4438650"/>
            <a:ext cx="76200" cy="76200"/>
          </a:xfrm>
          <a:prstGeom xmlns:a="http://schemas.openxmlformats.org/drawingml/2006/main" prst="ellipse">
            <a:avLst/>
          </a:prstGeom>
          <a:solidFill xmlns:a="http://schemas.openxmlformats.org/drawingml/2006/main">
            <a:srgbClr val="F8B84E"/>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A4CE5317-F0D4-43C4-951B-3EAAC89936DD}"/>
              </a:ext>
            </a:extLst>
          </p:cNvPr>
          <p:cNvSpPr>
            <a:spLocks xmlns:a="http://schemas.openxmlformats.org/drawingml/2006/main" noGrp="1"/>
          </p:cNvSpPr>
          <p:nvPr/>
        </p:nvSpPr>
        <p:spPr>
          <a:xfrm xmlns:a="http://schemas.openxmlformats.org/drawingml/2006/main">
            <a:off x="9277350" y="43624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F4F8FF"/>
                </a:solidFill>
              </a:defRPr>
            </a:pPr>
            <a:r>
              <a:rPr sz="1125" b="0">
                <a:solidFill>
                  <a:srgbClr val="F4F8FF"/>
                </a:solidFill>
              </a:rPr>
              <a:t>Distribution partnerships</a:t>
            </a:r>
          </a:p>
        </p:txBody>
      </p:sp>
      <p:sp>
        <p:nvSpPr>
          <p:cNvPr id="78" name="">
            <a:extLst xmlns:a="http://schemas.openxmlformats.org/drawingml/2006/main">
              <a:ext uri="{FF2B5EF4-FFF2-40B4-BE49-F238E27FC236}">
                <a16:creationId xmlns:a16="http://schemas.microsoft.com/office/drawing/2014/main" id="{34E7969B-D981-4EBB-BA38-D38B388E851C}"/>
              </a:ext>
            </a:extLst>
          </p:cNvPr>
          <p:cNvSpPr>
            <a:spLocks xmlns:a="http://schemas.openxmlformats.org/drawingml/2006/main" noGrp="1"/>
          </p:cNvSpPr>
          <p:nvPr/>
        </p:nvSpPr>
        <p:spPr>
          <a:xfrm xmlns:a="http://schemas.openxmlformats.org/drawingml/2006/main">
            <a:off x="533400" y="5334000"/>
            <a:ext cx="10896600" cy="800100"/>
          </a:xfrm>
          <a:prstGeom xmlns:a="http://schemas.openxmlformats.org/drawingml/2006/main" prst="roundRect">
            <a:avLst>
              <a:gd name="adj" fmla="val 14286"/>
            </a:avLst>
          </a:prstGeom>
          <a:solidFill xmlns:a="http://schemas.openxmlformats.org/drawingml/2006/main">
            <a:srgbClr val="0B1A2E"/>
          </a:solidFill>
          <a:ln xmlns:a="http://schemas.openxmlformats.org/drawingml/2006/main" w="9525">
            <a:solidFill>
              <a:srgbClr val="10DFF2"/>
            </a:solidFill>
            <a:prstDash val="solid"/>
          </a:ln>
        </p:spPr>
      </p:sp>
      <p:sp>
        <p:nvSpPr>
          <p:cNvPr id="79" name="">
            <a:extLst xmlns:a="http://schemas.openxmlformats.org/drawingml/2006/main">
              <a:ext uri="{FF2B5EF4-FFF2-40B4-BE49-F238E27FC236}">
                <a16:creationId xmlns:a16="http://schemas.microsoft.com/office/drawing/2014/main" id="{7BC37FA8-66BF-4A1D-9E44-9FE8C9F8158F}"/>
              </a:ext>
            </a:extLst>
          </p:cNvPr>
          <p:cNvSpPr>
            <a:spLocks xmlns:a="http://schemas.openxmlformats.org/drawingml/2006/main" noGrp="1"/>
          </p:cNvSpPr>
          <p:nvPr/>
        </p:nvSpPr>
        <p:spPr>
          <a:xfrm xmlns:a="http://schemas.openxmlformats.org/drawingml/2006/main">
            <a:off x="762000" y="54864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0DFF2"/>
                </a:solidFill>
              </a:defRPr>
            </a:pPr>
            <a:r>
              <a:rPr sz="1050" b="1">
                <a:solidFill>
                  <a:srgbClr val="10DFF2"/>
                </a:solidFill>
              </a:rPr>
              <a:t>INVESTOR CONVERSATION</a:t>
            </a:r>
          </a:p>
        </p:txBody>
      </p:sp>
      <p:sp>
        <p:nvSpPr>
          <p:cNvPr id="80" name="">
            <a:extLst xmlns:a="http://schemas.openxmlformats.org/drawingml/2006/main">
              <a:ext uri="{FF2B5EF4-FFF2-40B4-BE49-F238E27FC236}">
                <a16:creationId xmlns:a16="http://schemas.microsoft.com/office/drawing/2014/main" id="{2502B57A-E848-4D66-A00C-F56CEA2DB6EA}"/>
              </a:ext>
            </a:extLst>
          </p:cNvPr>
          <p:cNvSpPr>
            <a:spLocks xmlns:a="http://schemas.openxmlformats.org/drawingml/2006/main" noGrp="1"/>
          </p:cNvSpPr>
          <p:nvPr/>
        </p:nvSpPr>
        <p:spPr>
          <a:xfrm xmlns:a="http://schemas.openxmlformats.org/drawingml/2006/main">
            <a:off x="762000" y="57912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4F8FF"/>
                </a:solidFill>
              </a:defRPr>
            </a:pPr>
            <a:r>
              <a:rPr sz="1275" b="1">
                <a:solidFill>
                  <a:srgbClr val="F4F8FF"/>
                </a:solidFill>
              </a:rPr>
              <a:t>Capital accelerates production hardening, evidence infrastructure, payments, and launch distribution.</a:t>
            </a:r>
          </a:p>
        </p:txBody>
      </p:sp>
    </p:spTree>
    <p:extLst>
      <p:ext uri="{BB962C8B-B14F-4D97-AF65-F5344CB8AC3E}">
        <p14:creationId xmlns:p14="http://schemas.microsoft.com/office/powerpoint/2010/main" val="11246060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2026-08-10T12:02:29.9880000Z</dcterms:created>
  <dcterms:modified xsi:type="dcterms:W3CDTF">2026-08-10T12:02:29.9880000Z</dcterms:modified>
</coreProperties>
</file>